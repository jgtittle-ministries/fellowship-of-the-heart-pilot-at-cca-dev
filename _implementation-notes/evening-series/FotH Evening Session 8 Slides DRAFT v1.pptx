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1" r:id="rId102"/>
    <p:sldId id="532" r:id="rId23"/>
    <p:sldId id="282" r:id="rId103"/>
    <p:sldId id="391" r:id="rId104"/>
    <p:sldId id="392" r:id="rId105"/>
    <p:sldId id="393" r:id="rId106"/>
    <p:sldId id="394" r:id="rId107"/>
    <p:sldId id="395" r:id="rId108"/>
    <p:sldId id="396" r:id="rId109"/>
    <p:sldId id="397" r:id="rId110"/>
    <p:sldId id="398" r:id="rId111"/>
    <p:sldId id="533" r:id="rId24"/>
    <p:sldId id="534" r:id="rId25"/>
    <p:sldId id="399" r:id="rId113"/>
    <p:sldId id="40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3.xml"/><Relationship Id="rId24" Type="http://schemas.openxmlformats.org/officeDocument/2006/relationships/slide" Target="slides/slide13.xml"/><Relationship Id="rId25" Type="http://schemas.openxmlformats.org/officeDocument/2006/relationships/slide" Target="slides/slide14.xml"/><Relationship Id="rId102" Type="http://schemas.openxmlformats.org/officeDocument/2006/relationships/slide" Target="slides/slide2.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3" Type="http://schemas.openxmlformats.org/officeDocument/2006/relationships/slide" Target="slides/slide15.xml"/><Relationship Id="rId114" Type="http://schemas.openxmlformats.org/officeDocument/2006/relationships/slide" Target="slides/slide16.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WELCOME · LEAD: CONTAINER HOLDER · GROUNDING — every session opens on this map</a:t>
            </a:r>
          </a:p>
          <a:p>
            <a:r>
              <a:t>BEATS:</a:t>
            </a:r>
          </a:p>
          <a:p>
            <a:r>
              <a:t>1. Locate tonight on the map, plainly: Session 8 stands in the third box — Connect with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pre-session · DIVIDER</a:t>
            </a:r>
          </a:p>
          <a:p>
            <a:r>
              <a:rPr lang="en-US" sz="1200"/>
              <a:t>On screen through dinner and as the circle forms.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7:00–7:08 · LEAD: CONTAINER HOLDER</a:t>
            </a:r>
          </a:p>
          <a:p>
            <a:r>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t>CUES: Adults sit back from the senior's first word. A ten-second stumble the senior recovers from is worth more than a smooth block an adult saved.</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7:08–7:25 · LEAD: CONTAINER HOLDER</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7:25–7:28 · LEAD: CONTENT PRESENTER</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7:28–7:42 · LEAD: CONTENT PRESENTER</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pairs).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7:42–7:43 · LEAD: CONTENT PRESENTER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leadsanions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7:43–8:11 · LEAD: CONTENT PRESENTER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8:11–8:17 · LEAD: CONTENT PRESENTER · PAIRS</a:t>
            </a:r>
          </a:p>
          <a:p>
            <a:r>
              <a:rPr lang="en-US" sz="1200"/>
              <a:t>BEATS: 1. Back into pairs. One specific thing you heard today, one sentence — second time in the pair,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CONTENT PRESENTER</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8:24–8:28 · LEAD: BOTH LEADERS</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8:28–8:30 · LEAD: CONTAINER HOLDER</a:t>
            </a:r>
          </a:p>
          <a:p>
            <a:r>
              <a:rPr lang="en-US" sz="1200"/>
              <a:t>BEATS: 1. The senior closes: seven weeks ago none of us had done this; when we gather we go deeper, into the Garden — today's skill of hearing Him is what the Garden depends on. 2. 'Keep the daily practice alive this week. It's the hinge.' 3. Aaronic blessing, spoken by the senior — its own quiet milestone. 4. 'PROAPT one passage tomorrow. See you evenings.'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3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101</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8 stands in the third box — </a:t>
            </a:r>
            <a:r>
              <a:rPr sz="1800" b="1">
                <a:solidFill>
                  <a:srgbClr val="2C5F2D"/>
                </a:solidFill>
                <a:latin typeface="Calibri"/>
              </a:rPr>
              <a:t>Connect with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101a</a:t>
            </a:r>
            <a:endParaRPr sz="1000" b="1">
              <a:solidFill>
                <a:srgbClr val="7A8A6E"/>
              </a:solidFill>
              <a:latin typeface="Calibri"/>
            </a:endParaRPr>
          </a:p>
        </p:txBody>
      </p:sp>
      <p:pic>
        <p:nvPicPr>
          <p:cNvPr id="91" name="Picture 90" descr="four-connects.png"/>
          <p:cNvPicPr>
            <a:picLocks noChangeAspect="1"/>
          </p:cNvPicPr>
          <p:nvPr/>
        </p:nvPicPr>
        <p:blipFill>
          <a:blip r:embed="rId5"/>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pairs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pairs</a:t>
            </a:r>
          </a:p>
          <a:p>
            <a:pPr>
              <a:spcAft>
                <a:spcPts val="500"/>
              </a:spcAft>
            </a:pPr>
            <a:r>
              <a:rPr sz="2800" b="1">
                <a:solidFill>
                  <a:srgbClr val="97BC62"/>
                </a:solidFill>
                <a:latin typeface="Calibri"/>
              </a:rPr>
              <a:t>7   </a:t>
            </a:r>
            <a:r>
              <a:rPr sz="2800">
                <a:solidFill>
                  <a:srgbClr val="222B22"/>
                </a:solidFill>
                <a:latin typeface="Calibri"/>
              </a:rPr>
              <a:t>Tell step — sharing in the pair</a:t>
            </a:r>
          </a:p>
          <a:p>
            <a:pPr>
              <a:spcAft>
                <a:spcPts val="500"/>
              </a:spcAft>
            </a:pPr>
            <a:r>
              <a:rPr sz="2800" b="1">
                <a:solidFill>
                  <a:srgbClr val="97BC62"/>
                </a:solidFill>
                <a:latin typeface="Calibri"/>
              </a:rPr>
              <a:t>8   </a:t>
            </a:r>
            <a:r>
              <a:rPr sz="2800">
                <a:solidFill>
                  <a:srgbClr val="222B22"/>
                </a:solidFill>
                <a:latin typeface="Calibri"/>
              </a:rPr>
              <a:t>Merge and homework</a:t>
            </a:r>
          </a:p>
          <a:p>
            <a:pPr>
              <a:spcAft>
                <a:spcPts val="500"/>
              </a:spcAft>
            </a:pPr>
            <a:r>
              <a:rPr sz="2800" b="1">
                <a:solidFill>
                  <a:srgbClr val="97BC62"/>
                </a:solidFill>
                <a:latin typeface="Calibri"/>
              </a:rPr>
              <a:t>9   </a:t>
            </a:r>
            <a:r>
              <a:rPr sz="2800">
                <a:solidFill>
                  <a:srgbClr val="222B22"/>
                </a:solidFill>
                <a:latin typeface="Calibri"/>
              </a:rPr>
              <a:t>The Leader Feedback Round — both leaders</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103</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105</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pair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106</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pairs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leadsanion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107</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108</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pair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pair,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109</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Homework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110</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8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111</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8_part2.png"/>
          <p:cNvPicPr>
            <a:picLocks noChangeAspect="1"/>
          </p:cNvPicPr>
          <p:nvPr/>
        </p:nvPicPr>
        <p:blipFill>
          <a:blip r:embed="rId2"/>
          <a:stretch>
            <a:fillRect/>
          </a:stretch>
        </p:blipFill>
        <p:spPr>
          <a:xfrm>
            <a:off x="1858814" y="1463040"/>
            <a:ext cx="8474066"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111a</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113</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