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281" r:id="rId102"/>
    <p:sldId id="532" r:id="rId23"/>
    <p:sldId id="282" r:id="rId103"/>
    <p:sldId id="391" r:id="rId104"/>
    <p:sldId id="392" r:id="rId105"/>
    <p:sldId id="393" r:id="rId106"/>
    <p:sldId id="394" r:id="rId107"/>
    <p:sldId id="395" r:id="rId108"/>
    <p:sldId id="396" r:id="rId109"/>
    <p:sldId id="397" r:id="rId110"/>
    <p:sldId id="398" r:id="rId111"/>
    <p:sldId id="533" r:id="rId24"/>
    <p:sldId id="534" r:id="rId25"/>
    <p:sldId id="399" r:id="rId113"/>
    <p:sldId id="400" r:id="rId1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3" Type="http://schemas.openxmlformats.org/officeDocument/2006/relationships/slide" Target="slides/slide3.xml"/><Relationship Id="rId24" Type="http://schemas.openxmlformats.org/officeDocument/2006/relationships/slide" Target="slides/slide13.xml"/><Relationship Id="rId25" Type="http://schemas.openxmlformats.org/officeDocument/2006/relationships/slide" Target="slides/slide14.xml"/><Relationship Id="rId102" Type="http://schemas.openxmlformats.org/officeDocument/2006/relationships/slide" Target="slides/slide2.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3" Type="http://schemas.openxmlformats.org/officeDocument/2006/relationships/slide" Target="slides/slide15.xml"/><Relationship Id="rId114" Type="http://schemas.openxmlformats.org/officeDocument/2006/relationships/slide" Target="slides/slide16.xml"/><Relationship Id="rId279" Type="http://schemas.openxmlformats.org/officeDocument/2006/relationships/notesMaster" Target="notesMasters/notesMaster1.xml"/><Relationship Id="rId280" Type="http://schemas.openxmlformats.org/officeDocument/2006/relationships/presProps" Target="presProps.xml"/><Relationship Id="rId281" Type="http://schemas.openxmlformats.org/officeDocument/2006/relationships/viewProps" Target="viewProps.xml"/><Relationship Id="rId282" Type="http://schemas.openxmlformats.org/officeDocument/2006/relationships/theme" Target="theme/theme1.xml"/><Relationship Id="rId283" Type="http://schemas.openxmlformats.org/officeDocument/2006/relationships/tableStyles" Target="tableStyles.xml"/><Relationship Id="rId284" Type="http://schemas.microsoft.com/office/2016/11/relationships/changesInfo" Target="changesInfos/changesInfo1.xml"/><Relationship Id="rId2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S8 · WELCOME · LEAD: CONTAINER HOLDER · GROUNDING — every session opens on this map</a:t>
            </a:r>
          </a:p>
          <a:p>
            <a:r>
              <a:t>BEATS:</a:t>
            </a:r>
          </a:p>
          <a:p>
            <a:r>
              <a:t>1. Locate tonight on the map, plainly: Session 8 stands in the third box — Connect with God — walked again, teen-led. Each connection makes the next one real (Matt. 22:37–40).</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S8 · COMMISSIONING · LEAD: CONTENT PRESENTER</a:t>
            </a:r>
          </a:p>
          <a:p>
            <a:r>
              <a:t>BEATS:</a:t>
            </a:r>
          </a:p>
          <a:p>
            <a:r>
              <a:t>1. The sheet on the screen is the sheet in their hands — walk it, don't read it.</a:t>
            </a:r>
          </a:p>
          <a:p>
            <a:r>
              <a:t>2. The standing rhythm first: the morning question, the evening journal line — one box per day on the week-grids.</a:t>
            </a:r>
          </a:p>
          <a:p>
            <a:r>
              <a:t>3. A missed box is never a failure — it is an invitation to return.</a:t>
            </a:r>
          </a:p>
          <a:p>
            <a:r>
              <a:t>CUES: The four parts are the next slide.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S8 · COMMISSIONING · LEAD: CONTENT PRESENTER</a:t>
            </a:r>
          </a:p>
          <a:p>
            <a:r>
              <a:t>BEATS:</a:t>
            </a:r>
          </a:p>
          <a:p>
            <a:r>
              <a:t>1. The four parts, in order: the homework practice, week one; the end-of-week-one check-in; the homework practice, week two; one sentence of preparation.</a:t>
            </a:r>
          </a:p>
          <a:p>
            <a:r>
              <a:t>2. Check-in partners are named aloud before leaving this slide — the sheet has the line to write the name.</a:t>
            </a:r>
          </a:p>
          <a:p>
            <a:r>
              <a:t>GUARD: The sheet-walk, not a re-teach.</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pre-session · DIVIDER</a:t>
            </a:r>
          </a:p>
          <a:p>
            <a:r>
              <a:rPr lang="en-US" sz="1200"/>
              <a:t>On screen through dinner and as the circle forms. Greet at the door — the slide holds the room.</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7:00–7:08 · LEAD: CONTAINER HOLDER</a:t>
            </a:r>
          </a:p>
          <a:p>
            <a:r>
              <a:rPr lang="en-US" sz="1200"/>
              <a:t>BEATS: 1. Today is teen-led end to end: a Companion-in-Formation leads the welcome, the Mark 2:1–12 walk-through, the bridge, and the closing blessing. 2. Nothing new is taught — the second running completes what Week 7 began, and one senior gets their marquee. 3. Adults' discipline: chairs slightly outside the circle, eyes on the senior, no rescuing.</a:t>
            </a:r>
          </a:p>
          <a:p>
            <a:r>
              <a:rPr lang="en-US" sz="1200"/>
              <a:t>CUES: If the room's eyes drift to the adults, look at the senior — the room learns who leads from where the adults look.</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S8 · 7:00–7:08 · LEAD: CONTAINER HOLDER</a:t>
            </a:r>
          </a:p>
          <a:p>
            <a:r>
              <a:t>BEATS: 1. The senior speaks the Aaronic blessing and restates the container: Safe, Present, Clear, Intentional. 2. Their frame: seven weeks ago most of us walked in not knowing what this was; today one of us is leading it — that is the design. 3. 'The team is here. But the practice is ours now.'</a:t>
            </a:r>
          </a:p>
          <a:p>
            <a:r>
              <a:t>CUES: Adults sit back from the senior's first word. A ten-second stumble the senior recovers from is worth more than a smooth block an adult saved.</a:t>
            </a:r>
          </a:p>
          <a:p>
            <a:r>
              <a:t>PAIR LEAD: name the leading pair in the welcome — two leaders hold tonight, and the room will see the evening handed back and forth between them; that is the design. The pair practices the session together beforehand.</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7:08–7:25 · LEAD: CONTAINER HOLDER</a:t>
            </a:r>
          </a:p>
          <a:p>
            <a:r>
              <a:rPr lang="en-US" sz="1200"/>
              <a:t>BEATS: 1. Senior asks: one sentence each — how did the week of daily PROAPT actually go? 'I did two days and stopped' is an honest answer. 2. Take 2–3 contributions; receive them all the same way. 3. Normalize the restart: this stretch is where daily practice thins for almost everyone — the practice picks up where you are, not where you were supposed to be. No guilt.</a:t>
            </a:r>
          </a:p>
          <a:p>
            <a:r>
              <a:rPr lang="en-US" sz="1200"/>
              <a:t>CUES: Arranged parent opens (check the Run Card) — never cold-call a teen; pass-anytime holds.</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7:25–7:28 · LEAD: CONTENT PRESENTER</a:t>
            </a:r>
          </a:p>
          <a:p>
            <a:r>
              <a:rPr lang="en-US" sz="1200"/>
              <a:t>BEATS: 1. Romans 10:17 restated: Word, hearing, faith — hearing is a skill and skills take reps; last week was rep one, today is rep two. 2. Frame Mark 2:1–12 — the paralytic whose friends dig through the roof. 3. Some have already PROAPTed it in daily practice: don't skip it — a passage speaks differently on a second hearing, and today tests that. 4. Handouts around; Bibles open to Mark 2.</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7:28–7:42 · LEAD: CONTENT PRESENTER</a:t>
            </a:r>
          </a:p>
          <a:p>
            <a:r>
              <a:rPr lang="en-US" sz="1200"/>
              <a:t>BEATS: 1. The marquee: the senior leads all six steps, timed, from facilitation card H8.1; the room works handout H8.2. 2. PRAY 90s, READ 2 min, OBSERVE 3.5 min (data then surprise; 3–4 shares), APPLY 3.5 min ('YOU, today, specifically'; 2–3 shares), PRAY AGAIN 90s, TELL 60s (in the pairs). 3. Adults: do not speak, do not rescue a silence, let a stumble recover itself — the recovery is the formation.</a:t>
            </a:r>
          </a:p>
          <a:p>
            <a:r>
              <a:rPr lang="en-US" sz="1200"/>
              <a:t>CUES: The handoff rule is live: anything heavy — the senior catches the adult's eye, hands it over, keeps holding the room. The senior never takes a disclosure.</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7:42–7:43 · LEAD: CONTENT PRESENTER · TRANSITION</a:t>
            </a:r>
          </a:p>
          <a:p>
            <a:r>
              <a:rPr lang="en-US" sz="1200"/>
              <a:t>BEATS: 1. Senior restates the pair shape: parent with own teen by default; Reader and Listener; switch at thirteen minutes; same passage or fresh — Reader's choice. 2. Same pair as last week is not a rerun — a parent and a teen telling each other what they heard, a second week running, is the design working. 3. Pray and send.</a:t>
            </a:r>
          </a:p>
          <a:p>
            <a:r>
              <a:rPr lang="en-US" sz="1200"/>
              <a:t>CUES: Lead Companions settle odd numbers. Room about ten or fewer: stay as one circle, pair in place.</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7:43–8:11 · LEAD: CONTENT PRESENTER · PAIRS</a:t>
            </a:r>
          </a:p>
          <a:p>
            <a:r>
              <a:rPr lang="en-US" sz="1200"/>
              <a:t>BEATS: 1. First pass 13 min, switch, second pass 13 min — Reader leads, Listener works alongside without interrupting. 2. Same unstick prompts as Week 7: Observe — 'one word that caught you'; Apply — 'one situation, be specific'; slow the rushers; early finishers take another passage. 3. New this week — the pair treating it as a rerun: 'You know what it said Thursday. What is it saying today? Second hearings are where the specific word comes.'</a:t>
            </a:r>
          </a:p>
          <a:p>
            <a:r>
              <a:rPr lang="en-US" sz="1200"/>
              <a:t>CUES: Heavy material goes to the adults, always — receive the handoff so it costs the senior nothing.</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8:11–8:17 · LEAD: CONTENT PRESENTER · PAIRS</a:t>
            </a:r>
          </a:p>
          <a:p>
            <a:r>
              <a:rPr lang="en-US" sz="1200"/>
              <a:t>BEATS: 1. Back into pairs. One specific thing you heard today, one sentence — second time in the pair, the room knows the shape; let the expectation work. 2. Receive each: 'We hear that.' Brief. No preaching. 3. Close: take what you heard with you — it was given to be walked out.</a:t>
            </a:r>
          </a:p>
          <a:p>
            <a:r>
              <a:rPr lang="en-US" sz="1200"/>
              <a:t>CUES: Arranged parent opens (check the Run Card) — never cold-call a teen; teens choose their own depth; pass-anytime holds.</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8:17–8:20 · LEAD: CONTAINER HOLDER</a:t>
            </a:r>
          </a:p>
          <a:p>
            <a:r>
              <a:rPr lang="en-US" sz="1200"/>
              <a:t>BEATS: 1. The adult Lead Companion takes this block. 2. Daily PROAPT continues — one passage, five to fifteen minutes, every day; journal Week 7–8 pages. If last week thinned, restart tomorrow — no guilt, no doubling up. 3. Name what just happened: one of our own led the whole practice today; that is the design working. Suggest the car-ride version privately to parents — what they saw in the senior who led.</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8:24–8:28 · LEAD: BOTH LEADERS</a:t>
            </a:r>
          </a:p>
          <a:p>
            <a:r>
              <a:rPr lang="en-US" sz="1200"/>
              <a:t>BEATS: 1. Merged order today — a teen led: the senior answers the round's questions FIRST, the adult second. 2. The adult adds one specific affirmation of the senior ('you held the silence after Apply and didn't fill it') and at most ONE growth item — one thing, not a list. 3. Then, only by the senior's consent, the room takes the same two questions — popcorn, 'for you' language, covering both leaders. 4. Receive without defending; if the senior declines the room's round, it ends after the adult — no pressure, no exposure.</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S8 · 8:28–8:30 · LEAD: CONTAINER HOLDER</a:t>
            </a:r>
          </a:p>
          <a:p>
            <a:r>
              <a:rPr lang="en-US" sz="1200"/>
              <a:t>BEATS: 1. The senior closes: seven weeks ago none of us had done this; when we gather we go deeper, into the Garden — today's skill of hearing Him is what the Garden depends on. 2. 'Keep the daily practice alive this week. It's the hinge.' 3. Aaronic blessing, spoken by the senior — its own quiet milestone. 4. 'PROAPT one passage tomorrow. See you evenings.'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image" Target="../media/image2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image" Target="../media/image3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6-proapt.jpg"/>
          <p:cNvPicPr>
            <a:picLocks noChangeAspect="1"/>
          </p:cNvPicPr>
          <p:nvPr/>
        </p:nvPicPr>
        <p:blipFill>
          <a:blip r:embed="rId3"/>
          <a:stretch>
            <a:fillRect/>
          </a:stretch>
        </p:blipFill>
        <p:spPr>
          <a:xfrm>
            <a:off x="6309360" y="1405889"/>
            <a:ext cx="5394960" cy="404622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SESSION 8</a:t>
            </a:r>
          </a:p>
          <a:p>
            <a:pPr algn="l">
              <a:spcAft>
                <a:spcPts val="1000"/>
              </a:spcAft>
            </a:pPr>
            <a:r>
              <a:rPr sz="3300" b="1" i="0">
                <a:solidFill>
                  <a:srgbClr val="2C5F2D"/>
                </a:solidFill>
                <a:latin typeface="Cambria"/>
              </a:rPr>
              <a:t>Hearing God — PROAPT II</a:t>
            </a:r>
          </a:p>
          <a:p>
            <a:pPr algn="l">
              <a:spcAft>
                <a:spcPts val="600"/>
              </a:spcAft>
            </a:pPr>
            <a:r>
              <a:rPr sz="1800" b="0" i="1">
                <a:solidFill>
                  <a:srgbClr val="595959"/>
                </a:solidFill>
                <a:latin typeface="Calibri"/>
              </a:rPr>
              <a:t>The second running — the practice received last week is led this week, by one of the room's own seniors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116</a:t>
            </a:r>
            <a:endParaRPr sz="1000" b="1">
              <a:solidFill>
                <a:srgbClr val="7A8A6E"/>
              </a:solidFill>
              <a:latin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Session 8 stands in the third box — </a:t>
            </a:r>
            <a:r>
              <a:rPr sz="1800" b="1">
                <a:solidFill>
                  <a:srgbClr val="2C5F2D"/>
                </a:solidFill>
                <a:latin typeface="Calibri"/>
              </a:rPr>
              <a:t>Connect with God</a:t>
            </a:r>
            <a:r>
              <a:rPr sz="1800" b="0">
                <a:solidFill>
                  <a:srgbClr val="222B22"/>
                </a:solidFill>
                <a:latin typeface="Calibri"/>
              </a:rPr>
              <a:t> — walked again, teen-led. Each connection makes the next one real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117</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Session 8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Daily-practice check-in</a:t>
            </a:r>
          </a:p>
          <a:p>
            <a:pPr>
              <a:spcAft>
                <a:spcPts val="500"/>
              </a:spcAft>
            </a:pPr>
            <a:r>
              <a:rPr sz="2800" b="1">
                <a:solidFill>
                  <a:srgbClr val="97BC62"/>
                </a:solidFill>
                <a:latin typeface="Calibri"/>
              </a:rPr>
              <a:t>3   </a:t>
            </a:r>
            <a:r>
              <a:rPr sz="2800">
                <a:solidFill>
                  <a:srgbClr val="222B22"/>
                </a:solidFill>
                <a:latin typeface="Calibri"/>
              </a:rPr>
              <a:t>Why a second running</a:t>
            </a:r>
          </a:p>
          <a:p>
            <a:pPr>
              <a:spcAft>
                <a:spcPts val="500"/>
              </a:spcAft>
            </a:pPr>
            <a:r>
              <a:rPr sz="2800" b="1">
                <a:solidFill>
                  <a:srgbClr val="97BC62"/>
                </a:solidFill>
                <a:latin typeface="Calibri"/>
              </a:rPr>
              <a:t>4   </a:t>
            </a:r>
            <a:r>
              <a:rPr sz="2800">
                <a:solidFill>
                  <a:srgbClr val="222B22"/>
                </a:solidFill>
                <a:latin typeface="Calibri"/>
              </a:rPr>
              <a:t>PROAPT walked together — Mark 2:1–12</a:t>
            </a:r>
          </a:p>
          <a:p>
            <a:pPr>
              <a:spcAft>
                <a:spcPts val="500"/>
              </a:spcAft>
            </a:pPr>
            <a:r>
              <a:rPr sz="2800" b="1">
                <a:solidFill>
                  <a:srgbClr val="97BC62"/>
                </a:solidFill>
                <a:latin typeface="Calibri"/>
              </a:rPr>
              <a:t>5   </a:t>
            </a:r>
            <a:r>
              <a:rPr sz="2800">
                <a:solidFill>
                  <a:srgbClr val="222B22"/>
                </a:solidFill>
                <a:latin typeface="Calibri"/>
              </a:rPr>
              <a:t>Bridge to the pairs and pair structure</a:t>
            </a:r>
          </a:p>
          <a:p>
            <a:pPr>
              <a:spcAft>
                <a:spcPts val="500"/>
              </a:spcAft>
            </a:pPr>
            <a:r>
              <a:rPr sz="2800" b="1">
                <a:solidFill>
                  <a:srgbClr val="97BC62"/>
                </a:solidFill>
                <a:latin typeface="Calibri"/>
              </a:rPr>
              <a:t>6   </a:t>
            </a:r>
            <a:r>
              <a:rPr sz="2800">
                <a:solidFill>
                  <a:srgbClr val="222B22"/>
                </a:solidFill>
                <a:latin typeface="Calibri"/>
              </a:rPr>
              <a:t>PROAPT in family pairs in pairs</a:t>
            </a:r>
          </a:p>
          <a:p>
            <a:pPr>
              <a:spcAft>
                <a:spcPts val="500"/>
              </a:spcAft>
            </a:pPr>
            <a:r>
              <a:rPr sz="2800" b="1">
                <a:solidFill>
                  <a:srgbClr val="97BC62"/>
                </a:solidFill>
                <a:latin typeface="Calibri"/>
              </a:rPr>
              <a:t>7   </a:t>
            </a:r>
            <a:r>
              <a:rPr sz="2800">
                <a:solidFill>
                  <a:srgbClr val="222B22"/>
                </a:solidFill>
                <a:latin typeface="Calibri"/>
              </a:rPr>
              <a:t>Tell step — sharing in the pair</a:t>
            </a:r>
          </a:p>
          <a:p>
            <a:pPr>
              <a:spcAft>
                <a:spcPts val="500"/>
              </a:spcAft>
            </a:pPr>
            <a:r>
              <a:rPr sz="2800" b="1">
                <a:solidFill>
                  <a:srgbClr val="97BC62"/>
                </a:solidFill>
                <a:latin typeface="Calibri"/>
              </a:rPr>
              <a:t>8   </a:t>
            </a:r>
            <a:r>
              <a:rPr sz="2800">
                <a:solidFill>
                  <a:srgbClr val="222B22"/>
                </a:solidFill>
                <a:latin typeface="Calibri"/>
              </a:rPr>
              <a:t>Merge and homework</a:t>
            </a:r>
          </a:p>
          <a:p>
            <a:pPr>
              <a:spcAft>
                <a:spcPts val="500"/>
              </a:spcAft>
            </a:pPr>
            <a:r>
              <a:rPr sz="2800" b="1">
                <a:solidFill>
                  <a:srgbClr val="97BC62"/>
                </a:solidFill>
                <a:latin typeface="Calibri"/>
              </a:rPr>
              <a:t>9   </a:t>
            </a:r>
            <a:r>
              <a:rPr sz="2800">
                <a:solidFill>
                  <a:srgbClr val="222B22"/>
                </a:solidFill>
                <a:latin typeface="Calibri"/>
              </a:rPr>
              <a:t>The Leader Feedback Round — both leaders</a:t>
            </a:r>
          </a:p>
          <a:p>
            <a:pPr>
              <a:spcAft>
                <a:spcPts val="500"/>
              </a:spcAft>
            </a:pPr>
            <a:r>
              <a:rPr sz="2800" b="1">
                <a:solidFill>
                  <a:srgbClr val="97BC62"/>
                </a:solidFill>
                <a:latin typeface="Calibri"/>
              </a:rPr>
              <a:t>10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118</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119</a:t>
            </a:r>
            <a:endParaRPr sz="1000" b="1">
              <a:solidFill>
                <a:srgbClr val="7A8A6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Daily-Practice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“One sentence each, whoever wants: how did the week of daily practice actually go? Honest answers.”</a:t>
            </a:r>
          </a:p>
          <a:p>
            <a:pPr marL="685800" indent="-274320">
              <a:spcAft>
                <a:spcPts val="700"/>
              </a:spcAft>
            </a:pPr>
            <a:r>
              <a:rPr sz="1800" b="1" i="0">
                <a:solidFill>
                  <a:srgbClr val="97BC62"/>
                </a:solidFill>
                <a:latin typeface="Calibri"/>
              </a:rPr>
              <a:t>–  </a:t>
            </a:r>
            <a:r>
              <a:rPr sz="1800" b="0" i="1">
                <a:solidFill>
                  <a:srgbClr val="222B22"/>
                </a:solidFill>
                <a:latin typeface="Calibri"/>
              </a:rPr>
              <a:t>“‘I did two days and stopped’ is an honest answer.”</a:t>
            </a:r>
          </a:p>
          <a:p>
            <a:pPr marL="274320" indent="-274320">
              <a:spcAft>
                <a:spcPts val="900"/>
              </a:spcAft>
            </a:pPr>
            <a:r>
              <a:rPr sz="2400" b="1" i="0">
                <a:solidFill>
                  <a:srgbClr val="97BC62"/>
                </a:solidFill>
                <a:latin typeface="Calibri"/>
              </a:rPr>
              <a:t>•  </a:t>
            </a:r>
            <a:r>
              <a:rPr sz="2400" b="0" i="0">
                <a:solidFill>
                  <a:srgbClr val="222B22"/>
                </a:solidFill>
                <a:latin typeface="Calibri"/>
              </a:rPr>
              <a:t>A parent starts the round — arranged beforehand; anyone may pass</a:t>
            </a:r>
          </a:p>
          <a:p>
            <a:pPr marL="274320" indent="-274320">
              <a:spcAft>
                <a:spcPts val="900"/>
              </a:spcAft>
            </a:pPr>
            <a:r>
              <a:rPr sz="2400" b="1" i="0">
                <a:solidFill>
                  <a:srgbClr val="97BC62"/>
                </a:solidFill>
                <a:latin typeface="Calibri"/>
              </a:rPr>
              <a:t>•  </a:t>
            </a:r>
            <a:r>
              <a:rPr sz="2400" b="0" i="0">
                <a:solidFill>
                  <a:srgbClr val="222B22"/>
                </a:solidFill>
                <a:latin typeface="Calibri"/>
              </a:rPr>
              <a:t>Thin or empty week? No guilt — “The practice picks up where you are, not where you were supposed to be.”</a:t>
            </a:r>
          </a:p>
          <a:p>
            <a:pPr marL="274320" indent="-274320">
              <a:spcAft>
                <a:spcPts val="900"/>
              </a:spcAft>
            </a:pPr>
            <a:r>
              <a:rPr sz="2400" b="1" i="0">
                <a:solidFill>
                  <a:srgbClr val="97BC62"/>
                </a:solidFill>
                <a:latin typeface="Calibri"/>
              </a:rPr>
              <a:t>•  </a:t>
            </a:r>
            <a:r>
              <a:rPr sz="2400" b="0" i="0">
                <a:solidFill>
                  <a:srgbClr val="222B22"/>
                </a:solidFill>
                <a:latin typeface="Calibri"/>
              </a:rPr>
              <a:t>“Tonight is a fresh start” — everything tonight works whether you did seven days or zero</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120</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a Second Running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Word → Hearing → Faith — “hearing is a skill, and skills take reps. Last week was rep one. Tonight is rep two.”</a:t>
            </a:r>
          </a:p>
          <a:p>
            <a:pPr marL="274320" indent="-274320">
              <a:spcAft>
                <a:spcPts val="800"/>
              </a:spcAft>
            </a:pPr>
            <a:r>
              <a:rPr sz="2000" b="1" i="0">
                <a:solidFill>
                  <a:srgbClr val="97BC62"/>
                </a:solidFill>
                <a:latin typeface="Calibri"/>
              </a:rPr>
              <a:t>•  </a:t>
            </a:r>
            <a:r>
              <a:rPr sz="2000" b="0" i="0">
                <a:solidFill>
                  <a:srgbClr val="222B22"/>
                </a:solidFill>
                <a:latin typeface="Calibri"/>
              </a:rPr>
              <a:t>Tonight one of the room’s own leads the walk-through — “The team is here. But the practice is ours now.”</a:t>
            </a:r>
          </a:p>
          <a:p>
            <a:pPr marL="274320" indent="-274320">
              <a:spcAft>
                <a:spcPts val="800"/>
              </a:spcAft>
            </a:pPr>
            <a:r>
              <a:rPr sz="2000" b="1" i="0">
                <a:solidFill>
                  <a:srgbClr val="97BC62"/>
                </a:solidFill>
                <a:latin typeface="Calibri"/>
              </a:rPr>
              <a:t>•  </a:t>
            </a:r>
            <a:r>
              <a:rPr sz="2000" b="0" i="0">
                <a:solidFill>
                  <a:srgbClr val="222B22"/>
                </a:solidFill>
                <a:latin typeface="Calibri"/>
              </a:rPr>
              <a:t>Tonight’s passage: Mark 2:1–12 — the paralytic whose friends dig through a roof to get him to Jesus</a:t>
            </a:r>
          </a:p>
          <a:p>
            <a:pPr marL="274320" indent="-274320">
              <a:spcAft>
                <a:spcPts val="800"/>
              </a:spcAft>
            </a:pPr>
            <a:r>
              <a:rPr sz="2000" b="1" i="0">
                <a:solidFill>
                  <a:srgbClr val="97BC62"/>
                </a:solidFill>
                <a:latin typeface="Calibri"/>
              </a:rPr>
              <a:t>•  </a:t>
            </a:r>
            <a:r>
              <a:rPr sz="2000" b="0" i="0">
                <a:solidFill>
                  <a:srgbClr val="222B22"/>
                </a:solidFill>
                <a:latin typeface="Calibri"/>
              </a:rPr>
              <a:t>Already PROAPTed it this week? Good — “a passage speaks differently on a second hearing. That’s not a theory; you’re about to test it.”</a:t>
            </a:r>
          </a:p>
          <a:p>
            <a:pPr marL="274320" indent="-274320">
              <a:spcAft>
                <a:spcPts val="800"/>
              </a:spcAft>
            </a:pPr>
            <a:r>
              <a:rPr sz="2000" b="1" i="0">
                <a:solidFill>
                  <a:srgbClr val="97BC62"/>
                </a:solidFill>
                <a:latin typeface="Calibri"/>
              </a:rPr>
              <a:t>•  </a:t>
            </a:r>
            <a:r>
              <a:rPr sz="2000" b="0" i="0">
                <a:solidFill>
                  <a:srgbClr val="222B22"/>
                </a:solidFill>
                <a:latin typeface="Calibri"/>
              </a:rPr>
              <a:t>Same six steps as last week — Bibles open to Mark 2</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ROMANS 10:17</a:t>
            </a:r>
          </a:p>
          <a:p>
            <a:pPr>
              <a:spcAft>
                <a:spcPts val="600"/>
              </a:spcAft>
            </a:pPr>
            <a:r>
              <a:rPr sz="2400" b="0" i="1">
                <a:solidFill>
                  <a:srgbClr val="222B22"/>
                </a:solidFill>
                <a:latin typeface="Cambria"/>
              </a:rPr>
              <a:t>“So faith comes from hearing, and hearing through the word of Christ.”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121</a:t>
            </a:r>
            <a:endParaRPr sz="1000" b="1">
              <a:solidFill>
                <a:srgbClr val="7A8A6E"/>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Walked Together — Mark 2:1–12</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Pray — “Tell the Holy Spirit you want to hear what He has for you tonight — not what you already know about this passage.”</a:t>
            </a:r>
          </a:p>
          <a:p>
            <a:pPr marL="342900" indent="-342900">
              <a:spcAft>
                <a:spcPts val="750"/>
              </a:spcAft>
            </a:pPr>
            <a:r>
              <a:rPr sz="2000" b="1" i="0">
                <a:solidFill>
                  <a:srgbClr val="97BC62"/>
                </a:solidFill>
                <a:latin typeface="Calibri"/>
              </a:rPr>
              <a:t>2   </a:t>
            </a:r>
            <a:r>
              <a:rPr sz="2000" b="0" i="0">
                <a:solidFill>
                  <a:srgbClr val="222B22"/>
                </a:solidFill>
                <a:latin typeface="Calibri"/>
              </a:rPr>
              <a:t>Read — once aloud, slowly; then silence while the room reads to receive</a:t>
            </a:r>
          </a:p>
          <a:p>
            <a:pPr marL="342900" indent="-342900">
              <a:spcAft>
                <a:spcPts val="750"/>
              </a:spcAft>
            </a:pPr>
            <a:r>
              <a:rPr sz="2000" b="1" i="0">
                <a:solidFill>
                  <a:srgbClr val="97BC62"/>
                </a:solidFill>
                <a:latin typeface="Calibri"/>
              </a:rPr>
              <a:t>3   </a:t>
            </a:r>
            <a:r>
              <a:rPr sz="2000" b="0" i="0">
                <a:solidFill>
                  <a:srgbClr val="222B22"/>
                </a:solidFill>
                <a:latin typeface="Calibri"/>
              </a:rPr>
              <a:t>Observe — two layers, in order: first the data, straight off the page, then the interpretation — what stands out or surprises you in it. “Write three things — data first.”</a:t>
            </a:r>
          </a:p>
          <a:p>
            <a:pPr marL="342900" indent="-342900">
              <a:spcAft>
                <a:spcPts val="750"/>
              </a:spcAft>
            </a:pPr>
            <a:r>
              <a:rPr sz="2000" b="1" i="0">
                <a:solidFill>
                  <a:srgbClr val="97BC62"/>
                </a:solidFill>
                <a:latin typeface="Calibri"/>
              </a:rPr>
              <a:t>4   </a:t>
            </a:r>
            <a:r>
              <a:rPr sz="2000" b="0" i="0">
                <a:solidFill>
                  <a:srgbClr val="222B22"/>
                </a:solidFill>
                <a:latin typeface="Calibri"/>
              </a:rPr>
              <a:t>Apply — “Where in your life are you the one on the mat — stuck, carried, waiting? Or are you one of the four — and who are you carrying?”</a:t>
            </a:r>
          </a:p>
          <a:p>
            <a:pPr marL="342900" indent="-342900">
              <a:spcAft>
                <a:spcPts val="750"/>
              </a:spcAft>
            </a:pPr>
            <a:r>
              <a:rPr sz="2000" b="1" i="0">
                <a:solidFill>
                  <a:srgbClr val="97BC62"/>
                </a:solidFill>
                <a:latin typeface="Calibri"/>
              </a:rPr>
              <a:t>5   </a:t>
            </a:r>
            <a:r>
              <a:rPr sz="2000" b="0" i="0">
                <a:solidFill>
                  <a:srgbClr val="222B22"/>
                </a:solidFill>
                <a:latin typeface="Calibri"/>
              </a:rPr>
              <a:t>Pray again — “Tell God what you heard. Tell Him what you’re willing to do — or what you’re struggling to be willing to do.”</a:t>
            </a:r>
          </a:p>
          <a:p>
            <a:pPr marL="342900" indent="-342900">
              <a:spcAft>
                <a:spcPts val="750"/>
              </a:spcAft>
            </a:pPr>
            <a:r>
              <a:rPr sz="2000" b="1" i="0">
                <a:solidFill>
                  <a:srgbClr val="97BC62"/>
                </a:solidFill>
                <a:latin typeface="Calibri"/>
              </a:rPr>
              <a:t>6   </a:t>
            </a:r>
            <a:r>
              <a:rPr sz="2000" b="0" i="0">
                <a:solidFill>
                  <a:srgbClr val="222B22"/>
                </a:solidFill>
                <a:latin typeface="Calibri"/>
              </a:rPr>
              <a:t>Tell — in your family pair tonight — “it’s the step that makes the hearing stick.”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122</a:t>
            </a:r>
            <a:endParaRPr sz="1000" b="1">
              <a:solidFill>
                <a:srgbClr val="7A8A6E"/>
              </a:solidFill>
              <a:latin typeface="Calibri"/>
            </a:endParaRPr>
          </a:p>
        </p:txBody>
      </p:sp>
      <p:pic>
        <p:nvPicPr>
          <p:cNvPr id="91" name="Picture 91" descr="weathered clay roof tiles"/>
          <p:cNvPicPr>
            <a:picLocks noChangeAspect="1"/>
          </p:cNvPicPr>
          <p:nvPr/>
        </p:nvPicPr>
        <p:blipFill>
          <a:blip r:embed="rId3"/>
          <a:stretch>
            <a:fillRect/>
          </a:stretch>
        </p:blipFill>
        <p:spPr>
          <a:xfrm>
            <a:off x="7696962" y="1463040"/>
            <a:ext cx="3669030"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pairs — Pair Structure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Same pair structure as last week — parent with teen, from your own family, by default</a:t>
            </a:r>
          </a:p>
          <a:p>
            <a:pPr marL="274320" indent="-274320">
              <a:spcAft>
                <a:spcPts val="900"/>
              </a:spcAft>
            </a:pPr>
            <a:r>
              <a:rPr sz="2400" b="1" i="0">
                <a:solidFill>
                  <a:srgbClr val="97BC62"/>
                </a:solidFill>
                <a:latin typeface="Calibri"/>
              </a:rPr>
              <a:t>•  </a:t>
            </a:r>
            <a:r>
              <a:rPr sz="2400" b="0" i="0">
                <a:solidFill>
                  <a:srgbClr val="222B22"/>
                </a:solidFill>
                <a:latin typeface="Calibri"/>
              </a:rPr>
              <a:t>One Reader, one Listener — after thirteen minutes, switch; stay with Mark 2 or take a fresh passage</a:t>
            </a:r>
          </a:p>
          <a:p>
            <a:pPr marL="274320" indent="-274320">
              <a:spcAft>
                <a:spcPts val="900"/>
              </a:spcAft>
            </a:pPr>
            <a:r>
              <a:rPr sz="2400" b="1" i="0">
                <a:solidFill>
                  <a:srgbClr val="97BC62"/>
                </a:solidFill>
                <a:latin typeface="Calibri"/>
              </a:rPr>
              <a:t>•  </a:t>
            </a:r>
            <a:r>
              <a:rPr sz="2400" b="0" i="0">
                <a:solidFill>
                  <a:srgbClr val="222B22"/>
                </a:solidFill>
                <a:latin typeface="Calibri"/>
              </a:rPr>
              <a:t>“Same pair as last week is not a rerun — a parent and a teen telling each other what they heard, a second week running, is the design working.”</a:t>
            </a:r>
          </a:p>
          <a:p>
            <a:pPr marL="274320" indent="-274320">
              <a:spcAft>
                <a:spcPts val="900"/>
              </a:spcAft>
            </a:pPr>
            <a:r>
              <a:rPr sz="2400" b="1" i="0">
                <a:solidFill>
                  <a:srgbClr val="97BC62"/>
                </a:solidFill>
                <a:latin typeface="Calibri"/>
              </a:rPr>
              <a:t>•  </a:t>
            </a:r>
            <a:r>
              <a:rPr sz="2400" b="0" i="0">
                <a:solidFill>
                  <a:srgbClr val="222B22"/>
                </a:solidFill>
                <a:latin typeface="Calibri"/>
              </a:rPr>
              <a:t>Your Lead Companion settles any odd numbers; a small room stays as one circle</a:t>
            </a:r>
          </a:p>
          <a:p>
            <a:pPr marL="274320" indent="-274320">
              <a:spcAft>
                <a:spcPts val="900"/>
              </a:spcAft>
            </a:pPr>
            <a:r>
              <a:rPr sz="2400" b="1" i="0">
                <a:solidFill>
                  <a:srgbClr val="97BC62"/>
                </a:solidFill>
                <a:latin typeface="Calibri"/>
              </a:rPr>
              <a:t>•  </a:t>
            </a:r>
            <a:r>
              <a:rPr sz="2400" b="0" i="0">
                <a:solidFill>
                  <a:srgbClr val="222B22"/>
                </a:solidFill>
                <a:latin typeface="Calibri"/>
              </a:rPr>
              <a:t>“Father, You’ve already spoken tonight. Speak again in the pairs — something specific, something each of us can hear.”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123</a:t>
            </a:r>
            <a:endParaRPr sz="1000" b="1">
              <a:solidFill>
                <a:srgbClr val="7A8A6E"/>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in Family Pairs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400" b="1" i="0">
                <a:solidFill>
                  <a:srgbClr val="97BC62"/>
                </a:solidFill>
                <a:latin typeface="Calibri"/>
              </a:rPr>
              <a:t>1   </a:t>
            </a:r>
            <a:r>
              <a:rPr sz="2400" b="0" i="0">
                <a:solidFill>
                  <a:srgbClr val="222B22"/>
                </a:solidFill>
                <a:latin typeface="Calibri"/>
              </a:rPr>
              <a:t>First pass (13 min) — Reader leads PROAPT; Listener works alongside without interrupting</a:t>
            </a:r>
          </a:p>
          <a:p>
            <a:pPr marL="342900" indent="-342900">
              <a:spcAft>
                <a:spcPts val="750"/>
              </a:spcAft>
            </a:pPr>
            <a:r>
              <a:rPr sz="2400" b="1" i="0">
                <a:solidFill>
                  <a:srgbClr val="97BC62"/>
                </a:solidFill>
                <a:latin typeface="Calibri"/>
              </a:rPr>
              <a:t>2   </a:t>
            </a:r>
            <a:r>
              <a:rPr sz="2400" b="0" i="0">
                <a:solidFill>
                  <a:srgbClr val="222B22"/>
                </a:solidFill>
                <a:latin typeface="Calibri"/>
              </a:rPr>
              <a:t>Reader’s Tell at the end goes to the Listener — one sentence</a:t>
            </a:r>
          </a:p>
          <a:p>
            <a:pPr marL="342900" indent="-342900">
              <a:spcAft>
                <a:spcPts val="750"/>
              </a:spcAft>
            </a:pPr>
            <a:r>
              <a:rPr sz="2400" b="1" i="0">
                <a:solidFill>
                  <a:srgbClr val="97BC62"/>
                </a:solidFill>
                <a:latin typeface="Calibri"/>
              </a:rPr>
              <a:t>3   </a:t>
            </a:r>
            <a:r>
              <a:rPr sz="2400" b="0" i="0">
                <a:solidFill>
                  <a:srgbClr val="222B22"/>
                </a:solidFill>
                <a:latin typeface="Calibri"/>
              </a:rPr>
              <a:t>Switch — roles reverse; same passage or new</a:t>
            </a:r>
          </a:p>
          <a:p>
            <a:pPr marL="342900" indent="-342900">
              <a:spcAft>
                <a:spcPts val="750"/>
              </a:spcAft>
            </a:pPr>
            <a:r>
              <a:rPr sz="2400" b="1" i="0">
                <a:solidFill>
                  <a:srgbClr val="97BC62"/>
                </a:solidFill>
                <a:latin typeface="Calibri"/>
              </a:rPr>
              <a:t>4   </a:t>
            </a:r>
            <a:r>
              <a:rPr sz="2400" b="0" i="0">
                <a:solidFill>
                  <a:srgbClr val="222B22"/>
                </a:solidFill>
                <a:latin typeface="Calibri"/>
              </a:rPr>
              <a:t>Second pass (13 min) — same structure, roles reversed</a:t>
            </a:r>
          </a:p>
          <a:p>
            <a:pPr marL="274320" indent="-274320">
              <a:spcAft>
                <a:spcPts val="750"/>
              </a:spcAft>
            </a:pPr>
            <a:r>
              <a:rPr sz="2400" b="1" i="0">
                <a:solidFill>
                  <a:srgbClr val="97BC62"/>
                </a:solidFill>
                <a:latin typeface="Calibri"/>
              </a:rPr>
              <a:t>•  </a:t>
            </a:r>
            <a:r>
              <a:rPr sz="2400" b="0" i="0">
                <a:solidFill>
                  <a:srgbClr val="222B22"/>
                </a:solidFill>
                <a:latin typeface="Calibri"/>
              </a:rPr>
              <a:t>Same unstick prompts as Week 7 — “one specific word or phrase that caught you” / “one situation in your life right now — be specific”</a:t>
            </a:r>
          </a:p>
          <a:p>
            <a:pPr marL="274320" indent="-274320">
              <a:spcAft>
                <a:spcPts val="750"/>
              </a:spcAft>
            </a:pPr>
            <a:r>
              <a:rPr sz="2400" b="1" i="0">
                <a:solidFill>
                  <a:srgbClr val="97BC62"/>
                </a:solidFill>
                <a:latin typeface="Calibri"/>
              </a:rPr>
              <a:t>•  </a:t>
            </a:r>
            <a:r>
              <a:rPr sz="2400" b="0" i="0">
                <a:solidFill>
                  <a:srgbClr val="222B22"/>
                </a:solidFill>
                <a:latin typeface="Calibri"/>
              </a:rPr>
              <a:t>Feels like a rerun? “Then you know what it said Thursday. What is it saying tonight? Second hearings are where the specific word comes.”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124</a:t>
            </a:r>
            <a:endParaRPr sz="1000" b="1">
              <a:solidFill>
                <a:srgbClr val="7A8A6E"/>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Tell Step — Sharing in the pair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“The Tell step — second time in the pair, so you know the shape.”</a:t>
            </a:r>
          </a:p>
          <a:p>
            <a:pPr marL="274320" indent="-274320">
              <a:spcAft>
                <a:spcPts val="750"/>
              </a:spcAft>
            </a:pPr>
            <a:r>
              <a:rPr sz="2400" b="1" i="0">
                <a:solidFill>
                  <a:srgbClr val="97BC62"/>
                </a:solidFill>
                <a:latin typeface="Calibri"/>
              </a:rPr>
              <a:t>•  </a:t>
            </a:r>
            <a:r>
              <a:rPr sz="2400" b="0" i="0">
                <a:solidFill>
                  <a:srgbClr val="222B22"/>
                </a:solidFill>
                <a:latin typeface="Calibri"/>
              </a:rPr>
              <a:t>One specific thing you heard tonight — one sentence — “We listen to receive.”</a:t>
            </a:r>
          </a:p>
          <a:p>
            <a:pPr marL="274320" indent="-274320">
              <a:spcAft>
                <a:spcPts val="750"/>
              </a:spcAft>
            </a:pPr>
            <a:r>
              <a:rPr sz="2400" b="1" i="0">
                <a:solidFill>
                  <a:srgbClr val="97BC62"/>
                </a:solidFill>
                <a:latin typeface="Calibri"/>
              </a:rPr>
              <a:t>•  </a:t>
            </a:r>
            <a:r>
              <a:rPr sz="2400" b="0" i="0">
                <a:solidFill>
                  <a:srgbClr val="222B22"/>
                </a:solidFill>
                <a:latin typeface="Calibri"/>
              </a:rPr>
              <a:t>A parent opens the round — arranged beforehand, never a cold call on a teen</a:t>
            </a:r>
          </a:p>
          <a:p>
            <a:pPr marL="274320" indent="-274320">
              <a:spcAft>
                <a:spcPts val="750"/>
              </a:spcAft>
            </a:pPr>
            <a:r>
              <a:rPr sz="2400" b="1" i="0">
                <a:solidFill>
                  <a:srgbClr val="97BC62"/>
                </a:solidFill>
                <a:latin typeface="Calibri"/>
              </a:rPr>
              <a:t>•  </a:t>
            </a:r>
            <a:r>
              <a:rPr sz="2400" b="0" i="0">
                <a:solidFill>
                  <a:srgbClr val="222B22"/>
                </a:solidFill>
                <a:latin typeface="Calibri"/>
              </a:rPr>
              <a:t>Teens choose their own depth; pass-anytime holds</a:t>
            </a:r>
          </a:p>
          <a:p>
            <a:pPr marL="274320" indent="-274320">
              <a:spcAft>
                <a:spcPts val="750"/>
              </a:spcAft>
            </a:pPr>
            <a:r>
              <a:rPr sz="2400" b="1" i="0">
                <a:solidFill>
                  <a:srgbClr val="97BC62"/>
                </a:solidFill>
                <a:latin typeface="Calibri"/>
              </a:rPr>
              <a:t>•  </a:t>
            </a:r>
            <a:r>
              <a:rPr sz="2400" b="0" i="0">
                <a:solidFill>
                  <a:srgbClr val="222B22"/>
                </a:solidFill>
                <a:latin typeface="Calibri"/>
              </a:rPr>
              <a:t>Receive without preaching — “We hear that.” “Thank you for naming that.”</a:t>
            </a:r>
          </a:p>
          <a:p>
            <a:pPr marL="274320" indent="-274320">
              <a:spcAft>
                <a:spcPts val="750"/>
              </a:spcAft>
            </a:pPr>
            <a:r>
              <a:rPr sz="2400" b="1" i="0">
                <a:solidFill>
                  <a:srgbClr val="97BC62"/>
                </a:solidFill>
                <a:latin typeface="Calibri"/>
              </a:rPr>
              <a:t>•  </a:t>
            </a:r>
            <a:r>
              <a:rPr sz="2400" b="0" i="0">
                <a:solidFill>
                  <a:srgbClr val="222B22"/>
                </a:solidFill>
                <a:latin typeface="Calibri"/>
              </a:rPr>
              <a:t>“Take what you heard with you. It was given to be walked out.”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125</a:t>
            </a:r>
            <a:endParaRPr sz="1000" b="1">
              <a:solidFill>
                <a:srgbClr val="7A8A6E"/>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Homework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Daily PROAPT continues — one passage, five to fifteen minutes, every day (journal Week 7–8 pages)</a:t>
            </a:r>
          </a:p>
          <a:p>
            <a:pPr marL="274320" indent="-274320">
              <a:spcAft>
                <a:spcPts val="900"/>
              </a:spcAft>
            </a:pPr>
            <a:r>
              <a:rPr sz="2800" b="1" i="0">
                <a:solidFill>
                  <a:srgbClr val="97BC62"/>
                </a:solidFill>
                <a:latin typeface="Calibri"/>
              </a:rPr>
              <a:t>•  </a:t>
            </a:r>
            <a:r>
              <a:rPr sz="2800" b="0" i="0">
                <a:solidFill>
                  <a:srgbClr val="222B22"/>
                </a:solidFill>
                <a:latin typeface="Calibri"/>
              </a:rPr>
              <a:t>“If last week thinned out, restart tomorrow. No guilt, no doubling up.”</a:t>
            </a:r>
          </a:p>
          <a:p>
            <a:pPr marL="274320" indent="-274320">
              <a:spcAft>
                <a:spcPts val="900"/>
              </a:spcAft>
            </a:pPr>
            <a:r>
              <a:rPr sz="2800" b="1" i="0">
                <a:solidFill>
                  <a:srgbClr val="97BC62"/>
                </a:solidFill>
                <a:latin typeface="Calibri"/>
              </a:rPr>
              <a:t>•  </a:t>
            </a:r>
            <a:r>
              <a:rPr sz="2800" b="0" i="0">
                <a:solidFill>
                  <a:srgbClr val="222B22"/>
                </a:solidFill>
                <a:latin typeface="Calibri"/>
              </a:rPr>
              <a:t>“Take a moment on the way home to notice what just happened in this room. One of our own led the whole practice tonight. That is the design working.”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126</a:t>
            </a:r>
            <a:endParaRPr sz="1000" b="1">
              <a:solidFill>
                <a:srgbClr val="7A8A6E"/>
              </a:solidFill>
              <a:latin typeface="Calibri"/>
            </a:endParaRPr>
          </a:p>
        </p:txBody>
      </p:sp>
      <p:pic>
        <p:nvPicPr>
          <p:cNvPr id="34" name="Picture 34"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Daily Rhythm</a:t>
            </a:r>
          </a:p>
        </p:txBody>
      </p:sp>
      <p:pic>
        <p:nvPicPr>
          <p:cNvPr id="4" name="Picture 3" descr="s8_part1.png"/>
          <p:cNvPicPr>
            <a:picLocks noChangeAspect="1"/>
          </p:cNvPicPr>
          <p:nvPr/>
        </p:nvPicPr>
        <p:blipFill>
          <a:blip r:embed="rId2"/>
          <a:stretch>
            <a:fillRect/>
          </a:stretch>
        </p:blipFill>
        <p:spPr>
          <a:xfrm>
            <a:off x="1798167" y="1463040"/>
            <a:ext cx="8595360" cy="403981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127</a:t>
            </a:r>
            <a:endParaRPr sz="1000" b="1">
              <a:solidFill>
                <a:srgbClr val="7A8A6E"/>
              </a:solidFill>
              <a:latin typeface="Calibri"/>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Four Parts</a:t>
            </a:r>
          </a:p>
        </p:txBody>
      </p:sp>
      <p:pic>
        <p:nvPicPr>
          <p:cNvPr id="4" name="Picture 3" descr="s8_part2.png"/>
          <p:cNvPicPr>
            <a:picLocks noChangeAspect="1"/>
          </p:cNvPicPr>
          <p:nvPr/>
        </p:nvPicPr>
        <p:blipFill>
          <a:blip r:embed="rId4"/>
          <a:stretch>
            <a:fillRect/>
          </a:stretch>
        </p:blipFill>
        <p:spPr>
          <a:xfrm>
            <a:off x="2574039" y="1463040"/>
            <a:ext cx="7043615" cy="4709160"/>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One practice at a time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128</a:t>
            </a:r>
            <a:endParaRPr sz="1000" b="1">
              <a:solidFill>
                <a:srgbClr val="7A8A6E"/>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Two rounds, same as every session — the container holder first, then the content presenter: three things each</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130</a:t>
            </a:r>
            <a:endParaRPr sz="1000" b="1">
              <a:solidFill>
                <a:srgbClr val="7A8A6E"/>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