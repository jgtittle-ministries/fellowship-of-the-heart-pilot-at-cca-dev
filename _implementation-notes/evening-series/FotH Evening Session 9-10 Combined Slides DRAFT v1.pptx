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284" r:id="rId115"/>
    <p:sldId id="533" r:id="rId22"/>
    <p:sldId id="285" r:id="rId116"/>
    <p:sldId id="401" r:id="rId117"/>
    <p:sldId id="402" r:id="rId118"/>
    <p:sldId id="536" r:id="rId21"/>
    <p:sldId id="537" r:id="rId25"/>
    <p:sldId id="403" r:id="rId119"/>
    <p:sldId id="404" r:id="rId120"/>
    <p:sldId id="405" r:id="rId121"/>
    <p:sldId id="538" r:id="rId26"/>
    <p:sldId id="406" r:id="rId122"/>
    <p:sldId id="407" r:id="rId123"/>
    <p:sldId id="539" r:id="rId27"/>
    <p:sldId id="534" r:id="rId23"/>
    <p:sldId id="535" r:id="rId24"/>
    <p:sldId id="408" r:id="rId125"/>
    <p:sldId id="409" r:id="rId1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1" Type="http://schemas.openxmlformats.org/officeDocument/2006/relationships/slide" Target="slides/slide7.xml"/><Relationship Id="rId22" Type="http://schemas.openxmlformats.org/officeDocument/2006/relationships/slide" Target="slides/slide3.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8.xml"/><Relationship Id="rId26" Type="http://schemas.openxmlformats.org/officeDocument/2006/relationships/slide" Target="slides/slide12.xml"/><Relationship Id="rId27" Type="http://schemas.openxmlformats.org/officeDocument/2006/relationships/slide" Target="slides/slide15.xml"/><Relationship Id="rId115" Type="http://schemas.openxmlformats.org/officeDocument/2006/relationships/slide" Target="slides/slide2.xml"/><Relationship Id="rId116" Type="http://schemas.openxmlformats.org/officeDocument/2006/relationships/slide" Target="slides/slide4.xml"/><Relationship Id="rId117" Type="http://schemas.openxmlformats.org/officeDocument/2006/relationships/slide" Target="slides/slide5.xml"/><Relationship Id="rId118" Type="http://schemas.openxmlformats.org/officeDocument/2006/relationships/slide" Target="slides/slide6.xml"/><Relationship Id="rId119" Type="http://schemas.openxmlformats.org/officeDocument/2006/relationships/slide" Target="slides/slide9.xml"/><Relationship Id="rId120" Type="http://schemas.openxmlformats.org/officeDocument/2006/relationships/slide" Target="slides/slide10.xml"/><Relationship Id="rId121" Type="http://schemas.openxmlformats.org/officeDocument/2006/relationships/slide" Target="slides/slide11.xml"/><Relationship Id="rId122" Type="http://schemas.openxmlformats.org/officeDocument/2006/relationships/slide" Target="slides/slide13.xml"/><Relationship Id="rId123" Type="http://schemas.openxmlformats.org/officeDocument/2006/relationships/slide" Target="slides/slide14.xml"/><Relationship Id="rId125" Type="http://schemas.openxmlformats.org/officeDocument/2006/relationships/slide" Target="slides/slide18.xml"/><Relationship Id="rId126" Type="http://schemas.openxmlformats.org/officeDocument/2006/relationships/slide" Target="slides/slide19.xml"/><Relationship Id="rId279" Type="http://schemas.openxmlformats.org/officeDocument/2006/relationships/notesMaster" Target="notesMasters/notesMaster1.xml"/><Relationship Id="rId280" Type="http://schemas.openxmlformats.org/officeDocument/2006/relationships/presProps" Target="presProps.xml"/><Relationship Id="rId281" Type="http://schemas.openxmlformats.org/officeDocument/2006/relationships/viewProps" Target="viewProps.xml"/><Relationship Id="rId282" Type="http://schemas.openxmlformats.org/officeDocument/2006/relationships/theme" Target="theme/theme1.xml"/><Relationship Id="rId283" Type="http://schemas.openxmlformats.org/officeDocument/2006/relationships/tableStyles" Target="tableStyles.xml"/><Relationship Id="rId284" Type="http://schemas.microsoft.com/office/2016/11/relationships/changesInfo" Target="changesInfos/changesInfo1.xml"/><Relationship Id="rId2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7:10–7:20 · LEAD: CONTENT PRESENTER</a:t>
            </a:r>
          </a:p>
          <a:p>
            <a:r>
              <a:t>BEATS: 1. Frame, 30 seconds: 'Before we go into the garden, we remember a time we really heard — and how we knew. Next time is Any Doubts?; this is the ground under it.' 2. A leader tells first, arranged beforehand: two or three plain sentences — a real time you heard, how you knew, what you did. 3. Quiet recall, 3 minutes, journals open: when and where, what was going on, what it looked, sounded or felt like, what you heard, what you did with it. Make it fuller as you write. 4. Pairs, 4 minutes, by invitation: the partner asks only one question — 'How did you know?' — and listens.</a:t>
            </a:r>
          </a:p>
          <a:p>
            <a:r>
              <a:t>CUES: Never cold-call a teen; pass-anytime holds. 'I can't think of one' is an honest answer — offer the creation door (Rom. 1:20) or a time you simply knew something was true. Keep the answers to 'How did you know?' for the next slide.</a:t>
            </a:r>
          </a:p>
          <a:p>
            <a:r>
              <a:t>GUARD: This is remembering, not judging — no one rules on whether another person's hearing was God. If a memory turns heavy, the Settle Protocol stands.</a:t>
            </a:r>
          </a:p>
          <a:p>
            <a:r>
              <a:t>FROM: the Four Connects deck (FotH, September 2025), 'Hearing God — The How': remember a time of hearing, see it, hear it, feel it, make it fuller, anchor it.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WELCOME · LEAD: CONTAINER HOLDER · GROUNDING — every session opens on this map</a:t>
            </a:r>
          </a:p>
          <a:p>
            <a:r>
              <a:t>BEATS:</a:t>
            </a:r>
          </a:p>
          <a:p>
            <a:r>
              <a:t>1. Locate tonight on the map, plainly: Evening 7 stands in the third box — Connect with God — one guided garden run, teen-led; the week's returns carry the second visit.</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COMMISSIONING · LEAD: CONTENT PRESENTER</a:t>
            </a:r>
          </a:p>
          <a:p>
            <a:r>
              <a:t>BEATS:</a:t>
            </a:r>
          </a:p>
          <a:p>
            <a:r>
              <a:t>1. The sheet on the screen is the sheet in their hands — walk it, don't read it.</a:t>
            </a:r>
          </a:p>
          <a:p>
            <a:r>
              <a:t>2. The standing rhythm first: the morning question, the evening journal line — one box per day on the week-grids.</a:t>
            </a:r>
          </a:p>
          <a:p>
            <a:r>
              <a:t>3. A missed box is never a failure — it is an invitation to return.</a:t>
            </a:r>
          </a:p>
          <a:p>
            <a:r>
              <a:t>CUES: The five parts are the next slide.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COMMISSIONING · 8:19–8:21 · LEAD: CONTENT PRESENTER</a:t>
            </a:r>
          </a:p>
          <a:p>
            <a:r>
              <a:t>BEATS:</a:t>
            </a:r>
          </a:p>
          <a:p>
            <a:r>
              <a:t>1. The five parts, in order: week one, the garden returns; the end-of-week-one check-in; week two, the garden again; weeks three and four, your choice from The Practices So Far; two sentences of preparation for December 8.</a:t>
            </a:r>
          </a:p>
          <a:p>
            <a:r>
              <a:t>2. Check-in partners are named aloud before leaving this slide; the sheet has the line to write the name.</a:t>
            </a:r>
          </a:p>
          <a:p>
            <a:r>
              <a:t>3. The Practices So Far card and the How Did You Know? card go with the sheet.</a:t>
            </a:r>
          </a:p>
          <a:p>
            <a:r>
              <a:t>GUARD: The sheet-walk, not a re-teach.</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7:20–7:25 · LEAD: CONTENT PRESENTER</a:t>
            </a:r>
          </a:p>
          <a:p>
            <a:r>
              <a:t>BEATS: 1. The room round, 2 minutes: 'How did you know?' Collect the answers aloud; the container holder writes them on a sheet. 2. Then the slide: line the room's answers up with the checks — most will already be there. Name any the room found that the slide does not have; they count. 3. Scripture first: it is the court, and the others confirm. No one check is enough on its own — and peace can be faked by wanting something badly. 4. Obedience: 'What happened when you obeyed?' Obeying what you hear opens you to hear more. 5. Bridge: 'Tonight in the garden, notice — don't conclude. On your returns you will test what you noticed. The card in your take-home has these checks.'</a:t>
            </a:r>
          </a:p>
          <a:p>
            <a:r>
              <a:t>CUES: A practice, not a lecture — the room's list leads and the slide confirms. Five minutes; the garden needs its time.</a:t>
            </a:r>
          </a:p>
          <a:p>
            <a:r>
              <a:t>GUARD: No one tests someone else's hearing aloud tonight. Each person tests their own, in company they choose.</a:t>
            </a:r>
          </a:p>
          <a:p>
            <a:r>
              <a:t>FROM: the Four Connects deck (FotH, September 2025), 'Hearing God — What If?': how do you know something is from the Lord? It lines up with Scripture, reason, the witness of the Spirit, peace, community, circumstances.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7:48–8:07 · LEAD: CONTENT PRESENTER</a:t>
            </a:r>
          </a:p>
          <a:p>
            <a:r>
              <a:t>BEATS: 1. Take them back to the relaxed state, 1 minute: breathe, relax, picture the garden again. 2. ROUND TWO: invite Jesus in; give him permission to do or say anything he wishes; ask him to do or say whatever he wants. Then the reader stops talking and holds the silence for about five minutes. Do not fill it; watch the clock, not the faces' patience. Then: 'When you are ready, come back to here, and open your eyes.' 3. Write, 4 minutes: what did you see, hear, smell, or feel? What did he do or say? 'Nothing happened' is honest. Everyone writes before anyone shares. 4. Share in pairs, 6 minutes, by invitation: the Companion models two plain sentences first, the arranged parent opens — receive without interpreting; never 'God was telling you...'. Notice, don't conclude: the returns are for testing.</a:t>
            </a:r>
          </a:p>
          <a:p>
            <a:r>
              <a:t>CUES: Soft tears — do not stop; the tears are often the work. Never cold-call a teen; pass-anytime holds.</a:t>
            </a:r>
          </a:p>
          <a:p>
            <a:r>
              <a:t>GUARD: If overwhelm goes past quiet reassurance, run the Settle Protocol — stop for THEM, not for the circle: plain directive words, back to the room, breathe and anchor, no return to the exercise today; nobody leaves activated.</a:t>
            </a:r>
          </a:p>
          <a:p>
            <a:r>
              <a:t>FROM: the Four Connects deck (FotH, September 2025), 'Garden of the Heart': take them back to that relaxed state; picture the heart again; invite Jesus in; suggest they ask him to do or say whatever he wants; let it sit a few minutes; return and record; then share.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8:16–8:19 · LEAD: CONTENT PRESENTER</a:t>
            </a:r>
          </a:p>
          <a:p>
            <a:r>
              <a:t>BEATS: 1. Name the gap plainly: no evening over Thanksgiving week; four weeks to Tuesday, December 8. "See you in a couple of weeks" is how practices die. 2. Weeks one and two run as always: the garden returns, the check-in after week one. 3. Weeks three and four are yours: each week, one practice from The Practices So Far card, a different one in week four; write down which, and why. 4. Read the list once, aloud, so everyone knows the menu. The card now gives each practice what we did that evening and the homework that went home: before choosing, look back in your journal at what you actually did. 5. The returning rule: if it slips, begin again the next day; no starting over, no streaks. 6. Name who to reach over the gap. 7. December 8 opens with three questions: which did you choose, did you come back on your own, which would you keep?</a:t>
            </a:r>
          </a:p>
          <a:p>
            <a:r>
              <a:t>GUARD: Walk the list; never steer. The choices are made at home, freely: which practices people really want to do is what we are learning (John's word, 28 October).</a:t>
            </a:r>
          </a:p>
          <a:p>
            <a:r>
              <a:t>CUES: Hand out The Practices So Far card with the take-home sheet on the next slide.</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pre-session · DIVIDER</a:t>
            </a:r>
          </a:p>
          <a:p>
            <a:r>
              <a:t>On screen through dinner and as the circle forms. Greet at the door — the slide holds the room.</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7:00–8:30 · LEAD: BOTH LEADERS</a:t>
            </a:r>
          </a:p>
          <a:p>
            <a:r>
              <a:t>BEATS:</a:t>
            </a:r>
          </a:p>
          <a:p>
            <a:r>
              <a:t>1. The garden's deepest work happens on repetition — in the two-session form the room came back a week later; in the combined form the three homework returns ARE the second visit, and next session's check-in receives them.</a:t>
            </a:r>
          </a:p>
          <a:p>
            <a:r>
              <a:t>2. Shape: open, a short check-in, remembering a real hearing and how we knew (the tests, before the garden), Scripture and framing (John 15; Psalm 23), bridge and settle, the garden in two rounds — round one the garden, round two Jesus invited in with permission to do or say anything he wishes; a senior reads, two words per second, the pauses are where the work happens; write and share in pairs after each round, the adults holding the sharing; merge, the returns commissioned, feedback, gentle close.</a:t>
            </a:r>
          </a:p>
          <a:p>
            <a:r>
              <a:t>3. The current-condition form: teen-led from the first run. The separate second-running evening (Session 10) is held in reserve for a larger room of newer people.</a:t>
            </a:r>
          </a:p>
          <a:p>
            <a:r>
              <a:t>4. Why the testing comes first (John's word, 13 October): what anyone notices in the garden is held loosely and tested on the returns, not concluded tonight. Evening 8, Any Doubts?, starts from here.</a:t>
            </a:r>
          </a:p>
          <a:p>
            <a:r>
              <a:t>GUARD: Settle Protocol stands — anything heavy in the garden: stop for them, not the circle; no return to the exercise today. The senior never takes a disclosure; the bright line governs.</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7:00–7:06 · LEAD: CONTAINER HOLDER</a:t>
            </a:r>
          </a:p>
          <a:p>
            <a:r>
              <a:t>BEATS: 1. 'Welcome back. Find a seat.' Wait — take a longer breath than usual before the blessing. 2. Aaronic blessing. 3. Frame: today is quiet, mostly interior; deeply familiar for some, brand new for others — both are fine. 4. Container: what is said here stays here; nothing is required; listen to receive.</a:t>
            </a:r>
          </a:p>
          <a:p>
            <a:r>
              <a:t>PAIR LEAD: name the leading pair in the welcome — two leaders hold tonight, and the room will see the evening handed back and forth between them; that is the design. The pair practices the session together beforehand.</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7:06–7:10 · LEAD: CONTAINER HOLDER</a:t>
            </a:r>
          </a:p>
          <a:p>
            <a:r>
              <a:t>BEATS: 1. One sentence each on how the daily PROAPT practice has been. 2. Two voluntary contributions, kept brief — four minutes; tonight's arc needs the time.</a:t>
            </a:r>
          </a:p>
          <a:p>
            <a:r>
              <a:t>CUES: Arranged parent opens (check the Run Card) — never cold-call a teen; pass-anytime holds.</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7:25–7:31 · LEAD: CONTENT PRESENTER</a:t>
            </a:r>
          </a:p>
          <a:p>
            <a:r>
              <a:t>BEATS: 1. Read John 15:1–11 slowly, then Psalm 23:1–3 — 'listen as if you have not heard it.' 2. Teach: scripture pictures the heart as cultivated ground; today we walk into that image and invite Jesus in to walk it with us. 3. Name the lineage in a sentence — imaginative prayer: Ignatius, Bonaventure, the Puritans — and the two nots: not visualization-as-self-help, not emptying the mind. 4. 'Vivid experience or nothing at all — both fine. The turning toward Him is the practice.' 5. If you sense resistance, read the skepticism paragraph — the frame IS the work; do not skip it.</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7:31–7:35 · LEAD: CONTENT PRESENTER · TRANSITION</a:t>
            </a:r>
          </a:p>
          <a:p>
            <a:r>
              <a:t>BEATS: 1. Preview the shape: two rounds. Round one, the garden — read, write, share. Round two, go back and invite Jesus in, giving him permission to do or say anything he wishes — read, write, share. Whole room, eyes open or closed, your own family beside you; sharing by invitation only — silence is a complete answer. 2. Room about ten or fewer: name it now — sharing happens right in this circle, no moving. 3. One line from the testing slide: notice, don't conclude — tonight is for noticing; the returns are for testing. 4. Pray the bridge prayer: where it is hard, be tender; where it is closed, be patient; where it is opening, be present.</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7:35–7:48 · LEAD: CONTENT PRESENTER</a:t>
            </a:r>
          </a:p>
          <a:p>
            <a:r>
              <a:t>BEATS: 1. Pens and journals ready beforehand, then set aside. 2. RELAX, 2 minutes — the reader reads the Settle section of the Reading Card: breath focus, in and out, then relaxing from the toes up, stage by stage; relaxed and present, and so present to the great I AM. 3. ROUND ONE, about 4 minutes: picture your heart as a garden; let it sit a minute; make it clearer — the light, the temperature, the time of day; another minute; then come back to here. Two words per second; the pauses are where the work happens. Jesus is not invited yet. 4. Write, 3 minutes: what did you see, hear, smell, or feel there? 5. Share in pairs, 4 minutes, by invitation: the arranged parent opens — receive without interpreting.</a:t>
            </a:r>
          </a:p>
          <a:p>
            <a:r>
              <a:t>CUES: Never cold-call a teen; pass-anytime holds. Keep the clock: round two needs its full time.</a:t>
            </a:r>
          </a:p>
          <a:p>
            <a:r>
              <a:t>GUARD: If overwhelm goes past quiet reassurance, run the Settle Protocol — stop for THEM, not for the circle: plain directive words, back to the room, breathe and anchor, no return to the exercise today; nobody leaves activated.</a:t>
            </a:r>
          </a:p>
          <a:p>
            <a:r>
              <a:t>FROM: the Four Connects deck (FotH, September 2025), 'Garden of the Heart': prepare to write, relaxation to get present to the great I AM, the garden, record, share.</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8:07–8:13 · LEAD: CONTENT PRESENTER</a:t>
            </a:r>
          </a:p>
          <a:p>
            <a:r>
              <a:t>BEATS: 1. The room will be quieter than usual — honor it; wait before speaking. What happened in the pairs stays there. 2. The comparison, about 4 minutes, whole room, by invitation: 'Were there any differences between the garden and the garden with Jesus in it? What did they look like? What might your images tell you about yourself? About Jesus with you and in you?' Take one or two; time decides. 3. Each person reads their own images; no one interprets anyone else's. Receive with 'Thank you.' 4. Then one word about tonight, about 2 minutes — 'surprised', 'tender', 'empty', 'found', 'quiet' — received with a nod, nothing else. Close: whatever happened tonight is yours; some of it will keep happening across the week.</a:t>
            </a:r>
          </a:p>
          <a:p>
            <a:r>
              <a:t>CUES: Arranged parent begins; anyone may pass.</a:t>
            </a:r>
          </a:p>
          <a:p>
            <a:r>
              <a:t>FROM: the Four Connects deck (FotH, September 2025), 'Garden of the Heart': after the small groups, ask if anyone wants to share — the differences, and what the images tell you.</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8:13–8:16 · LEAD: CONTENT PRESENTER</a:t>
            </a:r>
          </a:p>
          <a:p>
            <a:r>
              <a:t>BEATS: 1. Co-Companion (Parent) leads. Three brief returns to the garden this week, 5–10 min each — no script needed, you have the place now; journal each visit (H9.2). 2. Gentle warning: a return can surface something heavy — you can stop, open your eyes, come back another day; and tell a trusted adult. You are not meant to carry the heavy things alone. 3. After each return, test it: two lines in the journal — does what I noticed fit Scripture? who could I tell? The How Did You Know? card (H9.4) has the checks. 4. For the uneasy: H9.3, the Note for the Skeptic — adapting the practice or sitting it out is honored.</a:t>
            </a:r>
          </a:p>
          <a:p>
            <a:r>
              <a:t>COMBINED FORM: say it plainly — the second guided evening lives in the returns now. Five to ten minutes each, journaled; no junior varsity garden: Jesus meets each person in the garden they actually have. Next session's check-in receives the returns.</a:t>
            </a:r>
          </a:p>
          <a:p>
            <a:r>
              <a:t>THE LONG GAP: this is weeks one and two of four; the next slide gives weeks three and four.</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8:21–8:24 · LEAD: BOTH LEADERS</a:t>
            </a:r>
          </a:p>
          <a:p>
            <a:r>
              <a:t>BEATS: 1. Same round: leader's three answers first, then the room's two questions; 'thank you' is the whole response. 2. Today is the likeliest night of the series to DROP the round: if the room is still deep in the garden's quiet, five minutes of process talk can break what the Spirit is holding. Drop it, and say so at the debrief.</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E7 · 8:24–8:30 · LEAD: CONTAINER HOLDER</a:t>
            </a:r>
          </a:p>
          <a:p>
            <a:r>
              <a:t>BEATS: 0. Step 4 tonight asks the Four Connects impact question: 'What will you do or say differently?' — one sentence, committed aloud. 1. 'What happened in your pair is yours. Carry it gently — don't debrief it on the way home unless your heart is fully ready.' 2. If something heavy surfaced, reach out — the team is walking with you. 3. Aaronic blessing; see you on Tuesday, December 8.</a:t>
            </a:r>
          </a:p>
          <a:p>
            <a:r>
              <a:t>GAP: say the date once more, and who to reach over Thanksgiving.</a:t>
            </a:r>
          </a:p>
          <a:p>
            <a:r>
              <a:t>CUES: Stay accessible for fifteen minutes after the close — today more than most, people will want to talk; the two-adult rule holds for any teen.</a:t>
            </a:r>
          </a:p>
          <a:p>
            <a:r>
              <a:t>BLESSINGS: eyes on the person, not the screen — nothing to read; say what is on your heart for them, specific and short.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3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image" Target="../media/image3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garden.jpg"/>
          <p:cNvPicPr>
            <a:picLocks noChangeAspect="1"/>
          </p:cNvPicPr>
          <p:nvPr/>
        </p:nvPicPr>
        <p:blipFill>
          <a:blip r:embed="rId3"/>
          <a:stretch>
            <a:fillRect/>
          </a:stretch>
        </p:blipFill>
        <p:spPr>
          <a:xfrm>
            <a:off x="6309360" y="1408493"/>
            <a:ext cx="5394960" cy="4041012"/>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EVENING 7</a:t>
            </a:r>
          </a:p>
          <a:p>
            <a:pPr algn="l">
              <a:spcAft>
                <a:spcPts val="1000"/>
              </a:spcAft>
            </a:pPr>
            <a:r>
              <a:rPr sz="3300" b="1" i="0">
                <a:solidFill>
                  <a:srgbClr val="2C5F2D"/>
                </a:solidFill>
                <a:latin typeface="Cambria"/>
              </a:rPr>
              <a:t>The Garden of Your Heart — One Visit, the Returns Carry It</a:t>
            </a:r>
          </a:p>
          <a:p>
            <a:pPr algn="l">
              <a:spcAft>
                <a:spcPts val="600"/>
              </a:spcAft>
            </a:pPr>
            <a:r>
              <a:rPr sz="1800" b="0" i="1">
                <a:solidFill>
                  <a:srgbClr val="595959"/>
                </a:solidFill>
                <a:latin typeface="Calibri"/>
              </a:rPr>
              <a:t>An experiential encounter with Jesus in your interior space — one guided run, teen-led; the week's returns are the second visit</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2: Connect with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G2</a:t>
            </a:r>
            <a:endParaRPr sz="1000" b="1">
              <a:solidFill>
                <a:srgbClr val="7A8A6E"/>
              </a:solidFill>
              <a:latin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Evening 7 stands in the third box — </a:t>
            </a:r>
            <a:r>
              <a:rPr sz="1800" b="1">
                <a:solidFill>
                  <a:srgbClr val="2C5F2D"/>
                </a:solidFill>
                <a:latin typeface="Calibri"/>
              </a:rPr>
              <a:t>Connect with God</a:t>
            </a:r>
            <a:r>
              <a:rPr sz="1800" b="0">
                <a:solidFill>
                  <a:srgbClr val="222B22"/>
                </a:solidFill>
                <a:latin typeface="Calibri"/>
              </a:rPr>
              <a:t> — one guided garden run, teen-led; the returns carry the second visit. Each connection makes the next one real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G3</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Evening 7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400" b="1">
                <a:solidFill>
                  <a:srgbClr val="97BC62"/>
                </a:solidFill>
                <a:latin typeface="Calibri"/>
              </a:rPr>
              <a:t>1   </a:t>
            </a:r>
            <a:r>
              <a:rPr sz="2400">
                <a:solidFill>
                  <a:srgbClr val="222B22"/>
                </a:solidFill>
                <a:latin typeface="Calibri"/>
              </a:rPr>
              <a:t>Welcome and centering</a:t>
            </a:r>
          </a:p>
          <a:p>
            <a:pPr>
              <a:spcAft>
                <a:spcPts val="500"/>
              </a:spcAft>
            </a:pPr>
            <a:r>
              <a:rPr sz="2400" b="1">
                <a:solidFill>
                  <a:srgbClr val="97BC62"/>
                </a:solidFill>
                <a:latin typeface="Calibri"/>
              </a:rPr>
              <a:t>2   </a:t>
            </a:r>
            <a:r>
              <a:rPr sz="2400">
                <a:solidFill>
                  <a:srgbClr val="222B22"/>
                </a:solidFill>
                <a:latin typeface="Calibri"/>
              </a:rPr>
              <a:t>Evening 6 check-in</a:t>
            </a:r>
          </a:p>
          <a:p>
            <a:pPr>
              <a:spcAft>
                <a:spcPts val="500"/>
              </a:spcAft>
            </a:pPr>
            <a:r>
              <a:rPr sz="2400" b="1">
                <a:solidFill>
                  <a:srgbClr val="97BC62"/>
                </a:solidFill>
                <a:latin typeface="Calibri"/>
              </a:rPr>
              <a:t>3   </a:t>
            </a:r>
            <a:r>
              <a:rPr sz="2400">
                <a:solidFill>
                  <a:srgbClr val="222B22"/>
                </a:solidFill>
                <a:latin typeface="Calibri"/>
              </a:rPr>
              <a:t>When have you heard God? How did you know?</a:t>
            </a:r>
          </a:p>
          <a:p>
            <a:pPr>
              <a:spcAft>
                <a:spcPts val="500"/>
              </a:spcAft>
            </a:pPr>
            <a:r>
              <a:rPr sz="2400" b="1">
                <a:solidFill>
                  <a:srgbClr val="97BC62"/>
                </a:solidFill>
                <a:latin typeface="Calibri"/>
              </a:rPr>
              <a:t>4   </a:t>
            </a:r>
            <a:r>
              <a:rPr sz="2400">
                <a:solidFill>
                  <a:srgbClr val="222B22"/>
                </a:solidFill>
                <a:latin typeface="Calibri"/>
              </a:rPr>
              <a:t>Scripture and framing</a:t>
            </a:r>
          </a:p>
          <a:p>
            <a:pPr>
              <a:spcAft>
                <a:spcPts val="500"/>
              </a:spcAft>
            </a:pPr>
            <a:r>
              <a:rPr sz="2400" b="1">
                <a:solidFill>
                  <a:srgbClr val="97BC62"/>
                </a:solidFill>
                <a:latin typeface="Calibri"/>
              </a:rPr>
              <a:t>5   </a:t>
            </a:r>
            <a:r>
              <a:rPr sz="2400">
                <a:solidFill>
                  <a:srgbClr val="222B22"/>
                </a:solidFill>
                <a:latin typeface="Calibri"/>
              </a:rPr>
              <a:t>Bridge into the exercise</a:t>
            </a:r>
          </a:p>
          <a:p>
            <a:pPr>
              <a:spcAft>
                <a:spcPts val="500"/>
              </a:spcAft>
            </a:pPr>
            <a:r>
              <a:rPr sz="2400" b="1">
                <a:solidFill>
                  <a:srgbClr val="97BC62"/>
                </a:solidFill>
                <a:latin typeface="Calibri"/>
              </a:rPr>
              <a:t>6   </a:t>
            </a:r>
            <a:r>
              <a:rPr sz="2400">
                <a:solidFill>
                  <a:srgbClr val="222B22"/>
                </a:solidFill>
                <a:latin typeface="Calibri"/>
              </a:rPr>
              <a:t>The Garden — two rounds, write and share each</a:t>
            </a:r>
          </a:p>
          <a:p>
            <a:pPr>
              <a:spcAft>
                <a:spcPts val="500"/>
              </a:spcAft>
            </a:pPr>
            <a:r>
              <a:rPr sz="2400" b="1">
                <a:solidFill>
                  <a:srgbClr val="97BC62"/>
                </a:solidFill>
                <a:latin typeface="Calibri"/>
              </a:rPr>
              <a:t>7   </a:t>
            </a:r>
            <a:r>
              <a:rPr sz="2400">
                <a:solidFill>
                  <a:srgbClr val="222B22"/>
                </a:solidFill>
                <a:latin typeface="Calibri"/>
              </a:rPr>
              <a:t>Merge — the two gardens, then one word</a:t>
            </a:r>
          </a:p>
          <a:p>
            <a:pPr>
              <a:spcAft>
                <a:spcPts val="500"/>
              </a:spcAft>
            </a:pPr>
            <a:r>
              <a:rPr sz="2400" b="1">
                <a:solidFill>
                  <a:srgbClr val="97BC62"/>
                </a:solidFill>
                <a:latin typeface="Calibri"/>
              </a:rPr>
              <a:t>8   </a:t>
            </a:r>
            <a:r>
              <a:rPr sz="2400">
                <a:solidFill>
                  <a:srgbClr val="222B22"/>
                </a:solidFill>
                <a:latin typeface="Calibri"/>
              </a:rPr>
              <a:t>Homework and the long gap</a:t>
            </a:r>
          </a:p>
          <a:p>
            <a:pPr>
              <a:spcAft>
                <a:spcPts val="500"/>
              </a:spcAft>
            </a:pPr>
            <a:r>
              <a:rPr sz="2400" b="1">
                <a:solidFill>
                  <a:srgbClr val="97BC62"/>
                </a:solidFill>
                <a:latin typeface="Calibri"/>
              </a:rPr>
              <a:t>9   </a:t>
            </a:r>
            <a:r>
              <a:rPr sz="2400">
                <a:solidFill>
                  <a:srgbClr val="222B22"/>
                </a:solidFill>
                <a:latin typeface="Calibri"/>
              </a:rPr>
              <a:t>The Leader Feedback Round — both leaders</a:t>
            </a:r>
          </a:p>
          <a:p>
            <a:pPr>
              <a:spcAft>
                <a:spcPts val="500"/>
              </a:spcAft>
            </a:pPr>
            <a:r>
              <a:rPr sz="2400" b="1">
                <a:solidFill>
                  <a:srgbClr val="97BC62"/>
                </a:solidFill>
                <a:latin typeface="Calibri"/>
              </a:rPr>
              <a:t>10  </a:t>
            </a:r>
            <a:r>
              <a:rPr sz="24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G4</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G5</a:t>
            </a:r>
            <a:endParaRPr sz="1000" b="1">
              <a:solidFill>
                <a:srgbClr val="7A8A6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Evening 6 Check-In</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“Last week we walked PROAPT — a six-step practice for hearing God in scripture.”</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about how that practice has been?”</a:t>
            </a:r>
          </a:p>
          <a:p>
            <a:pPr marL="274320" indent="-274320">
              <a:spcAft>
                <a:spcPts val="900"/>
              </a:spcAft>
            </a:pPr>
            <a:r>
              <a:rPr sz="2800" b="1" i="0">
                <a:solidFill>
                  <a:srgbClr val="97BC62"/>
                </a:solidFill>
                <a:latin typeface="Calibri"/>
              </a:rPr>
              <a:t>•  </a:t>
            </a:r>
            <a:r>
              <a:rPr sz="2800" b="0" i="0">
                <a:solidFill>
                  <a:srgbClr val="222B22"/>
                </a:solidFill>
                <a:latin typeface="Calibri"/>
              </a:rPr>
              <a:t>A parent starts — arranged beforehand, never a cold call on a teen</a:t>
            </a:r>
          </a:p>
          <a:p>
            <a:pPr marL="274320" indent="-274320">
              <a:spcAft>
                <a:spcPts val="900"/>
              </a:spcAft>
            </a:pPr>
            <a:r>
              <a:rPr sz="2800" b="1" i="0">
                <a:solidFill>
                  <a:srgbClr val="97BC62"/>
                </a:solidFill>
                <a:latin typeface="Calibri"/>
              </a:rPr>
              <a:t>•  </a:t>
            </a:r>
            <a:r>
              <a:rPr sz="2800" b="0" i="0">
                <a:solidFill>
                  <a:srgbClr val="222B22"/>
                </a:solidFill>
                <a:latin typeface="Calibri"/>
              </a:rPr>
              <a:t>Two or three voluntary contributions; anyone may pass — kept brief, tonight’s arc needs the time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G6</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When Have You Really Heard?</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Remember one time you really heard God — a verse that jumped off the page, a nudge, a word through someone, a quiet knowing</a:t>
            </a:r>
          </a:p>
          <a:p>
            <a:pPr marL="274320" indent="-274320">
              <a:spcAft>
                <a:spcPts val="650"/>
              </a:spcAft>
            </a:pPr>
            <a:r>
              <a:rPr sz="1800" b="1" i="0">
                <a:solidFill>
                  <a:srgbClr val="97BC62"/>
                </a:solidFill>
                <a:latin typeface="Calibri"/>
              </a:rPr>
              <a:t>•  </a:t>
            </a:r>
            <a:r>
              <a:rPr sz="1800" b="0" i="0">
                <a:solidFill>
                  <a:srgbClr val="222B22"/>
                </a:solidFill>
                <a:latin typeface="Calibri"/>
              </a:rPr>
              <a:t>Where were you, and what was going on? Reading, worship, a conversation, outdoors, a hard day</a:t>
            </a:r>
          </a:p>
          <a:p>
            <a:pPr marL="274320" indent="-274320">
              <a:spcAft>
                <a:spcPts val="650"/>
              </a:spcAft>
            </a:pPr>
            <a:r>
              <a:rPr sz="1800" b="1" i="0">
                <a:solidFill>
                  <a:srgbClr val="97BC62"/>
                </a:solidFill>
                <a:latin typeface="Calibri"/>
              </a:rPr>
              <a:t>•  </a:t>
            </a:r>
            <a:r>
              <a:rPr sz="1800" b="0" i="0">
                <a:solidFill>
                  <a:srgbClr val="222B22"/>
                </a:solidFill>
                <a:latin typeface="Calibri"/>
              </a:rPr>
              <a:t>What did it look like, sound like, feel like? Write it down — make it fuller</a:t>
            </a:r>
          </a:p>
          <a:p>
            <a:pPr marL="274320" indent="-274320">
              <a:spcAft>
                <a:spcPts val="650"/>
              </a:spcAft>
            </a:pPr>
            <a:r>
              <a:rPr sz="1800" b="1" i="0">
                <a:solidFill>
                  <a:srgbClr val="97BC62"/>
                </a:solidFill>
                <a:latin typeface="Calibri"/>
              </a:rPr>
              <a:t>•  </a:t>
            </a:r>
            <a:r>
              <a:rPr sz="1800" b="0" i="0">
                <a:solidFill>
                  <a:srgbClr val="222B22"/>
                </a:solidFill>
                <a:latin typeface="Calibri"/>
              </a:rPr>
              <a:t>What did you do with it — and what happened?</a:t>
            </a:r>
          </a:p>
          <a:p>
            <a:pPr marL="274320" indent="-274320">
              <a:spcAft>
                <a:spcPts val="650"/>
              </a:spcAft>
            </a:pPr>
            <a:r>
              <a:rPr sz="1800" b="1" i="0">
                <a:solidFill>
                  <a:srgbClr val="97BC62"/>
                </a:solidFill>
                <a:latin typeface="Calibri"/>
              </a:rPr>
              <a:t>•  </a:t>
            </a:r>
            <a:r>
              <a:rPr sz="1800" b="0" i="0">
                <a:solidFill>
                  <a:srgbClr val="222B22"/>
                </a:solidFill>
                <a:latin typeface="Calibri"/>
              </a:rPr>
              <a:t>Can’t think of one? A time creation stopped you in your tracks counts — God speaks through what he has made (Rom. 1:20)</a:t>
            </a:r>
          </a:p>
          <a:p>
            <a:pPr marL="274320" indent="-274320">
              <a:spcAft>
                <a:spcPts val="650"/>
              </a:spcAft>
            </a:pPr>
            <a:r>
              <a:rPr sz="1800" b="1" i="0">
                <a:solidFill>
                  <a:srgbClr val="97BC62"/>
                </a:solidFill>
                <a:latin typeface="Calibri"/>
              </a:rPr>
              <a:t>•  </a:t>
            </a:r>
            <a:r>
              <a:rPr sz="1800" b="0" i="0">
                <a:solidFill>
                  <a:srgbClr val="222B22"/>
                </a:solidFill>
                <a:latin typeface="Calibri"/>
              </a:rPr>
              <a:t>Pairs, by invitation — your partner asks one question: “How did you know?”</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JOHN 10:27</a:t>
            </a:r>
          </a:p>
          <a:p>
            <a:pPr>
              <a:spcAft>
                <a:spcPts val="600"/>
              </a:spcAft>
            </a:pPr>
            <a:r>
              <a:rPr sz="2400" b="0" i="1">
                <a:solidFill>
                  <a:srgbClr val="222B22"/>
                </a:solidFill>
                <a:latin typeface="Cambria"/>
              </a:rPr>
              <a:t>“My sheep hear my voice, and I know them, and they follow me.”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G7</a:t>
            </a:r>
            <a:endParaRPr sz="1000" b="1">
              <a:solidFill>
                <a:srgbClr val="7A8A6E"/>
              </a:solidFill>
              <a:latin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How Did You Know? — Testing What You Hear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700" b="1" i="0">
                <a:solidFill>
                  <a:srgbClr val="97BC62"/>
                </a:solidFill>
                <a:latin typeface="Calibri"/>
              </a:rPr>
              <a:t>•  </a:t>
            </a:r>
            <a:r>
              <a:rPr sz="1700" b="0" i="0">
                <a:solidFill>
                  <a:srgbClr val="222B22"/>
                </a:solidFill>
                <a:latin typeface="Calibri"/>
              </a:rPr>
              <a:t>Scripture first — does it line up with what God has already said? Scripture is the court; the rest confirm</a:t>
            </a:r>
          </a:p>
          <a:p>
            <a:pPr marL="274320" indent="-274320">
              <a:spcAft>
                <a:spcPts val="650"/>
              </a:spcAft>
            </a:pPr>
            <a:r>
              <a:rPr sz="1700" b="1" i="0">
                <a:solidFill>
                  <a:srgbClr val="97BC62"/>
                </a:solidFill>
                <a:latin typeface="Calibri"/>
              </a:rPr>
              <a:t>•  </a:t>
            </a:r>
            <a:r>
              <a:rPr sz="1700" b="0" i="0">
                <a:solidFill>
                  <a:srgbClr val="222B22"/>
                </a:solidFill>
                <a:latin typeface="Calibri"/>
              </a:rPr>
              <a:t>Sense — does it make sense, or does it ask you to switch your mind off?</a:t>
            </a:r>
          </a:p>
          <a:p>
            <a:pPr marL="274320" indent="-274320">
              <a:spcAft>
                <a:spcPts val="650"/>
              </a:spcAft>
            </a:pPr>
            <a:r>
              <a:rPr sz="1700" b="1" i="0">
                <a:solidFill>
                  <a:srgbClr val="97BC62"/>
                </a:solidFill>
                <a:latin typeface="Calibri"/>
              </a:rPr>
              <a:t>•  </a:t>
            </a:r>
            <a:r>
              <a:rPr sz="1700" b="0" i="0">
                <a:solidFill>
                  <a:srgbClr val="222B22"/>
                </a:solidFill>
                <a:latin typeface="Calibri"/>
              </a:rPr>
              <a:t>The Spirit’s witness — an inner “yes” that rings true (Rom. 8:16)</a:t>
            </a:r>
          </a:p>
          <a:p>
            <a:pPr marL="274320" indent="-274320">
              <a:spcAft>
                <a:spcPts val="650"/>
              </a:spcAft>
            </a:pPr>
            <a:r>
              <a:rPr sz="1700" b="1" i="0">
                <a:solidFill>
                  <a:srgbClr val="97BC62"/>
                </a:solidFill>
                <a:latin typeface="Calibri"/>
              </a:rPr>
              <a:t>•  </a:t>
            </a:r>
            <a:r>
              <a:rPr sz="1700" b="0" i="0">
                <a:solidFill>
                  <a:srgbClr val="222B22"/>
                </a:solidFill>
                <a:latin typeface="Calibri"/>
              </a:rPr>
              <a:t>Peace — even when the word is hard (Col. 3:15)</a:t>
            </a:r>
          </a:p>
          <a:p>
            <a:pPr marL="274320" indent="-274320">
              <a:spcAft>
                <a:spcPts val="650"/>
              </a:spcAft>
            </a:pPr>
            <a:r>
              <a:rPr sz="1700" b="1" i="0">
                <a:solidFill>
                  <a:srgbClr val="97BC62"/>
                </a:solidFill>
                <a:latin typeface="Calibri"/>
              </a:rPr>
              <a:t>•  </a:t>
            </a:r>
            <a:r>
              <a:rPr sz="1700" b="0" i="0">
                <a:solidFill>
                  <a:srgbClr val="222B22"/>
                </a:solidFill>
                <a:latin typeface="Calibri"/>
              </a:rPr>
              <a:t>Company — what do people who know you and know God see?</a:t>
            </a:r>
          </a:p>
          <a:p>
            <a:pPr marL="274320" indent="-274320">
              <a:spcAft>
                <a:spcPts val="650"/>
              </a:spcAft>
            </a:pPr>
            <a:r>
              <a:rPr sz="1700" b="1" i="0">
                <a:solidFill>
                  <a:srgbClr val="97BC62"/>
                </a:solidFill>
                <a:latin typeface="Calibri"/>
              </a:rPr>
              <a:t>•  </a:t>
            </a:r>
            <a:r>
              <a:rPr sz="1700" b="0" i="0">
                <a:solidFill>
                  <a:srgbClr val="222B22"/>
                </a:solidFill>
                <a:latin typeface="Calibri"/>
              </a:rPr>
              <a:t>Circumstances — do doors open or close around it?</a:t>
            </a:r>
          </a:p>
          <a:p>
            <a:pPr marL="274320" indent="-274320">
              <a:spcAft>
                <a:spcPts val="650"/>
              </a:spcAft>
            </a:pPr>
            <a:r>
              <a:rPr sz="1700" b="1" i="0">
                <a:solidFill>
                  <a:srgbClr val="97BC62"/>
                </a:solidFill>
                <a:latin typeface="Calibri"/>
              </a:rPr>
              <a:t>•  </a:t>
            </a:r>
            <a:r>
              <a:rPr sz="1700" b="0" i="0">
                <a:solidFill>
                  <a:srgbClr val="222B22"/>
                </a:solidFill>
                <a:latin typeface="Calibri"/>
              </a:rPr>
              <a:t>Over time — obeying what you hear opens you to hear more</a:t>
            </a:r>
          </a:p>
          <a:p>
            <a:pPr marL="274320" indent="-274320">
              <a:spcAft>
                <a:spcPts val="650"/>
              </a:spcAft>
            </a:pPr>
            <a:r>
              <a:rPr sz="1700" b="1" i="0">
                <a:solidFill>
                  <a:srgbClr val="97BC62"/>
                </a:solidFill>
                <a:latin typeface="Calibri"/>
              </a:rPr>
              <a:t>•  </a:t>
            </a:r>
            <a:r>
              <a:rPr sz="1700" b="0" i="0">
                <a:solidFill>
                  <a:srgbClr val="222B22"/>
                </a:solidFill>
                <a:latin typeface="Calibri"/>
              </a:rPr>
              <a:t>Tonight in the garden: notice, don’t conclude — you will test it on your returns</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1 THESSALONIANS 5:20–21</a:t>
            </a:r>
          </a:p>
          <a:p>
            <a:pPr>
              <a:spcAft>
                <a:spcPts val="600"/>
              </a:spcAft>
            </a:pPr>
            <a:r>
              <a:rPr sz="2400" b="0" i="1">
                <a:solidFill>
                  <a:srgbClr val="222B22"/>
                </a:solidFill>
                <a:latin typeface="Cambria"/>
              </a:rPr>
              <a:t>“Do not despise prophecies, but test everything; hold fast what is good.”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G8</a:t>
            </a:r>
            <a:endParaRPr sz="1000" b="1">
              <a:solidFill>
                <a:srgbClr val="7A8A6E"/>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Scripture and Framing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John 15:1–11, read slowly — “Listen as if you have not heard it.” Then Psalm 23:1–3</a:t>
            </a:r>
          </a:p>
          <a:p>
            <a:pPr marL="274320" indent="-274320">
              <a:spcAft>
                <a:spcPts val="650"/>
              </a:spcAft>
            </a:pPr>
            <a:r>
              <a:rPr sz="1800" b="1" i="0">
                <a:solidFill>
                  <a:srgbClr val="97BC62"/>
                </a:solidFill>
                <a:latin typeface="Calibri"/>
              </a:rPr>
              <a:t>•  </a:t>
            </a:r>
            <a:r>
              <a:rPr sz="1800" b="0" i="0">
                <a:solidFill>
                  <a:srgbClr val="222B22"/>
                </a:solidFill>
                <a:latin typeface="Calibri"/>
              </a:rPr>
              <a:t>Scripture pictures the heart as cultivated ground — green pastures, still waters, vine and vinedresser</a:t>
            </a:r>
          </a:p>
          <a:p>
            <a:pPr marL="274320" indent="-274320">
              <a:spcAft>
                <a:spcPts val="650"/>
              </a:spcAft>
            </a:pPr>
            <a:r>
              <a:rPr sz="1800" b="1" i="0">
                <a:solidFill>
                  <a:srgbClr val="97BC62"/>
                </a:solidFill>
                <a:latin typeface="Calibri"/>
              </a:rPr>
              <a:t>•  </a:t>
            </a:r>
            <a:r>
              <a:rPr sz="1800" b="0" i="0">
                <a:solidFill>
                  <a:srgbClr val="222B22"/>
                </a:solidFill>
                <a:latin typeface="Calibri"/>
              </a:rPr>
              <a:t>Tonight we walk into that image: picture your heart as a garden, invite Jesus in, notice what He does</a:t>
            </a:r>
          </a:p>
          <a:p>
            <a:pPr marL="274320" indent="-274320">
              <a:spcAft>
                <a:spcPts val="650"/>
              </a:spcAft>
            </a:pPr>
            <a:r>
              <a:rPr sz="1800" b="1" i="0">
                <a:solidFill>
                  <a:srgbClr val="97BC62"/>
                </a:solidFill>
                <a:latin typeface="Calibri"/>
              </a:rPr>
              <a:t>•  </a:t>
            </a:r>
            <a:r>
              <a:rPr sz="1800" b="0" i="0">
                <a:solidFill>
                  <a:srgbClr val="222B22"/>
                </a:solidFill>
                <a:latin typeface="Calibri"/>
              </a:rPr>
              <a:t>Imaginative prayer — Ignatius taught it, Bonaventure taught it, the Puritan writers under other names</a:t>
            </a:r>
          </a:p>
          <a:p>
            <a:pPr marL="274320" indent="-274320">
              <a:spcAft>
                <a:spcPts val="650"/>
              </a:spcAft>
            </a:pPr>
            <a:r>
              <a:rPr sz="1800" b="1" i="0">
                <a:solidFill>
                  <a:srgbClr val="97BC62"/>
                </a:solidFill>
                <a:latin typeface="Calibri"/>
              </a:rPr>
              <a:t>•  </a:t>
            </a:r>
            <a:r>
              <a:rPr sz="1800" b="0" i="0">
                <a:solidFill>
                  <a:srgbClr val="222B22"/>
                </a:solidFill>
                <a:latin typeface="Calibri"/>
              </a:rPr>
              <a:t>Not visualization-as-self-help, not contemplative emptying — filling the mind with one scriptural image</a:t>
            </a:r>
          </a:p>
          <a:p>
            <a:pPr marL="274320" indent="-274320">
              <a:spcAft>
                <a:spcPts val="650"/>
              </a:spcAft>
            </a:pPr>
            <a:r>
              <a:rPr sz="1800" b="1" i="0">
                <a:solidFill>
                  <a:srgbClr val="97BC62"/>
                </a:solidFill>
                <a:latin typeface="Calibri"/>
              </a:rPr>
              <a:t>•  </a:t>
            </a:r>
            <a:r>
              <a:rPr sz="1800" b="0" i="0">
                <a:solidFill>
                  <a:srgbClr val="222B22"/>
                </a:solidFill>
                <a:latin typeface="Calibri"/>
              </a:rPr>
              <a:t>“The exercise is not a test of imaginative power. It is a posture of receptivity.”</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JOHN 15:5</a:t>
            </a:r>
          </a:p>
          <a:p>
            <a:pPr>
              <a:spcAft>
                <a:spcPts val="600"/>
              </a:spcAft>
            </a:pPr>
            <a:r>
              <a:rPr sz="2400" b="0" i="1">
                <a:solidFill>
                  <a:srgbClr val="222B22"/>
                </a:solidFill>
                <a:latin typeface="Cambria"/>
              </a:rPr>
              <a:t>“I am the vine; you are the branches. Whoever abides in me and I in him, he it is that bears much fruit, for apart from me you can do nothing.”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G9</a:t>
            </a:r>
            <a:endParaRPr sz="1000" b="1">
              <a:solidFill>
                <a:srgbClr val="7A8A6E"/>
              </a:solidFill>
              <a:latin typeface="Calibri"/>
            </a:endParaRPr>
          </a:p>
        </p:txBody>
      </p:sp>
      <p:pic>
        <p:nvPicPr>
          <p:cNvPr id="91" name="Picture 91" descr="a pair of grapes on the vine"/>
          <p:cNvPicPr>
            <a:picLocks noChangeAspect="1"/>
          </p:cNvPicPr>
          <p:nvPr/>
        </p:nvPicPr>
        <p:blipFill>
          <a:blip r:embed="rId3"/>
          <a:stretch>
            <a:fillRect/>
          </a:stretch>
        </p:blipFill>
        <p:spPr>
          <a:xfrm>
            <a:off x="6766560" y="4160520"/>
            <a:ext cx="4663440" cy="2240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Bridge into the Exercise</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stay right here, together, as one room — the garden in two rounds, read slowly</a:t>
            </a:r>
          </a:p>
          <a:p>
            <a:pPr marL="274320" indent="-274320">
              <a:spcAft>
                <a:spcPts val="900"/>
              </a:spcAft>
            </a:pPr>
            <a:r>
              <a:rPr sz="2200" b="1" i="0">
                <a:solidFill>
                  <a:srgbClr val="97BC62"/>
                </a:solidFill>
                <a:latin typeface="Calibri"/>
              </a:rPr>
              <a:t>•  </a:t>
            </a:r>
            <a:r>
              <a:rPr sz="2200" b="0" i="0">
                <a:solidFill>
                  <a:srgbClr val="222B22"/>
                </a:solidFill>
                <a:latin typeface="Calibri"/>
              </a:rPr>
              <a:t>Round one: relax, then picture your heart as a garden — then write, then share</a:t>
            </a:r>
          </a:p>
          <a:p>
            <a:pPr marL="274320" indent="-274320">
              <a:spcAft>
                <a:spcPts val="900"/>
              </a:spcAft>
            </a:pPr>
            <a:r>
              <a:rPr sz="2200" b="1" i="0">
                <a:solidFill>
                  <a:srgbClr val="97BC62"/>
                </a:solidFill>
                <a:latin typeface="Calibri"/>
              </a:rPr>
              <a:t>•  </a:t>
            </a:r>
            <a:r>
              <a:rPr sz="2200" b="0" i="0">
                <a:solidFill>
                  <a:srgbClr val="222B22"/>
                </a:solidFill>
                <a:latin typeface="Calibri"/>
              </a:rPr>
              <a:t>Round two: go back, invite Jesus in, and give him permission to do or say anything he wishes — then write, then share</a:t>
            </a:r>
          </a:p>
          <a:p>
            <a:pPr marL="274320" indent="-274320">
              <a:spcAft>
                <a:spcPts val="900"/>
              </a:spcAft>
            </a:pPr>
            <a:r>
              <a:rPr sz="2200" b="1" i="0">
                <a:solidFill>
                  <a:srgbClr val="97BC62"/>
                </a:solidFill>
                <a:latin typeface="Calibri"/>
              </a:rPr>
              <a:t>•  </a:t>
            </a:r>
            <a:r>
              <a:rPr sz="2200" b="0" i="0">
                <a:solidFill>
                  <a:srgbClr val="222B22"/>
                </a:solidFill>
                <a:latin typeface="Calibri"/>
              </a:rPr>
              <a:t>Eyes closed or open; your own family is beside you; sharing is by invitation — “Silence is a complete answer.”</a:t>
            </a:r>
          </a:p>
          <a:p>
            <a:pPr marL="274320" indent="-274320">
              <a:spcAft>
                <a:spcPts val="900"/>
              </a:spcAft>
            </a:pPr>
            <a:r>
              <a:rPr sz="2200" b="1" i="0">
                <a:solidFill>
                  <a:srgbClr val="97BC62"/>
                </a:solidFill>
                <a:latin typeface="Calibri"/>
              </a:rPr>
              <a:t>•  </a:t>
            </a:r>
            <a:r>
              <a:rPr sz="2200" b="0" i="0">
                <a:solidFill>
                  <a:srgbClr val="222B22"/>
                </a:solidFill>
                <a:latin typeface="Calibri"/>
              </a:rPr>
              <a:t>Notice, don’t conclude — what you notice tonight, you hold loosely and test on your returns</a:t>
            </a:r>
          </a:p>
          <a:p>
            <a:pPr marL="274320" indent="-274320">
              <a:spcAft>
                <a:spcPts val="900"/>
              </a:spcAft>
            </a:pPr>
            <a:r>
              <a:rPr sz="2200" b="1" i="0">
                <a:solidFill>
                  <a:srgbClr val="97BC62"/>
                </a:solidFill>
                <a:latin typeface="Calibri"/>
              </a:rPr>
              <a:t>•  </a:t>
            </a:r>
            <a:r>
              <a:rPr sz="2200" b="0" i="0">
                <a:solidFill>
                  <a:srgbClr val="222B22"/>
                </a:solidFill>
                <a:latin typeface="Calibri"/>
              </a:rPr>
              <a:t>“Father, you are the vinedresser. … Where it is hard, be tender. Where it is closed, be patient. Where it is opening, be present.”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G10</a:t>
            </a:r>
            <a:endParaRPr sz="1000" b="1">
              <a:solidFill>
                <a:srgbClr val="7A8A6E"/>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Garden — Round One: Your Heart as a Garden</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Relax (2 min) — breathe in, breathe out; relax from your toes up; be present to the great I AM</a:t>
            </a:r>
          </a:p>
          <a:p>
            <a:pPr marL="342900" indent="-342900">
              <a:spcAft>
                <a:spcPts val="750"/>
              </a:spcAft>
            </a:pPr>
            <a:r>
              <a:rPr sz="2000" b="1" i="0">
                <a:solidFill>
                  <a:srgbClr val="97BC62"/>
                </a:solidFill>
                <a:latin typeface="Calibri"/>
              </a:rPr>
              <a:t>2   </a:t>
            </a:r>
            <a:r>
              <a:rPr sz="2000" b="0" i="0">
                <a:solidFill>
                  <a:srgbClr val="222B22"/>
                </a:solidFill>
                <a:latin typeface="Calibri"/>
              </a:rPr>
              <a:t>Imagine (4 min) — picture your heart as a garden and let it sit; then make it clearer: the light, the temperature, the time of day</a:t>
            </a:r>
          </a:p>
          <a:p>
            <a:pPr marL="342900" indent="-342900">
              <a:spcAft>
                <a:spcPts val="750"/>
              </a:spcAft>
            </a:pPr>
            <a:r>
              <a:rPr sz="2000" b="1" i="0">
                <a:solidFill>
                  <a:srgbClr val="97BC62"/>
                </a:solidFill>
                <a:latin typeface="Calibri"/>
              </a:rPr>
              <a:t>3   </a:t>
            </a:r>
            <a:r>
              <a:rPr sz="2000" b="0" i="0">
                <a:solidFill>
                  <a:srgbClr val="222B22"/>
                </a:solidFill>
                <a:latin typeface="Calibri"/>
              </a:rPr>
              <a:t>Write (3 min) — what did you see, hear, smell, or feel there?</a:t>
            </a:r>
          </a:p>
          <a:p>
            <a:pPr marL="342900" indent="-342900">
              <a:spcAft>
                <a:spcPts val="750"/>
              </a:spcAft>
            </a:pPr>
            <a:r>
              <a:rPr sz="2000" b="1" i="0">
                <a:solidFill>
                  <a:srgbClr val="97BC62"/>
                </a:solidFill>
                <a:latin typeface="Calibri"/>
              </a:rPr>
              <a:t>4   </a:t>
            </a:r>
            <a:r>
              <a:rPr sz="2000" b="0" i="0">
                <a:solidFill>
                  <a:srgbClr val="222B22"/>
                </a:solidFill>
                <a:latin typeface="Calibri"/>
              </a:rPr>
              <a:t>Share in pairs (4 min) — by invitation only; a parent opens; silence is a complete answer</a:t>
            </a:r>
          </a:p>
          <a:p>
            <a:pPr marL="342900" indent="-342900">
              <a:spcAft>
                <a:spcPts val="750"/>
              </a:spcAft>
            </a:pPr>
            <a:r>
              <a:rPr sz="2000" b="1" i="0">
                <a:solidFill>
                  <a:srgbClr val="97BC62"/>
                </a:solidFill>
                <a:latin typeface="Calibri"/>
              </a:rPr>
              <a:t>•  </a:t>
            </a:r>
            <a:r>
              <a:rPr sz="2000" b="0" i="0">
                <a:solidFill>
                  <a:srgbClr val="222B22"/>
                </a:solidFill>
                <a:latin typeface="Calibri"/>
              </a:rPr>
              <a:t>Receive without interpreting — “Thank you for sharing that.”</a:t>
            </a:r>
          </a:p>
          <a:p>
            <a:pPr marL="342900" indent="-342900">
              <a:spcAft>
                <a:spcPts val="750"/>
              </a:spcAft>
            </a:pPr>
            <a:r>
              <a:rPr sz="2000" b="1" i="0">
                <a:solidFill>
                  <a:srgbClr val="97BC62"/>
                </a:solidFill>
                <a:latin typeface="Calibri"/>
              </a:rPr>
              <a:t>•  </a:t>
            </a:r>
            <a:r>
              <a:rPr sz="2000" b="0" i="0">
                <a:solidFill>
                  <a:srgbClr val="222B22"/>
                </a:solidFill>
                <a:latin typeface="Calibri"/>
              </a:rPr>
              <a:t>Jesus is not invited yet — this round is only the garden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G11</a:t>
            </a:r>
            <a:endParaRPr sz="1000" b="1">
              <a:solidFill>
                <a:srgbClr val="7A8A6E"/>
              </a:solidFill>
              <a:latin typeface="Calibri"/>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Garden — Round Two: Invite Jesus In</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750"/>
              </a:spcAft>
            </a:pPr>
            <a:r>
              <a:rPr sz="2000" b="1" i="0">
                <a:solidFill>
                  <a:srgbClr val="97BC62"/>
                </a:solidFill>
                <a:latin typeface="Calibri"/>
              </a:rPr>
              <a:t>1   </a:t>
            </a:r>
            <a:r>
              <a:rPr sz="2000" b="0" i="0">
                <a:solidFill>
                  <a:srgbClr val="222B22"/>
                </a:solidFill>
                <a:latin typeface="Calibri"/>
              </a:rPr>
              <a:t>Go back to that relaxed place (1 min) — and picture your garden again</a:t>
            </a:r>
          </a:p>
          <a:p>
            <a:pPr marL="342900" indent="-342900">
              <a:spcAft>
                <a:spcPts val="750"/>
              </a:spcAft>
            </a:pPr>
            <a:r>
              <a:rPr sz="2000" b="1" i="0">
                <a:solidFill>
                  <a:srgbClr val="97BC62"/>
                </a:solidFill>
                <a:latin typeface="Calibri"/>
              </a:rPr>
              <a:t>2   </a:t>
            </a:r>
            <a:r>
              <a:rPr sz="2000" b="0" i="0">
                <a:solidFill>
                  <a:srgbClr val="222B22"/>
                </a:solidFill>
                <a:latin typeface="Calibri"/>
              </a:rPr>
              <a:t>Invite Jesus in (8 min) — give him permission to do or say anything he wishes; then let it sit, in silence</a:t>
            </a:r>
          </a:p>
          <a:p>
            <a:pPr marL="342900" indent="-342900">
              <a:spcAft>
                <a:spcPts val="750"/>
              </a:spcAft>
            </a:pPr>
            <a:r>
              <a:rPr sz="2000" b="1" i="0">
                <a:solidFill>
                  <a:srgbClr val="97BC62"/>
                </a:solidFill>
                <a:latin typeface="Calibri"/>
              </a:rPr>
              <a:t>3   </a:t>
            </a:r>
            <a:r>
              <a:rPr sz="2000" b="0" i="0">
                <a:solidFill>
                  <a:srgbClr val="222B22"/>
                </a:solidFill>
                <a:latin typeface="Calibri"/>
              </a:rPr>
              <a:t>Return — come back to here; open your eyes when you are ready</a:t>
            </a:r>
          </a:p>
          <a:p>
            <a:pPr marL="342900" indent="-342900">
              <a:spcAft>
                <a:spcPts val="750"/>
              </a:spcAft>
            </a:pPr>
            <a:r>
              <a:rPr sz="2000" b="1" i="0">
                <a:solidFill>
                  <a:srgbClr val="97BC62"/>
                </a:solidFill>
                <a:latin typeface="Calibri"/>
              </a:rPr>
              <a:t>4   </a:t>
            </a:r>
            <a:r>
              <a:rPr sz="2000" b="0" i="0">
                <a:solidFill>
                  <a:srgbClr val="222B22"/>
                </a:solidFill>
                <a:latin typeface="Calibri"/>
              </a:rPr>
              <a:t>Write (4 min) — what did you see, hear, smell, or feel? What did he do or say? “Nothing happened” is honest</a:t>
            </a:r>
          </a:p>
          <a:p>
            <a:pPr marL="342900" indent="-342900">
              <a:spcAft>
                <a:spcPts val="750"/>
              </a:spcAft>
            </a:pPr>
            <a:r>
              <a:rPr sz="2000" b="1" i="0">
                <a:solidFill>
                  <a:srgbClr val="97BC62"/>
                </a:solidFill>
                <a:latin typeface="Calibri"/>
              </a:rPr>
              <a:t>5   </a:t>
            </a:r>
            <a:r>
              <a:rPr sz="2000" b="0" i="0">
                <a:solidFill>
                  <a:srgbClr val="222B22"/>
                </a:solidFill>
                <a:latin typeface="Calibri"/>
              </a:rPr>
              <a:t>Share in pairs (6 min) — by invitation only; a parent opens; silence is a complete answer</a:t>
            </a:r>
          </a:p>
          <a:p>
            <a:pPr marL="342900" indent="-342900">
              <a:spcAft>
                <a:spcPts val="750"/>
              </a:spcAft>
            </a:pPr>
            <a:r>
              <a:rPr sz="2000" b="1" i="0">
                <a:solidFill>
                  <a:srgbClr val="97BC62"/>
                </a:solidFill>
                <a:latin typeface="Calibri"/>
              </a:rPr>
              <a:t>•  </a:t>
            </a:r>
            <a:r>
              <a:rPr sz="2000" b="0" i="0">
                <a:solidFill>
                  <a:srgbClr val="222B22"/>
                </a:solidFill>
                <a:latin typeface="Calibri"/>
              </a:rPr>
              <a:t>Never “God was telling you _____.” Notice, don’t conclude — the returns are for testing</a:t>
            </a:r>
          </a:p>
          <a:p>
            <a:pPr marL="342900" indent="-342900">
              <a:spcAft>
                <a:spcPts val="750"/>
              </a:spcAft>
            </a:pPr>
            <a:r>
              <a:rPr sz="2000" b="1" i="0">
                <a:solidFill>
                  <a:srgbClr val="97BC62"/>
                </a:solidFill>
                <a:latin typeface="Calibri"/>
              </a:rPr>
              <a:t>•  </a:t>
            </a:r>
            <a:r>
              <a:rPr sz="2000" b="0" i="0">
                <a:solidFill>
                  <a:srgbClr val="222B22"/>
                </a:solidFill>
                <a:latin typeface="Calibri"/>
              </a:rPr>
              <a:t>If something painful surfaces — bless it: “I hear that. May Jesus stay with you in that place this week.”</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G12</a:t>
            </a:r>
            <a:endParaRPr sz="1000" b="1">
              <a:solidFill>
                <a:srgbClr val="7A8A6E"/>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Merge — the Garden, and the Garden with Jesus in It</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“What happened in your pair stays in your pair.”</a:t>
            </a:r>
          </a:p>
          <a:p>
            <a:pPr marL="274320" indent="-274320">
              <a:spcAft>
                <a:spcPts val="900"/>
              </a:spcAft>
            </a:pPr>
            <a:r>
              <a:rPr sz="2400" b="1" i="0">
                <a:solidFill>
                  <a:srgbClr val="97BC62"/>
                </a:solidFill>
                <a:latin typeface="Calibri"/>
              </a:rPr>
              <a:t>•  </a:t>
            </a:r>
            <a:r>
              <a:rPr sz="2400" b="0" i="0">
                <a:solidFill>
                  <a:srgbClr val="222B22"/>
                </a:solidFill>
                <a:latin typeface="Calibri"/>
              </a:rPr>
              <a:t>Any differences between the garden and the garden with Jesus in it? What did they look like?</a:t>
            </a:r>
          </a:p>
          <a:p>
            <a:pPr marL="274320" indent="-274320">
              <a:spcAft>
                <a:spcPts val="900"/>
              </a:spcAft>
            </a:pPr>
            <a:r>
              <a:rPr sz="2400" b="1" i="0">
                <a:solidFill>
                  <a:srgbClr val="97BC62"/>
                </a:solidFill>
                <a:latin typeface="Calibri"/>
              </a:rPr>
              <a:t>•  </a:t>
            </a:r>
            <a:r>
              <a:rPr sz="2400" b="0" i="0">
                <a:solidFill>
                  <a:srgbClr val="222B22"/>
                </a:solidFill>
                <a:latin typeface="Calibri"/>
              </a:rPr>
              <a:t>What might your images tell you about yourself? About Jesus with you and in you?</a:t>
            </a:r>
          </a:p>
          <a:p>
            <a:pPr marL="274320" indent="-274320">
              <a:spcAft>
                <a:spcPts val="900"/>
              </a:spcAft>
            </a:pPr>
            <a:r>
              <a:rPr sz="2400" b="1" i="0">
                <a:solidFill>
                  <a:srgbClr val="97BC62"/>
                </a:solidFill>
                <a:latin typeface="Calibri"/>
              </a:rPr>
              <a:t>•  </a:t>
            </a:r>
            <a:r>
              <a:rPr sz="2400" b="0" i="0">
                <a:solidFill>
                  <a:srgbClr val="222B22"/>
                </a:solidFill>
                <a:latin typeface="Calibri"/>
              </a:rPr>
              <a:t>Each of us reads our own images — no one interprets anyone else’s</a:t>
            </a:r>
          </a:p>
          <a:p>
            <a:pPr marL="274320" indent="-274320">
              <a:spcAft>
                <a:spcPts val="900"/>
              </a:spcAft>
            </a:pPr>
            <a:r>
              <a:rPr sz="2400" b="1" i="0">
                <a:solidFill>
                  <a:srgbClr val="97BC62"/>
                </a:solidFill>
                <a:latin typeface="Calibri"/>
              </a:rPr>
              <a:t>•  </a:t>
            </a:r>
            <a:r>
              <a:rPr sz="2400" b="0" i="0">
                <a:solidFill>
                  <a:srgbClr val="222B22"/>
                </a:solidFill>
                <a:latin typeface="Calibri"/>
              </a:rPr>
              <a:t>Then one word about tonight — a parent begins; anyone may pass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G13</a:t>
            </a:r>
            <a:endParaRPr sz="1000" b="1">
              <a:solidFill>
                <a:srgbClr val="7A8A6E"/>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Homework — Weeks One and Two</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900" b="1" i="0">
                <a:solidFill>
                  <a:srgbClr val="97BC62"/>
                </a:solidFill>
                <a:latin typeface="Calibri"/>
              </a:rPr>
              <a:t>•  </a:t>
            </a:r>
            <a:r>
              <a:rPr sz="1900" b="0" i="0">
                <a:solidFill>
                  <a:srgbClr val="222B22"/>
                </a:solidFill>
                <a:latin typeface="Calibri"/>
              </a:rPr>
              <a:t>Three returns this week — the returns ARE the second visit: most of us only get all the way in on a return</a:t>
            </a:r>
          </a:p>
          <a:p>
            <a:pPr marL="274320" indent="-274320">
              <a:spcAft>
                <a:spcPts val="750"/>
              </a:spcAft>
            </a:pPr>
            <a:r>
              <a:rPr sz="1900" b="1" i="0">
                <a:solidFill>
                  <a:srgbClr val="97BC62"/>
                </a:solidFill>
                <a:latin typeface="Calibri"/>
              </a:rPr>
              <a:t>•  </a:t>
            </a:r>
            <a:r>
              <a:rPr sz="1900" b="0" i="0">
                <a:solidFill>
                  <a:srgbClr val="222B22"/>
                </a:solidFill>
                <a:latin typeface="Calibri"/>
              </a:rPr>
              <a:t>“You don’t need the full guided script — you have the place now. Just go back.”</a:t>
            </a:r>
          </a:p>
          <a:p>
            <a:pPr marL="274320" indent="-274320">
              <a:spcAft>
                <a:spcPts val="750"/>
              </a:spcAft>
            </a:pPr>
            <a:r>
              <a:rPr sz="1900" b="1" i="0">
                <a:solidFill>
                  <a:srgbClr val="97BC62"/>
                </a:solidFill>
                <a:latin typeface="Calibri"/>
              </a:rPr>
              <a:t>•  </a:t>
            </a:r>
            <a:r>
              <a:rPr sz="1900" b="0" i="0">
                <a:solidFill>
                  <a:srgbClr val="222B22"/>
                </a:solidFill>
                <a:latin typeface="Calibri"/>
              </a:rPr>
              <a:t>Notice what is the same and what has changed — notice if Jesus is in a different place than He was tonight</a:t>
            </a:r>
          </a:p>
          <a:p>
            <a:pPr marL="274320" indent="-274320">
              <a:spcAft>
                <a:spcPts val="750"/>
              </a:spcAft>
            </a:pPr>
            <a:r>
              <a:rPr sz="1900" b="1" i="0">
                <a:solidFill>
                  <a:srgbClr val="97BC62"/>
                </a:solidFill>
                <a:latin typeface="Calibri"/>
              </a:rPr>
              <a:t>•  </a:t>
            </a:r>
            <a:r>
              <a:rPr sz="1900" b="0" i="0">
                <a:solidFill>
                  <a:srgbClr val="222B22"/>
                </a:solidFill>
                <a:latin typeface="Calibri"/>
              </a:rPr>
              <a:t>After each return, test what you noticed — does it fit Scripture? Who could I tell? (the How Did You Know? card)</a:t>
            </a:r>
          </a:p>
          <a:p>
            <a:pPr marL="274320" indent="-274320">
              <a:spcAft>
                <a:spcPts val="750"/>
              </a:spcAft>
            </a:pPr>
            <a:r>
              <a:rPr sz="1900" b="1" i="0">
                <a:solidFill>
                  <a:srgbClr val="97BC62"/>
                </a:solidFill>
                <a:latin typeface="Calibri"/>
              </a:rPr>
              <a:t>•  </a:t>
            </a:r>
            <a:r>
              <a:rPr sz="1900" b="0" i="0">
                <a:solidFill>
                  <a:srgbClr val="222B22"/>
                </a:solidFill>
                <a:latin typeface="Calibri"/>
              </a:rPr>
              <a:t>Pick three days and a time — morning before the day starts is often best</a:t>
            </a:r>
          </a:p>
          <a:p>
            <a:pPr marL="274320" indent="-274320">
              <a:spcAft>
                <a:spcPts val="750"/>
              </a:spcAft>
            </a:pPr>
            <a:r>
              <a:rPr sz="1900" b="1" i="0">
                <a:solidFill>
                  <a:srgbClr val="97BC62"/>
                </a:solidFill>
                <a:latin typeface="Calibri"/>
              </a:rPr>
              <a:t>•  </a:t>
            </a:r>
            <a:r>
              <a:rPr sz="1900" b="0" i="0">
                <a:solidFill>
                  <a:srgbClr val="222B22"/>
                </a:solidFill>
                <a:latin typeface="Calibri"/>
              </a:rPr>
              <a:t>If something heavy surfaces — stop, open your eyes, come back another day; tell a trusted adult</a:t>
            </a:r>
          </a:p>
          <a:p>
            <a:pPr marL="274320" indent="-274320">
              <a:spcAft>
                <a:spcPts val="750"/>
              </a:spcAft>
            </a:pPr>
            <a:r>
              <a:rPr sz="1900" b="1" i="0">
                <a:solidFill>
                  <a:srgbClr val="97BC62"/>
                </a:solidFill>
                <a:latin typeface="Calibri"/>
              </a:rPr>
              <a:t>•  </a:t>
            </a:r>
            <a:r>
              <a:rPr sz="1900" b="0" i="0">
                <a:solidFill>
                  <a:srgbClr val="222B22"/>
                </a:solidFill>
                <a:latin typeface="Calibri"/>
              </a:rPr>
              <a:t>Came in skeptical? The Note for the Skeptic handout is for you — adapting or sitting out for now is okay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G14</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Long Gap — Weeks Three and Four</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1900" b="1" i="0">
                <a:solidFill>
                  <a:srgbClr val="97BC62"/>
                </a:solidFill>
                <a:latin typeface="Calibri"/>
              </a:rPr>
              <a:t>•  </a:t>
            </a:r>
            <a:r>
              <a:rPr sz="1900" b="0" i="0">
                <a:solidFill>
                  <a:srgbClr val="222B22"/>
                </a:solidFill>
                <a:latin typeface="Calibri"/>
              </a:rPr>
              <a:t>No evening over Thanksgiving — we meet again Tuesday, December 8: four weeks</a:t>
            </a:r>
          </a:p>
          <a:p>
            <a:pPr marL="274320" indent="-274320">
              <a:spcAft>
                <a:spcPts val="750"/>
              </a:spcAft>
            </a:pPr>
            <a:r>
              <a:rPr sz="1900" b="1" i="0">
                <a:solidFill>
                  <a:srgbClr val="97BC62"/>
                </a:solidFill>
                <a:latin typeface="Calibri"/>
              </a:rPr>
              <a:t>•  </a:t>
            </a:r>
            <a:r>
              <a:rPr sz="1900" b="0" i="0">
                <a:solidFill>
                  <a:srgbClr val="222B22"/>
                </a:solidFill>
                <a:latin typeface="Calibri"/>
              </a:rPr>
              <a:t>Weeks one and two: the garden, with the check-in after week one</a:t>
            </a:r>
          </a:p>
          <a:p>
            <a:pPr marL="274320" indent="-274320">
              <a:spcAft>
                <a:spcPts val="750"/>
              </a:spcAft>
            </a:pPr>
            <a:r>
              <a:rPr sz="1900" b="1" i="0">
                <a:solidFill>
                  <a:srgbClr val="97BC62"/>
                </a:solidFill>
                <a:latin typeface="Calibri"/>
              </a:rPr>
              <a:t>•  </a:t>
            </a:r>
            <a:r>
              <a:rPr sz="1900" b="0" i="0">
                <a:solidFill>
                  <a:srgbClr val="222B22"/>
                </a:solidFill>
                <a:latin typeface="Calibri"/>
              </a:rPr>
              <a:t>Weeks three and four: your choice — one practice each week from The Practices So Far, a different one in week four</a:t>
            </a:r>
          </a:p>
          <a:p>
            <a:pPr marL="274320" indent="-274320">
              <a:spcAft>
                <a:spcPts val="750"/>
              </a:spcAft>
            </a:pPr>
            <a:r>
              <a:rPr sz="1900" b="1" i="0">
                <a:solidFill>
                  <a:srgbClr val="97BC62"/>
                </a:solidFill>
                <a:latin typeface="Calibri"/>
              </a:rPr>
              <a:t>•  </a:t>
            </a:r>
            <a:r>
              <a:rPr sz="1900" b="0" i="0">
                <a:solidFill>
                  <a:srgbClr val="222B22"/>
                </a:solidFill>
                <a:latin typeface="Calibri"/>
              </a:rPr>
              <a:t>Choose the one you would really like to do, not the one you think you should — write it down, and why</a:t>
            </a:r>
          </a:p>
          <a:p>
            <a:pPr marL="274320" indent="-274320">
              <a:spcAft>
                <a:spcPts val="750"/>
              </a:spcAft>
            </a:pPr>
            <a:r>
              <a:rPr sz="1900" b="1" i="0">
                <a:solidFill>
                  <a:srgbClr val="97BC62"/>
                </a:solidFill>
                <a:latin typeface="Calibri"/>
              </a:rPr>
              <a:t>•  </a:t>
            </a:r>
            <a:r>
              <a:rPr sz="1900" b="0" i="0">
                <a:solidFill>
                  <a:srgbClr val="222B22"/>
                </a:solidFill>
                <a:latin typeface="Calibri"/>
              </a:rPr>
              <a:t>If it slips: begin again the next day. No starting over, no streaks</a:t>
            </a:r>
          </a:p>
          <a:p>
            <a:pPr marL="274320" indent="-274320">
              <a:spcAft>
                <a:spcPts val="750"/>
              </a:spcAft>
            </a:pPr>
            <a:r>
              <a:rPr sz="1900" b="1" i="0">
                <a:solidFill>
                  <a:srgbClr val="97BC62"/>
                </a:solidFill>
                <a:latin typeface="Calibri"/>
              </a:rPr>
              <a:t>•  </a:t>
            </a:r>
            <a:r>
              <a:rPr sz="1900" b="0" i="0">
                <a:solidFill>
                  <a:srgbClr val="222B22"/>
                </a:solidFill>
                <a:latin typeface="Calibri"/>
              </a:rPr>
              <a:t>Over the gap, you know who to reach: ______ (named aloud)</a:t>
            </a:r>
          </a:p>
          <a:p>
            <a:pPr marL="274320" indent="-274320">
              <a:spcAft>
                <a:spcPts val="750"/>
              </a:spcAft>
            </a:pPr>
            <a:r>
              <a:rPr sz="1900" b="1" i="0">
                <a:solidFill>
                  <a:srgbClr val="97BC62"/>
                </a:solidFill>
                <a:latin typeface="Calibri"/>
              </a:rPr>
              <a:t>•  </a:t>
            </a:r>
            <a:r>
              <a:rPr sz="1900" b="0" i="0">
                <a:solidFill>
                  <a:srgbClr val="222B22"/>
                </a:solidFill>
                <a:latin typeface="Calibri"/>
              </a:rPr>
              <a:t>December 8 opens with: which did you choose? Did you come back on your own? Which would you keep?</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G15</a:t>
            </a:r>
            <a:endParaRPr sz="1000" b="1">
              <a:solidFill>
                <a:srgbClr val="7A8A6E"/>
              </a:solidFill>
              <a:latin typeface="Calibri"/>
            </a:endParaRPr>
          </a:p>
        </p:txBody>
      </p:sp>
      <p:sp>
        <p:nvSpPr>
          <p:cNvPr id="4" name="TextBox 5"/>
          <p:cNvSpPr txBox="1"/>
          <p:nvPr/>
        </p:nvSpPr>
        <p:spPr>
          <a:xfrm>
            <a:off x="7863840" y="1554480"/>
            <a:ext cx="3474720" cy="4892040"/>
          </a:xfrm>
          <a:prstGeom prst="rect">
            <a:avLst/>
          </a:prstGeom>
          <a:noFill/>
        </p:spPr>
        <p:txBody>
          <a:bodyPr wrap="square" lIns="91440" tIns="91440" rIns="91440" bIns="91440"/>
          <a:lstStyle/>
          <a:p>
            <a:pPr marL="274320" indent="-274320">
              <a:spcAft>
                <a:spcPts val="750"/>
              </a:spcAft>
            </a:pPr>
            <a:r>
              <a:rPr sz="1900" b="1" i="0">
                <a:solidFill>
                  <a:srgbClr val="97BC62"/>
                </a:solidFill>
                <a:latin typeface="Calibri"/>
              </a:rPr>
              <a:t/>
            </a:r>
            <a:r>
              <a:rPr sz="1900" b="1" i="0">
                <a:solidFill>
                  <a:srgbClr val="222B22"/>
                </a:solidFill>
                <a:latin typeface="Calibri"/>
              </a:rPr>
              <a:t>The Practices So Far</a:t>
            </a:r>
          </a:p>
          <a:p>
            <a:pPr marL="274320" indent="-274320">
              <a:spcAft>
                <a:spcPts val="750"/>
              </a:spcAft>
            </a:pPr>
            <a:r>
              <a:rPr sz="1900" b="1" i="0">
                <a:solidFill>
                  <a:srgbClr val="97BC62"/>
                </a:solidFill>
                <a:latin typeface="Calibri"/>
              </a:rPr>
              <a:t>•  </a:t>
            </a:r>
            <a:r>
              <a:rPr sz="1900" b="0" i="0">
                <a:solidFill>
                  <a:srgbClr val="222B22"/>
                </a:solidFill>
                <a:latin typeface="Calibri"/>
              </a:rPr>
              <a:t>The abundance question (E1)</a:t>
            </a:r>
          </a:p>
          <a:p>
            <a:pPr marL="274320" indent="-274320">
              <a:spcAft>
                <a:spcPts val="750"/>
              </a:spcAft>
            </a:pPr>
            <a:r>
              <a:rPr sz="1900" b="1" i="0">
                <a:solidFill>
                  <a:srgbClr val="97BC62"/>
                </a:solidFill>
                <a:latin typeface="Calibri"/>
              </a:rPr>
              <a:t>•  </a:t>
            </a:r>
            <a:r>
              <a:rPr sz="1900" b="0" i="0">
                <a:solidFill>
                  <a:srgbClr val="222B22"/>
                </a:solidFill>
                <a:latin typeface="Calibri"/>
              </a:rPr>
              <a:t>Soil-noticing (E2)</a:t>
            </a:r>
          </a:p>
          <a:p>
            <a:pPr marL="274320" indent="-274320">
              <a:spcAft>
                <a:spcPts val="750"/>
              </a:spcAft>
            </a:pPr>
            <a:r>
              <a:rPr sz="1900" b="1" i="0">
                <a:solidFill>
                  <a:srgbClr val="97BC62"/>
                </a:solidFill>
                <a:latin typeface="Calibri"/>
              </a:rPr>
              <a:t>•  </a:t>
            </a:r>
            <a:r>
              <a:rPr sz="1900" b="0" i="0">
                <a:solidFill>
                  <a:srgbClr val="222B22"/>
                </a:solidFill>
                <a:latin typeface="Calibri"/>
              </a:rPr>
              <a:t>Joint Footprints (E3)</a:t>
            </a:r>
          </a:p>
          <a:p>
            <a:pPr marL="274320" indent="-274320">
              <a:spcAft>
                <a:spcPts val="750"/>
              </a:spcAft>
            </a:pPr>
            <a:r>
              <a:rPr sz="1900" b="1" i="0">
                <a:solidFill>
                  <a:srgbClr val="97BC62"/>
                </a:solidFill>
                <a:latin typeface="Calibri"/>
              </a:rPr>
              <a:t>•  </a:t>
            </a:r>
            <a:r>
              <a:rPr sz="1900" b="0" i="0">
                <a:solidFill>
                  <a:srgbClr val="222B22"/>
                </a:solidFill>
                <a:latin typeface="Calibri"/>
              </a:rPr>
              <a:t>Offering a condition (E4)</a:t>
            </a:r>
          </a:p>
          <a:p>
            <a:pPr marL="274320" indent="-274320">
              <a:spcAft>
                <a:spcPts val="750"/>
              </a:spcAft>
            </a:pPr>
            <a:r>
              <a:rPr sz="1900" b="1" i="0">
                <a:solidFill>
                  <a:srgbClr val="97BC62"/>
                </a:solidFill>
                <a:latin typeface="Calibri"/>
              </a:rPr>
              <a:t>•  </a:t>
            </a:r>
            <a:r>
              <a:rPr sz="1900" b="0" i="0">
                <a:solidFill>
                  <a:srgbClr val="222B22"/>
                </a:solidFill>
                <a:latin typeface="Calibri"/>
              </a:rPr>
              <a:t>The Five-Minute Examen (E5)</a:t>
            </a:r>
          </a:p>
          <a:p>
            <a:pPr marL="274320" indent="-274320">
              <a:spcAft>
                <a:spcPts val="750"/>
              </a:spcAft>
            </a:pPr>
            <a:r>
              <a:rPr sz="1900" b="1" i="0">
                <a:solidFill>
                  <a:srgbClr val="97BC62"/>
                </a:solidFill>
                <a:latin typeface="Calibri"/>
              </a:rPr>
              <a:t>•  </a:t>
            </a:r>
            <a:r>
              <a:rPr sz="1900" b="0" i="0">
                <a:solidFill>
                  <a:srgbClr val="222B22"/>
                </a:solidFill>
                <a:latin typeface="Calibri"/>
              </a:rPr>
              <a:t>PROAPT (E6)</a:t>
            </a:r>
          </a:p>
          <a:p>
            <a:pPr marL="274320" indent="-274320">
              <a:spcAft>
                <a:spcPts val="750"/>
              </a:spcAft>
            </a:pPr>
            <a:r>
              <a:rPr sz="1900" b="1" i="0">
                <a:solidFill>
                  <a:srgbClr val="97BC62"/>
                </a:solidFill>
                <a:latin typeface="Calibri"/>
              </a:rPr>
              <a:t>•  </a:t>
            </a:r>
            <a:r>
              <a:rPr sz="1900" b="0" i="0">
                <a:solidFill>
                  <a:srgbClr val="222B22"/>
                </a:solidFill>
                <a:latin typeface="Calibri"/>
              </a:rPr>
              <a:t>The garden (E7)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Daily Rhythm</a:t>
            </a:r>
          </a:p>
        </p:txBody>
      </p:sp>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G16</a:t>
            </a:r>
            <a:endParaRPr sz="1000" b="1">
              <a:solidFill>
                <a:srgbClr val="7A8A6E"/>
              </a:solidFill>
              <a:latin typeface="Calibri"/>
            </a:endParaRPr>
          </a:p>
        </p:txBody>
      </p:sp>
      <p:pic>
        <p:nvPicPr>
          <p:cNvPr id="91" name="Picture 90" descr="new_s15.png"/>
          <p:cNvPicPr>
            <a:picLocks noChangeAspect="1"/>
          </p:cNvPicPr>
          <p:nvPr/>
        </p:nvPicPr>
        <p:blipFill>
          <a:blip r:embed="rId4"/>
          <a:stretch>
            <a:fillRect/>
          </a:stretch>
        </p:blipFill>
        <p:spPr>
          <a:xfrm>
            <a:off x="1798167" y="1463040"/>
            <a:ext cx="8595360" cy="277309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Five Parts</a:t>
            </a:r>
          </a:p>
        </p:txBody>
      </p:sp>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Two weeks as always, then two you choose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G17</a:t>
            </a:r>
            <a:endParaRPr sz="1000" b="1">
              <a:solidFill>
                <a:srgbClr val="7A8A6E"/>
              </a:solidFill>
              <a:latin typeface="Calibri"/>
            </a:endParaRPr>
          </a:p>
        </p:txBody>
      </p:sp>
      <p:pic>
        <p:nvPicPr>
          <p:cNvPr id="91" name="Picture 90" descr="new_s16.png"/>
          <p:cNvPicPr>
            <a:picLocks noChangeAspect="1"/>
          </p:cNvPicPr>
          <p:nvPr/>
        </p:nvPicPr>
        <p:blipFill>
          <a:blip r:embed="rId4"/>
          <a:stretch>
            <a:fillRect/>
          </a:stretch>
        </p:blipFill>
        <p:spPr>
          <a:xfrm>
            <a:off x="3523272" y="1463040"/>
            <a:ext cx="5145456" cy="4892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Two rounds, same as every session — the container holder first, then the content presenter: three things each</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G18</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What will you do or say differently? — the one practice, committed aloud</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eyes on the person, not the screen: say what is on your heart for them.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G19</a:t>
            </a:r>
            <a:endParaRPr sz="1000" b="1">
              <a:solidFill>
                <a:srgbClr val="7A8A6E"/>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