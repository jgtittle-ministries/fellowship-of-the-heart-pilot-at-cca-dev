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58" r:id="rId4"/>
    <p:sldId id="259" r:id="rId5"/>
    <p:sldId id="334" r:id="rId6"/>
    <p:sldId id="552" r:id="rId7"/>
    <p:sldId id="333" r:id="rId8"/>
    <p:sldId id="332" r:id="rId9"/>
    <p:sldId id="553" r:id="rId10"/>
    <p:sldId id="331" r:id="rId11"/>
    <p:sldId id="546" r:id="rId12"/>
    <p:sldId id="521" r:id="rId13"/>
    <p:sldId id="520" r:id="rId14"/>
    <p:sldId id="554" r:id="rId15"/>
    <p:sldId id="519" r:id="rId16"/>
    <p:sldId id="330" r:id="rId17"/>
    <p:sldId id="547" r:id="rId18"/>
    <p:sldId id="524" r:id="rId19"/>
    <p:sldId id="329" r:id="rId20"/>
    <p:sldId id="32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1" Type="http://schemas.openxmlformats.org/officeDocument/2006/relationships/slide" Target="slides/slide20.xml"/><Relationship Id="rId5" Type="http://schemas.openxmlformats.org/officeDocument/2006/relationships/slide" Target="slides/slide4.xml"/><Relationship Id="rId279" Type="http://schemas.openxmlformats.org/officeDocument/2006/relationships/notesMaster" Target="notesMasters/notesMaster1.xml"/><Relationship Id="rId12" Type="http://schemas.openxmlformats.org/officeDocument/2006/relationships/slide" Target="slides/slide11.xml"/><Relationship Id="rId280" Type="http://schemas.openxmlformats.org/officeDocument/2006/relationships/presProps" Target="presProps.xml"/><Relationship Id="rId6" Type="http://schemas.openxmlformats.org/officeDocument/2006/relationships/slide" Target="slides/slide5.xml"/><Relationship Id="rId13" Type="http://schemas.openxmlformats.org/officeDocument/2006/relationships/slide" Target="slides/slide12.xml"/><Relationship Id="rId281" Type="http://schemas.openxmlformats.org/officeDocument/2006/relationships/viewProps" Target="viewProps.xml"/><Relationship Id="rId7" Type="http://schemas.openxmlformats.org/officeDocument/2006/relationships/slide" Target="slides/slide6.xml"/><Relationship Id="rId14" Type="http://schemas.openxmlformats.org/officeDocument/2006/relationships/slide" Target="slides/slide13.xml"/><Relationship Id="rId282" Type="http://schemas.openxmlformats.org/officeDocument/2006/relationships/theme" Target="theme/theme1.xml"/><Relationship Id="rId8" Type="http://schemas.openxmlformats.org/officeDocument/2006/relationships/slide" Target="slides/slide7.xml"/><Relationship Id="rId15" Type="http://schemas.openxmlformats.org/officeDocument/2006/relationships/slide" Target="slides/slide14.xml"/><Relationship Id="rId283" Type="http://schemas.openxmlformats.org/officeDocument/2006/relationships/tableStyles" Target="tableStyles.xml"/><Relationship Id="rId9" Type="http://schemas.openxmlformats.org/officeDocument/2006/relationships/slide" Target="slides/slide8.xml"/><Relationship Id="rId16" Type="http://schemas.openxmlformats.org/officeDocument/2006/relationships/slide" Target="slides/slide15.xml"/><Relationship Id="rId284" Type="http://schemas.microsoft.com/office/2016/11/relationships/changesInfo" Target="changesInfos/changesInfo1.xml"/><Relationship Id="rId285" Type="http://schemas.microsoft.com/office/2015/10/relationships/revisionInfo" Target="revisionInfo.xml"/><Relationship Id="rId17" Type="http://schemas.openxmlformats.org/officeDocument/2006/relationships/slide" Target="slides/slide16.xml"/><Relationship Id="rId1" Type="http://schemas.openxmlformats.org/officeDocument/2006/relationships/slideMaster" Target="slideMasters/slideMaster1.xml"/><Relationship Id="rId18" Type="http://schemas.openxmlformats.org/officeDocument/2006/relationships/slide" Target="slides/slide17.xml"/><Relationship Id="rId2" Type="http://schemas.openxmlformats.org/officeDocument/2006/relationships/slide" Target="slides/slide1.xml"/><Relationship Id="rId19" Type="http://schemas.openxmlformats.org/officeDocument/2006/relationships/slide" Target="slides/slide18.xml"/><Relationship Id="rId20" Type="http://schemas.openxmlformats.org/officeDocument/2006/relationships/slide" Target="slides/slide19.xml"/><Relationship Id="rId10" Type="http://schemas.openxmlformats.org/officeDocument/2006/relationships/slide" Target="slides/slide9.xml"/><Relationship Id="rId4" Type="http://schemas.openxmlformats.org/officeDocument/2006/relationships/slide" Target="slides/slide3.xml"/><Relationship Id="rId11"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pre-session · DIVIDER</a:t>
            </a:r>
          </a:p>
          <a:p>
            <a:r>
              <a:rPr lang="en-US" sz="1200"/>
              <a:t>On screen as families arrive. Greet at the door — the slide holds the room.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4:15–5:30 · SHARED</a:t>
            </a:r>
          </a:p>
          <a:p>
            <a:r>
              <a:rPr lang="en-US" sz="1200"/>
              <a:t>BEATS:</a:t>
            </a:r>
          </a:p>
          <a:p>
            <a:r>
              <a:rPr lang="en-US" sz="1200"/>
              <a:t>1. Thirty-second walk of the night: welcome, Four Connects, first container, One True Sentence, John 10:10, the saved question, practice, close.</a:t>
            </a:r>
          </a:p>
          <a:p>
            <a:r>
              <a:rPr lang="en-US" sz="1200"/>
              <a:t>2. Start on time at 4:15.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4:15–4:22 · SHARED</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At 4:19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4:22–4:30 · SHARED</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4:30–4:42 · SHARED</a:t>
            </a:r>
          </a:p>
          <a:p>
            <a:r>
              <a:rPr lang="en-US" sz="1200"/>
              <a:t>BEATS:</a:t>
            </a:r>
          </a:p>
          <a:p>
            <a:r>
              <a:rPr lang="en-US" sz="1200"/>
              <a:t>1. Most important block of Week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rPr lang="en-US" sz="1200"/>
              <a:t>W2 · 4:15–4:22 · SHARED</a:t>
            </a:r>
          </a:p>
          <a:p>
            <a:r>
              <a:rPr lang="en-US" sz="1200"/>
              <a:t>BEATS:</a:t>
            </a:r>
          </a:p>
          <a:p>
            <a:r>
              <a:rPr lang="en-US" sz="1200"/>
              <a:t>1. Full eight-step opening protocol — the cohort knows the form; hold the rhythm, do not over-explain.</a:t>
            </a:r>
          </a:p>
          <a:p>
            <a:r>
              <a:rPr lang="en-US" sz="1200"/>
              <a:t>2. Four conditions: name them once; nods or a quiet yes are enough. Re-teach only if Week 1 felt unsafe.</a:t>
            </a:r>
          </a:p>
          <a:p>
            <a:r>
              <a:rPr lang="en-US" sz="1200"/>
              <a:t>3. Close the opening with brief prayer naming the Holy Spirit — ask Him to teach us through Jesus' own words today.</a:t>
            </a:r>
          </a:p>
          <a:p>
            <a:r>
              <a:rPr lang="en-US" sz="1200"/>
              <a:t>CUES: At the one-word check-in, listen for heavy words ('angry', 'numb', 'scared') — note them; the diagnostic may pull from there.</a:t>
            </a:r>
          </a:p>
        </p:txBody>
      </p:sp>
    </p:spTree>
    <p:extLst>
      <p:ext uri="{BB962C8B-B14F-4D97-AF65-F5344CB8AC3E}">
        <p14:creationId xmlns:p14="http://schemas.microsoft.com/office/powerpoint/2010/main" val="1101322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4:42–4:55 · SHARED</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4:55–5:04 · SHARED</a:t>
            </a:r>
          </a:p>
          <a:p>
            <a:r>
              <a:rPr lang="en-US" sz="1200"/>
              <a:t>BEATS:</a:t>
            </a:r>
          </a:p>
          <a:p>
            <a:r>
              <a:rPr lang="en-US" sz="1200"/>
              <a:t>1. 'Tonight's scripture. Listen for one word.' Read John 10:10 in full from the physical Bible — slowly, once. The screen holds the words; the Bible carries the reading.</a:t>
            </a:r>
          </a:p>
          <a:p>
            <a:r>
              <a:rPr lang="en-US" sz="1200"/>
              <a:t>2. Abundantly — the word the year hangs on. The thief's purpose against His purpose; the more is real and it cost Him everything (John 10:11). Point to the carry-home question on the slide: not to answer tonight — to carry.</a:t>
            </a:r>
          </a:p>
          <a:p>
            <a:r>
              <a:rPr lang="en-US" sz="1200"/>
              <a:t>3. Close the Bible. One beat of quiet. The seed, stated plainly (2–3 min) — full script in the plan, Block 6. The year's proclamation: do not rush it; do not decorate it.</a:t>
            </a:r>
          </a:p>
          <a:p>
            <a:r>
              <a:rPr lang="en-US" sz="1200"/>
              <a:t>ADVANCE CUE: next slide exactly at the seed's last line — 'which raises a question worth sitting with on our very first night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5:04–5:07 · SHARED</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5:07–5:15 · SHARED</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Week 1, inside the saved discussion, straight after the definition.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5:04–5:15 · SHARED</a:t>
            </a:r>
          </a:p>
          <a:p>
            <a:r>
              <a:rPr lang="en-US" sz="1200"/>
              <a:t>BEATS:</a:t>
            </a:r>
          </a:p>
          <a:p>
            <a:r>
              <a:rPr lang="en-US" sz="1200"/>
              <a:t>1. Tail of the saved block. Journals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One practice only.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Hold up the check-off card (H1.3) — fridge, mirror, or journal pocket; one check per completed practice.</a:t>
            </a:r>
          </a:p>
          <a:p>
            <a:r>
              <a:rPr lang="en-US" sz="1200"/>
              <a:t>2. Say the card's grace note aloud: a missed box is never a failure; it is an invitation to return.</a:t>
            </a:r>
          </a:p>
          <a:p>
            <a:r>
              <a:rPr lang="en-US" sz="1200"/>
              <a:t>CUES: Rides inside the practice block — keep the two slides to four minutes together.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5:24–5:27 · SHARED</a:t>
            </a:r>
          </a:p>
          <a:p>
            <a:r>
              <a:rPr lang="en-US" sz="1200"/>
              <a:t>BEATS:</a:t>
            </a:r>
          </a:p>
          <a:p>
            <a:r>
              <a:rPr lang="en-US" sz="1200"/>
              <a:t>1. Debut today; you model it on yourself.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W1 · 5:18–5:30 · SHARED</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jgtittle-ministries.github.io/fellowship-of-the-heart-pilot-at-cca/"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SOWER — THREE WITNESSES:  </a:t>
            </a:r>
            <a:r>
              <a:rPr sz="2800" b="1" i="0">
                <a:solidFill>
                  <a:srgbClr val="2C5F2D"/>
                </a:solidFill>
                <a:latin typeface="Calibri"/>
              </a:rPr>
              <a:t>Mark 4:1–20</a:t>
            </a:r>
            <a:r>
              <a:rPr sz="2800" b="0" i="0">
                <a:solidFill>
                  <a:srgbClr val="222B22"/>
                </a:solidFill>
                <a:latin typeface="Calibri"/>
              </a:rPr>
              <a:t>   ·   Matthew 13:1–23   ·   Luke 8:4–15</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Midweek: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pic>
        <p:nvPicPr>
          <p:cNvPr id="270" name="CardImage" descr="the Week 1 check-off card, as handed out"/>
          <p:cNvPicPr>
            <a:picLocks noChangeAspect="1"/>
          </p:cNvPicPr>
          <p:nvPr/>
        </p:nvPicPr>
        <p:blipFill>
          <a:blip r:embed="rId3"/>
          <a:stretch>
            <a:fillRect/>
          </a:stretch>
        </p:blipFill>
        <p:spPr>
          <a:xfrm>
            <a:off x="2159170" y="1417320"/>
            <a:ext cx="787335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89320"/>
            <a:ext cx="10515600" cy="548640"/>
          </a:xfrm>
          <a:prstGeom prst="rect">
            <a:avLst/>
          </a:prstGeom>
          <a:noFill/>
        </p:spPr>
        <p:txBody>
          <a:bodyPr wrap="square"/>
          <a:lstStyle/>
          <a:p>
            <a:pPr algn="ctr"/>
            <a:r>
              <a:rPr sz="1800" b="0" i="1">
                <a:solidFill>
                  <a:srgbClr val="222B22"/>
                </a:solidFill>
                <a:latin typeface="Calibri"/>
              </a:rPr>
              <a:t>Handed out now — fridge, mirror, journal pocket. Same card, new practices, every session.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Both leaders go — three things each, same as every session from here on</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