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555" r:id="rId27"/>
    <p:sldId id="259" r:id="rId4"/>
    <p:sldId id="334" r:id="rId5"/>
    <p:sldId id="552" r:id="rId6"/>
    <p:sldId id="333" r:id="rId7"/>
    <p:sldId id="332" r:id="rId8"/>
    <p:sldId id="553" r:id="rId9"/>
    <p:sldId id="331" r:id="rId10"/>
    <p:sldId id="546" r:id="rId11"/>
    <p:sldId id="521" r:id="rId12"/>
    <p:sldId id="520" r:id="rId13"/>
    <p:sldId id="554" r:id="rId14"/>
    <p:sldId id="519" r:id="rId15"/>
    <p:sldId id="330" r:id="rId16"/>
    <p:sldId id="547" r:id="rId17"/>
    <p:sldId id="556" r:id="rId28"/>
    <p:sldId id="557" r:id="rId29"/>
    <p:sldId id="329" r:id="rId19"/>
    <p:sldId id="32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openxmlformats.org/officeDocument/2006/relationships/slide" Target="slides/slide3.xml"/><Relationship Id="rId28" Type="http://schemas.openxmlformats.org/officeDocument/2006/relationships/slide" Target="slides/slide18.xml"/><Relationship Id="rId29"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9-09T16:52:27.831" v="150" actId="2710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ord modNotesTx">
        <pc:chgData name="John Tittle" userId="c9414421e32e8042" providerId="LiveId" clId="{48C55722-1884-484D-BEBA-C6DAFFF89F9C}" dt="2026-09-09T16:52:27.831" v="150" actId="27107"/>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pre-session · DIVIDER</a:t>
            </a:r>
          </a:p>
          <a:p>
            <a:r>
              <a:t>On screen through dinner and as the circle forms. Greet at the door — the slide holds the room.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7:00–8:30 · BOTH LEADERS</a:t>
            </a:r>
          </a:p>
          <a:p>
            <a:r>
              <a:t>BEATS:</a:t>
            </a:r>
          </a:p>
          <a:p>
            <a:r>
              <a:t>1. Thirty-second walk of the night: welcome, Four Connects, first container, One True Sentence, John 10:10, the saved question, practice, close.</a:t>
            </a:r>
          </a:p>
          <a:p>
            <a:r>
              <a:t>2. Start on time at 7:00. Whole night is one shared circle — family clusters begin Evening 2.</a:t>
            </a:r>
          </a:p>
          <a:p>
            <a:r>
              <a:t>3. Timing trap: the teaching is always cuttable; the experiential blocks are not.</a:t>
            </a:r>
          </a:p>
          <a:p>
            <a:r>
              <a:t>CUES: Chairs in one circle, no table; Four Connects diagram pre-drawn on the whiteboard; leader sits in the circle, not at the head.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7:00–7:08 · LEAD: CONTAINER HOLDER</a:t>
            </a:r>
          </a:p>
          <a:p>
            <a:r>
              <a:t>BEATS:</a:t>
            </a:r>
          </a:p>
          <a:p>
            <a:r>
              <a:t>1. Stand at the open of the circle; wait for full silence before a word.</a:t>
            </a:r>
          </a:p>
          <a:p>
            <a:r>
              <a:t>2. Three things: today is the doorway, not the destination; no chaperones — every person is a participant; phones silenced and away (the ask is enough — no collecting, no policing).</a:t>
            </a:r>
          </a:p>
          <a:p>
            <a:r>
              <a:t>3. Around 7:05 shift to what-this-is framing: real interior work as families; not a Bible study, not youth group, not therapy — an invitation to the abundant life of John 10:10.</a:t>
            </a:r>
          </a:p>
          <a:p>
            <a:r>
              <a:t>CUES: A parent sliding into chaperone mode gets 'Today we are all participants. Let me hold the space.'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7:08–7:20 · LEAD: CONTENT PRESENTER</a:t>
            </a:r>
          </a:p>
          <a:p>
            <a:r>
              <a:t>BEATS:</a:t>
            </a:r>
          </a:p>
          <a:p>
            <a:r>
              <a:t>1. Stand at the whiteboard; diagram already drawn. Matthew 22 origin: two commandments, four connections.</a:t>
            </a:r>
          </a:p>
          <a:p>
            <a:r>
              <a:t>2. Walk the sequence: Self, then Others, then God, then Mission — a sequence, not four separate topics.</a:t>
            </a:r>
          </a:p>
          <a:p>
            <a:r>
              <a:t>3. Sketch the year's map, then release it: 'Don't worry about memorizing it. These twenty-two weeks will teach it to you.'</a:t>
            </a:r>
          </a:p>
          <a:p>
            <a:r>
              <a:t>GUARD: Ten minutes maximum — do not teach the whole framework today. Concrete language for teens: 'the person at your lunch table knowing what's actually going on inside you.'</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7:20–7:32 · LEAD: CONTAINER HOLDER</a:t>
            </a:r>
          </a:p>
          <a:p>
            <a:r>
              <a:t>BEATS:</a:t>
            </a:r>
          </a:p>
          <a:p>
            <a:r>
              <a:t>1. Most important block of Evening 1 — do not rush it.</a:t>
            </a:r>
          </a:p>
          <a:p>
            <a:r>
              <a:t>2. Name the four conditions once: Safe, Present, Clear, Intentional.</a:t>
            </a:r>
          </a:p>
          <a:p>
            <a:r>
              <a:t>3. Teach the commitment plus the honest alternative: 'I am here, and I am listening' is a full way to stand in the circle, not a lesser one. Nobody tracks who says which.</a:t>
            </a:r>
          </a:p>
          <a:p>
            <a:r>
              <a:t>4. Everyone stands; walk the eight-step opening protocol (Handbook Section 5), holding each step.</a:t>
            </a:r>
          </a:p>
          <a:p>
            <a:r>
              <a:t>CUES: The first one-word check-in is the key moment of Evening 1 — if every single person says one word, that is your first win.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F62DD-D0F9-A622-BA89-46C9B90789D4}"/>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FD166F10-4649-2034-8217-2E5EA288DB6F}"/>
              </a:ext>
            </a:extLst>
          </p:cNvPr>
          <p:cNvSpPr>
            <a:spLocks noGrp="1"/>
          </p:cNvSpPr>
          <p:nvPr>
            <p:ph type="body" idx="1"/>
          </p:nvPr>
        </p:nvSpPr>
        <p:spPr/>
        <p:txBody>
          <a:bodyPr/>
          <a:lstStyle/>
          <a:p>
            <a:r>
              <a:t>E1 · 7:20–7:32 · LEAD: CONTAINER HOLDER</a:t>
            </a:r>
          </a:p>
          <a:p>
            <a:r>
              <a:t>1. You have just named the four conditions; now show the architecture. The room experienced these steps as tonight opened without knowing their names — walk the eight so they can see the shape they were just held by.</a:t>
            </a:r>
          </a:p>
          <a:p>
            <a:r>
              <a:t>2. From our next evening on, this protocol opens the room at 7:00 with no explanation; tonight is the one night it gets taught.</a:t>
            </a:r>
          </a:p>
          <a:p>
            <a:r>
              <a:t>3. Keep it warm, not procedural: the steps are how the container forms, not rules about it.</a:t>
            </a:r>
          </a:p>
          <a:p/>
          <a:p/>
          <a:p/>
          <a:p/>
          <a:p/>
          <a:p>
            <a:r>
              <a:t>PAIR LEAD: name the leading pair in the welcome — two leaders hold tonight, and the room will see the evening handed back and forth between them; that is the design. The pair practices the session together beforehand.</a:t>
            </a:r>
          </a:p>
        </p:txBody>
      </p:sp>
    </p:spTree>
    <p:extLst>
      <p:ext uri="{BB962C8B-B14F-4D97-AF65-F5344CB8AC3E}">
        <p14:creationId xmlns:p14="http://schemas.microsoft.com/office/powerpoint/2010/main" val="1101322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7:32–7:50 · LEAD: CONTAINER HOLDER</a:t>
            </a:r>
          </a:p>
          <a:p>
            <a:r>
              <a:t>BEATS:</a:t>
            </a:r>
          </a:p>
          <a:p>
            <a:r>
              <a:t>1. One true sentence each on why you are here. True beats polished; 'Mom made me come' counts, and so does 'I don't know yet.'</a:t>
            </a:r>
          </a:p>
          <a:p>
            <a:r>
              <a:t>2. You go first — short and true; you set the depth and length.</a:t>
            </a:r>
          </a:p>
          <a:p>
            <a:r>
              <a:t>3. 'I pass today' is allowed; receive with 'Thanks. We're glad you're here' and move on without ceremony.</a:t>
            </a:r>
          </a:p>
          <a:p>
            <a:r>
              <a:t>CUES: The second speaker is a parent, arranged before the session — never a cold call, and never on a teen. Stem for a frozen teen: 'One reason I'm here today is ___.' Two gentle fingers for a parent giving a speech.</a:t>
            </a:r>
          </a:p>
          <a:p>
            <a:r>
              <a:t>GUARD: If something heavy lands ('I'm here because I'm drowning'): 'Thank you for trusting us with that. We will hold that.' Never process it in the circle; follow up after.</a:t>
            </a:r>
          </a:p>
          <a:p>
            <a:r>
              <a:t>SUB: The plan's example sentences are the founder's. Speak your OWN true sentence — pre-write three, pick one in the moment. Never perform someone else's.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7:50–8:00 · LEAD: CONTENT PRESENTER</a:t>
            </a:r>
          </a:p>
          <a:p>
            <a:r>
              <a:t>BEATS:</a:t>
            </a:r>
          </a:p>
          <a:p>
            <a:r>
              <a:t>1. 'Tonight's scripture. Listen for one word.' Read John 10:10 in full from the physical Bible — slowly, once. The screen holds the words; the Bible carries the reading.</a:t>
            </a:r>
          </a:p>
          <a:p>
            <a:r>
              <a:t>2. Abundantly — the word the year hangs on. The thief's purpose against His purpose; the more is real and it cost Him everything (John 10:11). Point to the carry-home question on the slide: not to answer tonight — to carry.</a:t>
            </a:r>
          </a:p>
          <a:p>
            <a:r>
              <a:t>3. Close the Bible. One beat of quiet. The seed, stated plainly (2–3 min) — full script in the plan, Block 6. The year's proclamation: do not rush it; do not decorate it.</a:t>
            </a:r>
          </a:p>
          <a:p>
            <a:r>
              <a:t>ADVANCE CUE: next slide exactly at the seed's last line — 'which raises a question worth sitting with on our very first night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8:00–8:03 · LEAD: CONTENT PRESENTER</a:t>
            </a:r>
          </a:p>
          <a:p>
            <a:r>
              <a:t>ADVANCE CUE: this slide goes up exactly at the seed's last line — 'which raises a question worth sitting with on our very first night.'</a:t>
            </a:r>
          </a:p>
          <a:p>
            <a:r>
              <a:t>BEATS:</a:t>
            </a:r>
          </a:p>
          <a:p>
            <a:r>
              <a:t>1. 'What does it mean to be saved?' — the room answers first. Parents may start; popcorn, 2–3 minutes.</a:t>
            </a:r>
          </a:p>
          <a:p>
            <a:r>
              <a:t>2. Receive every answer with a nod and a thank-you — no grading; the thief does the correcting (next slide).</a:t>
            </a:r>
          </a:p>
          <a:p>
            <a:r>
              <a:t>GUARD: an honest 'I don't know' counts; no spotlight, ever.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8:03–8:10 · LEAD: CONTENT PRESENTER</a:t>
            </a:r>
          </a:p>
          <a:p>
            <a:r>
              <a:t>BEATS:</a:t>
            </a:r>
          </a:p>
          <a:p>
            <a:r>
              <a:t>1. Read Luke 23:39–43 slowly, then show the response: no baptism, no cleaned-up life — desire aimed at Christ, and Christ's yes. Romans 10:9–10: heart and mouth.</a:t>
            </a:r>
          </a:p>
          <a:p>
            <a:r>
              <a:t>2. Land the year's working definition: saved = the desire to be connected to Christ, acted on by turning to Him.</a:t>
            </a:r>
          </a:p>
          <a:p>
            <a:r>
              <a:t>GUARD: No assurance or baptism debates today — 'the thief settles today's question; come find me.' Watch gently for the face that changes; no spotlight, ever.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S1 — inside the saved discussion, straight after the definition — LEAD: CONTENT PRESENTER.
Ask it as a real question: how far is the east from the west? Let two or three answers come.
Get the compass out on your phone. Stand in the middle of the circle. "Okay. I am heading east. How far is west from here?"
Then bring the room in. They have been sitting since the container opened, so ask for their feet. "Everybody up for a second. Turn and face east with me." Wait for the whole room to come around; let it be slightly awkward, and do not hurry them. "That is east. Now - turn west." Turn with them, slowly, and stop. Let the room stand there facing the other way for a beat before you say anything.
"That is it. That is how far west is from east. It is all about which way you are pointing. And no matter when you catch yourself pointing east - no matter how long you have been walking that way - all you have to do is turn around and point west."
"That is what the verse means when it says He removes our transgressions as far as the east is from the west. And it is the same word we just used for what saved is: turning."
Then stop. Do not explain it further and do not open it for discussion. The turn lands in the body before it lands in the head, which is why the whole room turns rather than watching one person do it. It also gives them a picture for the definition they just heard: saved is the desire to be connected to Christ, acted on by turning to Him.
If the compass will not settle indoors, pick a wall during setup and call it east. The demonstration needs the turn to be real, not the needle to be right.</a:t>
            </a:r>
          </a:p>
        </p:txBody>
      </p:sp>
    </p:spTree>
    <p:extLst>
      <p:ext uri="{BB962C8B-B14F-4D97-AF65-F5344CB8AC3E}">
        <p14:creationId xmlns:p14="http://schemas.microsoft.com/office/powerpoint/2010/main" val="1720269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8:10–8:14 · LEAD: CONTENT PRESENTER</a:t>
            </a:r>
          </a:p>
          <a:p>
            <a:r>
              <a:t>BEATS:</a:t>
            </a:r>
          </a:p>
          <a:p>
            <a:r>
              <a:t>1. Tail of the saved block. Notebooks open to the very first blank page.</a:t>
            </a:r>
          </a:p>
          <a:p>
            <a:r>
              <a:t>2. The question: if you could ask God one question and know He would answer it this year, what would you ask? The real one, not the supposed-to one. Date it.</a:t>
            </a:r>
          </a:p>
          <a:p>
            <a:r>
              <a:t>3. Two silent minutes — no music, no commentary. Companions write their own first page too, visibly.</a:t>
            </a:r>
          </a:p>
          <a:p>
            <a:r>
              <a:t>GUARD: Nobody will ever read it; the journal is never collected. Say so — the privacy is the point, and the room comes back to this page before the year ends.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8:20–8:24 · LEAD: CONTENT PRESENTER</a:t>
            </a:r>
          </a:p>
          <a:p>
            <a:r>
              <a:t>BEATS:</a:t>
            </a:r>
          </a:p>
          <a:p>
            <a:r>
              <a:t>1. Week one of two: the two questions, morning and evening. Each morning, before the phone: five minutes — 'Father, what are You up to today, and what do You want me to notice?' Then sit. The asking is the practice.</a:t>
            </a:r>
          </a:p>
          <a:p>
            <a:r>
              <a:t>2. Evening: one specific sentence in the journal — what did I notice today?</a:t>
            </a:r>
          </a:p>
          <a:p>
            <a:r>
              <a:t>3. 'Parents, you are doing this too. We'll check in next week.'</a:t>
            </a:r>
          </a:p>
          <a:p>
            <a:r>
              <a:t>CUES: The Parent Co-Companion leads this block, not you — parents need to hear from a parent that they are doing it too.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8:20–8:24 · LEAD: CONTENT PRESENTER</a:t>
            </a:r>
          </a:p>
          <a:p>
            <a:r>
              <a:t>BEATS:</a:t>
            </a:r>
          </a:p>
          <a:p>
            <a:r>
              <a:t>1. Thirty seconds, as the first-page pens settle. 'On the way into this work we ask every family five questions — some of you met them in a conversation with one of us; some of you are meeting them right now, and that is just as good a door. They're printed in your journal, right after the where-am-I-with-Jesus page. A page per question this week, or a single sentence — if you want more than the one practice.'</a:t>
            </a:r>
          </a:p>
          <a:p>
            <a:r>
              <a:t>2. Say the privacy line again, even though they know it: the journal is never collected, never read; nobody will ever ask what you wrote.</a:t>
            </a:r>
          </a:p>
          <a:p>
            <a:r>
              <a:t>GUARD: an offer, never an assignment — the week's only ask is the morning question (next slide). If the evening is running long, skip this slide without loss; the questions are in the journal either way.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8:26–8:29 · LEAD: BOTH LEADERS</a:t>
            </a:r>
          </a:p>
          <a:p>
            <a:r>
              <a:t>BEATS:</a:t>
            </a:r>
          </a:p>
          <a:p>
            <a:r>
              <a:t>1. Debut today. Two rounds: the container holder first, then the content presenter. Three things: what went well; what I'd do differently; what I'd tell someone teaching today's process.</a:t>
            </a:r>
          </a:p>
          <a:p>
            <a:r>
              <a:t>2. Then the room, same two questions; two or three voices is plenty.</a:t>
            </a:r>
          </a:p>
          <a:p>
            <a:r>
              <a:t>3. Receive without defending — 'thank you' is the whole response.</a:t>
            </a:r>
          </a:p>
          <a:p>
            <a:r>
              <a:t>CUES: Evening 1 order: the closing container runs at 8:24 BEFORE this round; the blessing follows it at 8:29. May be dropped if the room needs something else; twice running goes to the team debrief.</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8:24–8:26, blessing 8:29–8:30 · LEAD: CONTAINER HOLDER</a:t>
            </a:r>
          </a:p>
          <a:p>
            <a:r>
              <a:t>BEATS:</a:t>
            </a:r>
          </a:p>
          <a:p>
            <a:r>
              <a:t>1. Six-step closing (Handbook Section 5). One-word landing — any word, even 'tired'; do not push for depth today.</a:t>
            </a:r>
          </a:p>
          <a:p>
            <a:r>
              <a:t>2. The one practice, said aloud together: 'Father, what are You up to today, and what do You want me to notice?'</a:t>
            </a:r>
          </a:p>
          <a:p>
            <a:r>
              <a:t>3. Blessings: do not press in Evening 1; honor any offered. Closing prayer 30 seconds, naming the Holy Spirit.</a:t>
            </a:r>
          </a:p>
          <a:p>
            <a:r>
              <a:t>4. Aaronic blessing at 8:29: teens face parents, hand on shoulder if comfortable; read the card together, slowly. Pause. 'Take your blessing card with you.'</a:t>
            </a:r>
          </a:p>
          <a:p>
            <a:r>
              <a:t>CUES: Evening 1 order: closing 8:24, Leader Feedback Round 8:26, blessing 8:29 — the round sits inside this window.</a:t>
            </a:r>
          </a:p>
          <a:p>
            <a:r>
              <a:t>BLESSINGS: eyes on the person, not the screen — nothing to read; say what is on your heart for them, specific and short.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WELCOME · LEAD: CONTAINER HOLDER · GROUNDING — every session opens on this map</a:t>
            </a:r>
          </a:p>
          <a:p>
            <a:r>
              <a:t>BEATS:</a:t>
            </a:r>
          </a:p>
          <a:p>
            <a:r>
              <a:t>1. Locate tonight on the map, plainly: Evening 1 opens the whole map — all four Connects: Self, Others, God, Mission — a sequence, not four separate topics (Matt. 22:37–40).</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COMMISSIONING · LEAD: CONTENT PRESENTER</a:t>
            </a:r>
          </a:p>
          <a:p>
            <a:r>
              <a:t>BEATS:</a:t>
            </a:r>
          </a:p>
          <a:p>
            <a:r>
              <a:t>1. The sheet on the screen is the sheet in their hands — walk it, don't read it.</a:t>
            </a:r>
          </a:p>
          <a:p>
            <a:r>
              <a:t>2. Week one: the two standing daily questions, introduced tonight — one box per day.</a:t>
            </a:r>
          </a:p>
          <a:p>
            <a:r>
              <a:t>3. The end-of-week-one check-in — partners named aloud now; the sheet has the line to write the name.</a:t>
            </a:r>
          </a:p>
          <a:p>
            <a:r>
              <a:t>CUES: Week two and preparation are the next slide.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 · COMMISSIONING · LEAD: CONTENT PRESENTER</a:t>
            </a:r>
          </a:p>
          <a:p>
            <a:r>
              <a:t>BEATS:</a:t>
            </a:r>
          </a:p>
          <a:p>
            <a:r>
              <a:t>1. Week two: the questions continue, plus the abundance question (John 10:10b).</a:t>
            </a:r>
          </a:p>
          <a:p>
            <a:r>
              <a:t>2. One sentence of preparation before we meet again.</a:t>
            </a:r>
          </a:p>
          <a:p>
            <a:r>
              <a:t>3. A missed box is never a failure — it is an invitation to return.</a:t>
            </a:r>
          </a:p>
          <a:p>
            <a:r>
              <a:t>GUARD: The sheet-walk, not a re-teach.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jgtittle-ministries.github.io/fellowship-of-the-heart-pilot-at-cca/" TargetMode="Externa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wk01-welcome.jpg"/>
          <p:cNvPicPr>
            <a:picLocks noChangeAspect="1"/>
          </p:cNvPicPr>
          <p:nvPr/>
        </p:nvPicPr>
        <p:blipFill>
          <a:blip r:embed="rId3"/>
          <a:stretch>
            <a:fillRect/>
          </a:stretch>
        </p:blipFill>
        <p:spPr>
          <a:xfrm>
            <a:off x="7050681" y="822960"/>
            <a:ext cx="3912317"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EVENING 1</a:t>
            </a:r>
          </a:p>
          <a:p>
            <a:pPr algn="l">
              <a:spcAft>
                <a:spcPts val="1000"/>
              </a:spcAft>
            </a:pPr>
            <a:r>
              <a:rPr sz="3300" b="1" i="0">
                <a:solidFill>
                  <a:srgbClr val="2C5F2D"/>
                </a:solidFill>
                <a:latin typeface="Cambria"/>
              </a:rPr>
              <a:t>Welcome to the Journey</a:t>
            </a:r>
          </a:p>
          <a:p>
            <a:pPr algn="l">
              <a:spcAft>
                <a:spcPts val="600"/>
              </a:spcAft>
            </a:pPr>
            <a:r>
              <a:rPr sz="1800" b="0" i="1">
                <a:solidFill>
                  <a:srgbClr val="595959"/>
                </a:solidFill>
                <a:latin typeface="Calibri"/>
              </a:rPr>
              <a:t>Establishing the container; introducing the four Connects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a:t>
            </a:r>
            <a:endParaRPr sz="1000" b="1">
              <a:solidFill>
                <a:srgbClr val="7A8A6E"/>
              </a:solidFill>
              <a:latin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Evening 1 opens the whole map — </a:t>
            </a:r>
            <a:r>
              <a:rPr sz="1800" b="1">
                <a:solidFill>
                  <a:srgbClr val="2C5F2D"/>
                </a:solidFill>
                <a:latin typeface="Calibri"/>
              </a:rPr>
              <a:t>all four Connects</a:t>
            </a:r>
            <a:r>
              <a:rPr sz="1800" b="0">
                <a:solidFill>
                  <a:srgbClr val="222B22"/>
                </a:solidFill>
                <a:latin typeface="Calibri"/>
              </a:rPr>
              <a:t>: Self, Others, God, Mission — a sequence, not four separate topics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3</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Evening 1 — Tonight’s Road</a:t>
            </a:r>
          </a:p>
        </p:txBody>
      </p:sp>
      <p:sp>
        <p:nvSpPr>
          <p:cNvPr id="4" name="TextBox 3"/>
          <p:cNvSpPr txBox="1"/>
          <p:nvPr/>
        </p:nvSpPr>
        <p:spPr>
          <a:xfrm>
            <a:off x="822960" y="1508760"/>
            <a:ext cx="7040880" cy="4237057"/>
          </a:xfrm>
          <a:prstGeom prst="rect">
            <a:avLst/>
          </a:prstGeom>
          <a:noFill/>
        </p:spPr>
        <p:txBody>
          <a:bodyPr wrap="square">
            <a:spAutoFit/>
          </a:bodyPr>
          <a:lstStyle/>
          <a:p>
            <a:pPr>
              <a:spcAft>
                <a:spcPts val="800"/>
              </a:spcAft>
            </a:pPr>
            <a:r>
              <a:rPr sz="2400" b="1" dirty="0">
                <a:solidFill>
                  <a:srgbClr val="97BC62"/>
                </a:solidFill>
                <a:latin typeface="Calibri"/>
              </a:rPr>
              <a:t>1   </a:t>
            </a:r>
            <a:r>
              <a:rPr sz="2400" dirty="0">
                <a:solidFill>
                  <a:srgbClr val="222B22"/>
                </a:solidFill>
                <a:latin typeface="Calibri"/>
              </a:rPr>
              <a:t>Welcome — the very-first-time orientation</a:t>
            </a:r>
          </a:p>
          <a:p>
            <a:pPr>
              <a:spcAft>
                <a:spcPts val="800"/>
              </a:spcAft>
            </a:pPr>
            <a:r>
              <a:rPr sz="2400" b="1" dirty="0">
                <a:solidFill>
                  <a:srgbClr val="97BC62"/>
                </a:solidFill>
                <a:latin typeface="Calibri"/>
              </a:rPr>
              <a:t>2   </a:t>
            </a:r>
            <a:r>
              <a:rPr sz="2400" dirty="0">
                <a:solidFill>
                  <a:srgbClr val="222B22"/>
                </a:solidFill>
                <a:latin typeface="Calibri"/>
              </a:rPr>
              <a:t>The door out — one name, said once</a:t>
            </a:r>
          </a:p>
          <a:p>
            <a:pPr>
              <a:spcAft>
                <a:spcPts val="800"/>
              </a:spcAft>
            </a:pPr>
            <a:r>
              <a:rPr sz="2400" b="1" dirty="0">
                <a:solidFill>
                  <a:srgbClr val="97BC62"/>
                </a:solidFill>
                <a:latin typeface="Calibri"/>
              </a:rPr>
              <a:t>3   </a:t>
            </a:r>
            <a:r>
              <a:rPr sz="2400" dirty="0">
                <a:solidFill>
                  <a:srgbClr val="222B22"/>
                </a:solidFill>
                <a:latin typeface="Calibri"/>
              </a:rPr>
              <a:t>The Four Connects — kitchen-table teaching</a:t>
            </a:r>
          </a:p>
          <a:p>
            <a:pPr>
              <a:spcAft>
                <a:spcPts val="800"/>
              </a:spcAft>
            </a:pPr>
            <a:r>
              <a:rPr sz="2400" b="1" dirty="0">
                <a:solidFill>
                  <a:srgbClr val="97BC62"/>
                </a:solidFill>
                <a:latin typeface="Calibri"/>
              </a:rPr>
              <a:t>4   </a:t>
            </a:r>
            <a:r>
              <a:rPr sz="2400" dirty="0">
                <a:solidFill>
                  <a:srgbClr val="222B22"/>
                </a:solidFill>
                <a:latin typeface="Calibri"/>
              </a:rPr>
              <a:t>Container introduction — the first full protocol</a:t>
            </a:r>
          </a:p>
          <a:p>
            <a:pPr>
              <a:spcAft>
                <a:spcPts val="800"/>
              </a:spcAft>
            </a:pPr>
            <a:r>
              <a:rPr sz="2400" b="1" dirty="0">
                <a:solidFill>
                  <a:srgbClr val="97BC62"/>
                </a:solidFill>
                <a:latin typeface="Calibri"/>
              </a:rPr>
              <a:t>5   </a:t>
            </a:r>
            <a:r>
              <a:rPr sz="2400" dirty="0">
                <a:solidFill>
                  <a:srgbClr val="222B22"/>
                </a:solidFill>
                <a:latin typeface="Calibri"/>
              </a:rPr>
              <a:t>One True Sentence — why each of us is here</a:t>
            </a:r>
          </a:p>
          <a:p>
            <a:pPr>
              <a:spcAft>
                <a:spcPts val="800"/>
              </a:spcAft>
            </a:pPr>
            <a:r>
              <a:rPr sz="2400" b="1" dirty="0">
                <a:solidFill>
                  <a:srgbClr val="97BC62"/>
                </a:solidFill>
                <a:latin typeface="Calibri"/>
              </a:rPr>
              <a:t>6   </a:t>
            </a:r>
            <a:r>
              <a:rPr sz="2400" dirty="0">
                <a:solidFill>
                  <a:srgbClr val="222B22"/>
                </a:solidFill>
                <a:latin typeface="Calibri"/>
              </a:rPr>
              <a:t>Scripture: John 10:10 — and the seed, stated plainly</a:t>
            </a:r>
          </a:p>
          <a:p>
            <a:pPr>
              <a:spcAft>
                <a:spcPts val="800"/>
              </a:spcAft>
            </a:pPr>
            <a:r>
              <a:rPr sz="2400" b="1" dirty="0">
                <a:solidFill>
                  <a:srgbClr val="97BC62"/>
                </a:solidFill>
                <a:latin typeface="Calibri"/>
              </a:rPr>
              <a:t>7   </a:t>
            </a:r>
            <a:r>
              <a:rPr sz="2400" dirty="0">
                <a:solidFill>
                  <a:srgbClr val="222B22"/>
                </a:solidFill>
                <a:latin typeface="Calibri"/>
              </a:rPr>
              <a:t>What does it mean to be saved?</a:t>
            </a:r>
          </a:p>
          <a:p>
            <a:pPr>
              <a:spcAft>
                <a:spcPts val="800"/>
              </a:spcAft>
            </a:pPr>
            <a:r>
              <a:rPr sz="2400" b="1" dirty="0">
                <a:solidFill>
                  <a:srgbClr val="97BC62"/>
                </a:solidFill>
                <a:latin typeface="Calibri"/>
              </a:rPr>
              <a:t>8   </a:t>
            </a:r>
            <a:r>
              <a:rPr sz="2400" dirty="0">
                <a:solidFill>
                  <a:srgbClr val="222B22"/>
                </a:solidFill>
                <a:latin typeface="Calibri"/>
              </a:rPr>
              <a:t>Homework commissioning — handout + check-in partners</a:t>
            </a:r>
          </a:p>
          <a:p>
            <a:pPr>
              <a:spcAft>
                <a:spcPts val="800"/>
              </a:spcAft>
            </a:pPr>
            <a:r>
              <a:rPr sz="2400" b="1" dirty="0">
                <a:solidFill>
                  <a:srgbClr val="97BC62"/>
                </a:solidFill>
                <a:latin typeface="Calibri"/>
              </a:rPr>
              <a:t>9   </a:t>
            </a:r>
            <a:r>
              <a:rPr sz="2400" dirty="0">
                <a:solidFill>
                  <a:srgbClr val="222B22"/>
                </a:solidFill>
                <a:latin typeface="Calibri"/>
              </a:rPr>
              <a:t>The Leader Feedback Round (debut) — both leaders</a:t>
            </a:r>
          </a:p>
          <a:p>
            <a:pPr>
              <a:spcAft>
                <a:spcPts val="800"/>
              </a:spcAft>
            </a:pPr>
            <a:r>
              <a:rPr sz="2400" b="1" dirty="0">
                <a:solidFill>
                  <a:srgbClr val="97BC62"/>
                </a:solidFill>
                <a:latin typeface="Calibri"/>
              </a:rPr>
              <a:t>10   </a:t>
            </a:r>
            <a:r>
              <a:rPr sz="2400" dirty="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4</a:t>
            </a:r>
            <a:endParaRPr sz="1000" b="1">
              <a:solidFill>
                <a:srgbClr val="7A8A6E"/>
              </a:solidFill>
              <a:latin typeface="Calibri"/>
            </a:endParaRPr>
          </a:p>
        </p:txBody>
      </p:sp>
      <p:sp>
        <p:nvSpPr>
          <p:cNvPr id="80" name="TextBox 80"/>
          <p:cNvSpPr txBox="1"/>
          <p:nvPr/>
        </p:nvSpPr>
        <p:spPr>
          <a:xfrm>
            <a:off x="8138160" y="2286000"/>
            <a:ext cx="3291840" cy="2194560"/>
          </a:xfrm>
          <a:prstGeom prst="rect">
            <a:avLst/>
          </a:prstGeom>
          <a:noFill/>
        </p:spPr>
        <p:txBody>
          <a:bodyPr wrap="square" lIns="91440" tIns="91440" rIns="91440" bIns="91440" anchor="t"/>
          <a:lstStyle/>
          <a:p>
            <a:pPr>
              <a:spcAft>
                <a:spcPts val="800"/>
              </a:spcAft>
            </a:pPr>
            <a:r>
              <a:rPr sz="1800" b="1" i="0">
                <a:solidFill>
                  <a:srgbClr val="97BC62"/>
                </a:solidFill>
                <a:latin typeface="Calibri"/>
              </a:rPr>
              <a:t>THIS YEAR, IN ONE LINE</a:t>
            </a:r>
          </a:p>
          <a:p>
            <a:pPr>
              <a:spcAft>
                <a:spcPts val="200"/>
              </a:spcAft>
            </a:pPr>
            <a:r>
              <a:rPr sz="2800" b="1" i="0">
                <a:solidFill>
                  <a:srgbClr val="2C5F2D"/>
                </a:solidFill>
                <a:latin typeface="Cambria"/>
              </a:rPr>
              <a:t>Hearing and obeying God</a:t>
            </a:r>
          </a:p>
          <a:p>
            <a:pPr>
              <a:spcAft>
                <a:spcPts val="200"/>
              </a:spcAft>
            </a:pPr>
            <a:r>
              <a:rPr sz="2800" b="1" i="0">
                <a:solidFill>
                  <a:srgbClr val="2C5F2D"/>
                </a:solidFill>
                <a:latin typeface="Cambria"/>
              </a:rPr>
              <a:t>Two leads tonight — handing the evening back and forth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 the Very-First-Time Orientation</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1">
                <a:solidFill>
                  <a:srgbClr val="222B22"/>
                </a:solidFill>
                <a:latin typeface="Calibri"/>
              </a:rPr>
              <a:t>“I came that they may have life and have it abundantly.”</a:t>
            </a:r>
            <a:r>
              <a:rPr sz="2200" b="1" i="0">
                <a:solidFill>
                  <a:srgbClr val="97BC62"/>
                </a:solidFill>
                <a:latin typeface="Calibri"/>
              </a:rPr>
              <a:t>  — John 10:10</a:t>
            </a:r>
          </a:p>
          <a:p>
            <a:pPr marL="274320" indent="-274320">
              <a:spcAft>
                <a:spcPts val="900"/>
              </a:spcAft>
            </a:pPr>
            <a:r>
              <a:rPr sz="2400" b="1" i="0">
                <a:solidFill>
                  <a:srgbClr val="97BC62"/>
                </a:solidFill>
                <a:latin typeface="Calibri"/>
              </a:rPr>
              <a:t>•  </a:t>
            </a:r>
            <a:r>
              <a:rPr sz="2400" b="0" i="0">
                <a:solidFill>
                  <a:srgbClr val="222B22"/>
                </a:solidFill>
                <a:latin typeface="Calibri"/>
              </a:rPr>
              <a:t>This is a journey of exploration</a:t>
            </a:r>
          </a:p>
          <a:p>
            <a:pPr marL="685800" indent="-274320">
              <a:spcAft>
                <a:spcPts val="700"/>
              </a:spcAft>
            </a:pPr>
            <a:r>
              <a:rPr sz="1800" b="1" i="0">
                <a:solidFill>
                  <a:srgbClr val="97BC62"/>
                </a:solidFill>
                <a:latin typeface="Calibri"/>
              </a:rPr>
              <a:t>–  </a:t>
            </a:r>
            <a:r>
              <a:rPr sz="1800" b="0" i="0">
                <a:solidFill>
                  <a:srgbClr val="222B22"/>
                </a:solidFill>
                <a:latin typeface="Calibri"/>
              </a:rPr>
              <a:t>Your heart</a:t>
            </a:r>
          </a:p>
          <a:p>
            <a:pPr marL="685800" indent="-274320">
              <a:spcAft>
                <a:spcPts val="700"/>
              </a:spcAft>
            </a:pPr>
            <a:r>
              <a:rPr sz="1800" b="1" i="0">
                <a:solidFill>
                  <a:srgbClr val="97BC62"/>
                </a:solidFill>
                <a:latin typeface="Calibri"/>
              </a:rPr>
              <a:t>–  </a:t>
            </a:r>
            <a:r>
              <a:rPr sz="1800" b="0" i="0">
                <a:solidFill>
                  <a:srgbClr val="222B22"/>
                </a:solidFill>
                <a:latin typeface="Calibri"/>
              </a:rPr>
              <a:t>This process — the plans, practices, and pages live at </a:t>
            </a:r>
            <a:r>
              <a:rPr sz="1800" b="0" i="0" u="sng">
                <a:solidFill>
                  <a:srgbClr val="2C5F2D"/>
                </a:solidFill>
                <a:latin typeface="Calibri"/>
                <a:hlinkClick r:id="rId3"/>
              </a:rPr>
              <a:t>the Fellowship of the Heart website</a:t>
            </a:r>
          </a:p>
          <a:p>
            <a:pPr marL="685800" indent="-274320">
              <a:spcAft>
                <a:spcPts val="700"/>
              </a:spcAft>
            </a:pPr>
            <a:r>
              <a:rPr sz="1800" b="1" i="0">
                <a:solidFill>
                  <a:srgbClr val="97BC62"/>
                </a:solidFill>
                <a:latin typeface="Calibri"/>
              </a:rPr>
              <a:t>–  </a:t>
            </a:r>
            <a:r>
              <a:rPr sz="1800" b="0" i="0">
                <a:solidFill>
                  <a:srgbClr val="222B22"/>
                </a:solidFill>
                <a:latin typeface="Calibri"/>
              </a:rPr>
              <a:t>This group</a:t>
            </a:r>
          </a:p>
          <a:p>
            <a:pPr marL="274320" indent="-274320">
              <a:spcAft>
                <a:spcPts val="900"/>
              </a:spcAft>
            </a:pPr>
            <a:r>
              <a:rPr sz="2400" b="1" i="0">
                <a:solidFill>
                  <a:srgbClr val="97BC62"/>
                </a:solidFill>
                <a:latin typeface="Calibri"/>
              </a:rPr>
              <a:t>•  </a:t>
            </a:r>
            <a:r>
              <a:rPr sz="2400" b="0" i="0">
                <a:solidFill>
                  <a:srgbClr val="222B22"/>
                </a:solidFill>
                <a:latin typeface="Calibri"/>
              </a:rPr>
              <a:t>This is not a youth group</a:t>
            </a:r>
          </a:p>
          <a:p>
            <a:pPr marL="274320" indent="-274320">
              <a:spcAft>
                <a:spcPts val="900"/>
              </a:spcAft>
            </a:pPr>
            <a:r>
              <a:rPr sz="2400" b="1" i="0">
                <a:solidFill>
                  <a:srgbClr val="97BC62"/>
                </a:solidFill>
                <a:latin typeface="Calibri"/>
              </a:rPr>
              <a:t>•  </a:t>
            </a:r>
            <a:r>
              <a:rPr sz="2400" b="0" i="0">
                <a:solidFill>
                  <a:srgbClr val="222B22"/>
                </a:solidFill>
                <a:latin typeface="Calibri"/>
              </a:rPr>
              <a:t>It is family formation and growth in Christ</a:t>
            </a:r>
          </a:p>
          <a:p>
            <a:pPr marL="274320" indent="-274320">
              <a:spcAft>
                <a:spcPts val="900"/>
              </a:spcAft>
            </a:pPr>
            <a:r>
              <a:rPr sz="2400" b="1" i="0">
                <a:solidFill>
                  <a:srgbClr val="97BC62"/>
                </a:solidFill>
                <a:latin typeface="Calibri"/>
              </a:rPr>
              <a:t>•  </a:t>
            </a:r>
            <a:r>
              <a:rPr sz="2400" b="0" i="0">
                <a:solidFill>
                  <a:srgbClr val="222B22"/>
                </a:solidFill>
                <a:latin typeface="Calibri"/>
              </a:rPr>
              <a:t>An offer of leadership opportunity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5</a:t>
            </a:r>
            <a:endParaRPr sz="1000" b="1">
              <a:solidFill>
                <a:srgbClr val="7A8A6E"/>
              </a:solidFill>
              <a:latin typeface="Calibri"/>
            </a:endParaRPr>
          </a:p>
        </p:txBody>
      </p:sp>
      <p:pic>
        <p:nvPicPr>
          <p:cNvPr id="30" name="Picture 30" descr="forest trail at sunrise"/>
          <p:cNvPicPr>
            <a:picLocks noChangeAspect="1"/>
          </p:cNvPicPr>
          <p:nvPr/>
        </p:nvPicPr>
        <p:blipFill>
          <a:blip r:embed="rId4"/>
          <a:stretch>
            <a:fillRect/>
          </a:stretch>
        </p:blipFill>
        <p:spPr>
          <a:xfrm>
            <a:off x="7635240" y="2377440"/>
            <a:ext cx="3977639" cy="2652588"/>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More Person You Should Know About</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Pastor Bobby Gore  ·  (831) 277-9878  —  not part of our team</a:t>
            </a:r>
          </a:p>
          <a:p>
            <a:pPr marL="274320" indent="-274320">
              <a:spcAft>
                <a:spcPts val="900"/>
              </a:spcAft>
            </a:pPr>
            <a:r>
              <a:rPr sz="2800" b="1" i="0">
                <a:solidFill>
                  <a:srgbClr val="97BC62"/>
                </a:solidFill>
                <a:latin typeface="Calibri"/>
              </a:rPr>
              <a:t>•  If something ever needs saying that you would rather not say to me, or to your Companion, or to your parents, you can go straight to him</a:t>
            </a:r>
          </a:p>
          <a:p>
            <a:pPr marL="274320" indent="-274320">
              <a:spcAft>
                <a:spcPts val="900"/>
              </a:spcAft>
            </a:pPr>
            <a:r>
              <a:rPr sz="2800" b="1" i="0">
                <a:solidFill>
                  <a:srgbClr val="97BC62"/>
                </a:solidFill>
                <a:latin typeface="Calibri"/>
              </a:rPr>
              <a:t>•  No reason needed, no permission needed, and nobody here will be told. It is on the page you take home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6</a:t>
            </a:r>
            <a:endParaRPr sz="1000" b="1">
              <a:solidFill>
                <a:srgbClr val="7A8A6E"/>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Connects</a:t>
            </a:r>
          </a:p>
        </p:txBody>
      </p:sp>
      <p:pic>
        <p:nvPicPr>
          <p:cNvPr id="5" name="Picture 4" descr="four-connects diagram"/>
          <p:cNvPicPr>
            <a:picLocks noChangeAspect="1"/>
          </p:cNvPicPr>
          <p:nvPr/>
        </p:nvPicPr>
        <p:blipFill>
          <a:blip r:embed="rId3"/>
          <a:stretch>
            <a:fillRect/>
          </a:stretch>
        </p:blipFill>
        <p:spPr>
          <a:xfrm>
            <a:off x="822960" y="1463040"/>
            <a:ext cx="10515600" cy="377190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4"/>
          <p:cNvSpPr txBox="1"/>
          <p:nvPr/>
        </p:nvSpPr>
        <p:spPr>
          <a:xfrm>
            <a:off x="822960" y="5372100"/>
            <a:ext cx="10515600" cy="640080"/>
          </a:xfrm>
          <a:prstGeom prst="rect">
            <a:avLst/>
          </a:prstGeom>
          <a:noFill/>
        </p:spPr>
        <p:txBody>
          <a:bodyPr wrap="square" lIns="91440" tIns="91440" rIns="91440" bIns="91440"/>
          <a:lstStyle/>
          <a:p>
            <a:pPr>
              <a:spcAft>
                <a:spcPts val="900"/>
              </a:spcAft>
            </a:pPr>
            <a:r>
              <a:rPr sz="2200" b="1" i="0">
                <a:solidFill>
                  <a:srgbClr val="97BC62"/>
                </a:solidFill>
                <a:latin typeface="Calibri"/>
              </a:rPr>
              <a:t>THE TWO GREAT COMMANDMENTS:  </a:t>
            </a:r>
            <a:r>
              <a:rPr sz="3600" b="1" i="0">
                <a:solidFill>
                  <a:srgbClr val="2C5F2D"/>
                </a:solidFill>
                <a:latin typeface="Calibri"/>
              </a:rPr>
              <a:t>Matthew 22:37–40</a:t>
            </a:r>
            <a:r>
              <a:rPr sz="2800" b="0" i="0">
                <a:solidFill>
                  <a:srgbClr val="222B22"/>
                </a:solidFill>
                <a:latin typeface="Calibri"/>
              </a:rPr>
              <a:t>   —   love God  ·  love your neighbor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7</a:t>
            </a:r>
            <a:endParaRPr sz="1000" b="1">
              <a:solidFill>
                <a:srgbClr val="7A8A6E"/>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Container Introduction</a:t>
            </a:r>
          </a:p>
        </p:txBody>
      </p:sp>
      <p:sp>
        <p:nvSpPr>
          <p:cNvPr id="4" name="TextBox 4"/>
          <p:cNvSpPr txBox="1"/>
          <p:nvPr/>
        </p:nvSpPr>
        <p:spPr>
          <a:xfrm>
            <a:off x="822960" y="1417320"/>
            <a:ext cx="6675120" cy="5029200"/>
          </a:xfrm>
          <a:prstGeom prst="rect">
            <a:avLst/>
          </a:prstGeom>
          <a:noFill/>
        </p:spPr>
        <p:txBody>
          <a:bodyPr wrap="square" lIns="91440" tIns="91440" rIns="91440" bIns="91440"/>
          <a:lstStyle/>
          <a:p>
            <a:pPr>
              <a:spcAft>
                <a:spcPts val="100"/>
              </a:spcAft>
            </a:pPr>
            <a:r>
              <a:rPr sz="2600" b="1" i="0">
                <a:solidFill>
                  <a:srgbClr val="2C5F2D"/>
                </a:solidFill>
                <a:latin typeface="Calibri"/>
              </a:rPr>
              <a:t>Safe</a:t>
            </a:r>
          </a:p>
          <a:p>
            <a:pPr marL="685800" indent="-274320">
              <a:spcAft>
                <a:spcPts val="100"/>
              </a:spcAft>
            </a:pPr>
            <a:r>
              <a:rPr sz="1800" b="1" i="0">
                <a:solidFill>
                  <a:srgbClr val="97BC62"/>
                </a:solidFill>
                <a:latin typeface="Calibri"/>
              </a:rPr>
              <a:t>–  </a:t>
            </a:r>
            <a:r>
              <a:rPr sz="1800" b="0" i="0">
                <a:solidFill>
                  <a:srgbClr val="222B22"/>
                </a:solidFill>
                <a:latin typeface="Calibri"/>
              </a:rPr>
              <a:t>What is shared in this room stays in this room — no judging, no fixing, no interrupting</a:t>
            </a:r>
          </a:p>
          <a:p>
            <a:pPr marL="685800" indent="-274320">
              <a:spcAft>
                <a:spcPts val="800"/>
              </a:spcAft>
            </a:pPr>
            <a:r>
              <a:rPr sz="1800" b="1" i="0">
                <a:solidFill>
                  <a:srgbClr val="97BC62"/>
                </a:solidFill>
                <a:latin typeface="Calibri"/>
              </a:rPr>
              <a:t>–  </a:t>
            </a:r>
            <a:r>
              <a:rPr sz="1800" b="0" i="0">
                <a:solidFill>
                  <a:srgbClr val="222B22"/>
                </a:solidFill>
                <a:latin typeface="Calibri"/>
              </a:rPr>
              <a:t>No shaming</a:t>
            </a:r>
          </a:p>
          <a:p>
            <a:pPr>
              <a:spcAft>
                <a:spcPts val="100"/>
              </a:spcAft>
            </a:pPr>
            <a:r>
              <a:rPr sz="2600" b="1" i="0">
                <a:solidFill>
                  <a:srgbClr val="2C5F2D"/>
                </a:solidFill>
                <a:latin typeface="Calibri"/>
              </a:rPr>
              <a:t>Present</a:t>
            </a:r>
          </a:p>
          <a:p>
            <a:pPr marL="685800" indent="-274320">
              <a:spcAft>
                <a:spcPts val="100"/>
              </a:spcAft>
            </a:pPr>
            <a:r>
              <a:rPr sz="1800" b="1" i="0">
                <a:solidFill>
                  <a:srgbClr val="97BC62"/>
                </a:solidFill>
                <a:latin typeface="Calibri"/>
              </a:rPr>
              <a:t>–  </a:t>
            </a:r>
            <a:r>
              <a:rPr sz="1800" b="0" i="0">
                <a:solidFill>
                  <a:srgbClr val="222B22"/>
                </a:solidFill>
                <a:latin typeface="Calibri"/>
              </a:rPr>
              <a:t>Focused here — in this room, with these people</a:t>
            </a:r>
          </a:p>
          <a:p>
            <a:pPr marL="685800" indent="-274320">
              <a:spcAft>
                <a:spcPts val="800"/>
              </a:spcAft>
            </a:pPr>
            <a:r>
              <a:rPr sz="1800" b="1" i="0">
                <a:solidFill>
                  <a:srgbClr val="97BC62"/>
                </a:solidFill>
                <a:latin typeface="Calibri"/>
              </a:rPr>
              <a:t>–  </a:t>
            </a:r>
            <a:r>
              <a:rPr sz="1800" b="0" i="0">
                <a:solidFill>
                  <a:srgbClr val="222B22"/>
                </a:solidFill>
                <a:latin typeface="Calibri"/>
              </a:rPr>
              <a:t>Phones silent and put away</a:t>
            </a:r>
          </a:p>
          <a:p>
            <a:pPr>
              <a:spcAft>
                <a:spcPts val="100"/>
              </a:spcAft>
            </a:pPr>
            <a:r>
              <a:rPr sz="2600" b="1" i="0">
                <a:solidFill>
                  <a:srgbClr val="2C5F2D"/>
                </a:solidFill>
                <a:latin typeface="Calibri"/>
              </a:rPr>
              <a:t>Clear</a:t>
            </a:r>
          </a:p>
          <a:p>
            <a:pPr marL="685800" indent="-274320">
              <a:spcAft>
                <a:spcPts val="800"/>
              </a:spcAft>
            </a:pPr>
            <a:r>
              <a:rPr sz="1800" b="1" i="0">
                <a:solidFill>
                  <a:srgbClr val="97BC62"/>
                </a:solidFill>
                <a:latin typeface="Calibri"/>
              </a:rPr>
              <a:t>–  </a:t>
            </a:r>
            <a:r>
              <a:rPr sz="1800" b="0" i="0">
                <a:solidFill>
                  <a:srgbClr val="222B22"/>
                </a:solidFill>
                <a:latin typeface="Calibri"/>
              </a:rPr>
              <a:t>Releasing any roadblocks to hearing — set them aside intentionally</a:t>
            </a:r>
          </a:p>
          <a:p>
            <a:pPr>
              <a:spcAft>
                <a:spcPts val="100"/>
              </a:spcAft>
            </a:pPr>
            <a:r>
              <a:rPr sz="2600" b="1" i="0">
                <a:solidFill>
                  <a:srgbClr val="2C5F2D"/>
                </a:solidFill>
                <a:latin typeface="Calibri"/>
              </a:rPr>
              <a:t>Intentional</a:t>
            </a:r>
          </a:p>
          <a:p>
            <a:pPr marL="685800" indent="-274320">
              <a:spcAft>
                <a:spcPts val="800"/>
              </a:spcAft>
            </a:pPr>
            <a:r>
              <a:rPr sz="1800" b="1" i="0">
                <a:solidFill>
                  <a:srgbClr val="97BC62"/>
                </a:solidFill>
                <a:latin typeface="Calibri"/>
              </a:rPr>
              <a:t>–  </a:t>
            </a:r>
            <a:r>
              <a:rPr sz="1800" b="0" i="1">
                <a:solidFill>
                  <a:srgbClr val="222B22"/>
                </a:solidFill>
                <a:latin typeface="Calibri"/>
              </a:rPr>
              <a:t>“I’m leaning in. I’m looking for what God has for me in the next seventy-five minutes.”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8</a:t>
            </a:r>
            <a:endParaRPr sz="1000" b="1">
              <a:solidFill>
                <a:srgbClr val="7A8A6E"/>
              </a:solidFill>
              <a:latin typeface="Calibri"/>
            </a:endParaRPr>
          </a:p>
        </p:txBody>
      </p:sp>
      <p:pic>
        <p:nvPicPr>
          <p:cNvPr id="30" name="Picture 30" descr="clay jar"/>
          <p:cNvPicPr>
            <a:picLocks noChangeAspect="1"/>
          </p:cNvPicPr>
          <p:nvPr/>
        </p:nvPicPr>
        <p:blipFill>
          <a:blip r:embed="rId3"/>
          <a:stretch>
            <a:fillRect/>
          </a:stretch>
        </p:blipFill>
        <p:spPr>
          <a:xfrm>
            <a:off x="7818120"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A3CB-1735-6BAF-54DA-2870D4D3F9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B91C68-1636-A514-EC31-E414ECC5082C}"/>
              </a:ext>
            </a:extLst>
          </p:cNvPr>
          <p:cNvSpPr/>
          <p:nvPr/>
        </p:nvSpPr>
        <p:spPr>
          <a:xfrm>
            <a:off x="0" y="0"/>
            <a:ext cx="12191695" cy="6858000"/>
          </a:xfrm>
          <a:prstGeom prst="rect">
            <a:avLst/>
          </a:prstGeom>
          <a:solidFill>
            <a:srgbClr val="FFFFFF"/>
          </a:solidFill>
          <a:ln>
            <a:noFill/>
          </a:ln>
        </p:spPr>
        <p:txBody>
          <a:bodyPr/>
          <a:lstStyle/>
          <a:p>
            <a:endParaRPr/>
          </a:p>
        </p:txBody>
      </p:sp>
      <p:sp>
        <p:nvSpPr>
          <p:cNvPr id="3" name="TextBox 2">
            <a:extLst>
              <a:ext uri="{FF2B5EF4-FFF2-40B4-BE49-F238E27FC236}">
                <a16:creationId xmlns:a16="http://schemas.microsoft.com/office/drawing/2014/main" id="{AFC64367-2079-FF19-90D0-F79B8C174203}"/>
              </a:ext>
            </a:extLst>
          </p:cNvPr>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Full Eight Steps</a:t>
            </a:r>
          </a:p>
        </p:txBody>
      </p:sp>
      <p:sp>
        <p:nvSpPr>
          <p:cNvPr id="4" name="TextBox 4">
            <a:extLst>
              <a:ext uri="{FF2B5EF4-FFF2-40B4-BE49-F238E27FC236}">
                <a16:creationId xmlns:a16="http://schemas.microsoft.com/office/drawing/2014/main" id="{8AA45D24-15AB-00A6-000A-B49A7251549C}"/>
              </a:ext>
            </a:extLst>
          </p:cNvPr>
          <p:cNvSpPr txBox="1"/>
          <p:nvPr/>
        </p:nvSpPr>
        <p:spPr>
          <a:xfrm>
            <a:off x="822960" y="1554480"/>
            <a:ext cx="10515600" cy="4754880"/>
          </a:xfrm>
          <a:prstGeom prst="rect">
            <a:avLst/>
          </a:prstGeom>
          <a:noFill/>
        </p:spPr>
        <p:txBody>
          <a:bodyPr wrap="square" lIns="91440" tIns="91440" rIns="91440" bIns="91440"/>
          <a:lstStyle/>
          <a:p>
            <a:pPr marL="342900" indent="-342900">
              <a:spcAft>
                <a:spcPts val="750"/>
              </a:spcAft>
            </a:pPr>
            <a:r>
              <a:rPr sz="2400" b="1" i="0" dirty="0">
                <a:solidFill>
                  <a:srgbClr val="97BC62"/>
                </a:solidFill>
                <a:latin typeface="Calibri"/>
              </a:rPr>
              <a:t>1   </a:t>
            </a:r>
            <a:r>
              <a:rPr sz="2400" b="0" i="0" dirty="0">
                <a:solidFill>
                  <a:srgbClr val="222B22"/>
                </a:solidFill>
                <a:latin typeface="Calibri"/>
              </a:rPr>
              <a:t>Welcome — the unhurried open of the container</a:t>
            </a:r>
          </a:p>
          <a:p>
            <a:pPr marL="342900" indent="-342900">
              <a:spcAft>
                <a:spcPts val="750"/>
              </a:spcAft>
            </a:pPr>
            <a:r>
              <a:rPr sz="2400" b="1" i="0" dirty="0">
                <a:solidFill>
                  <a:srgbClr val="97BC62"/>
                </a:solidFill>
                <a:latin typeface="Calibri"/>
              </a:rPr>
              <a:t>2   </a:t>
            </a:r>
            <a:r>
              <a:rPr sz="2400" b="0" i="0" dirty="0">
                <a:solidFill>
                  <a:srgbClr val="222B22"/>
                </a:solidFill>
                <a:latin typeface="Calibri"/>
              </a:rPr>
              <a:t>Phones silenced and put away</a:t>
            </a:r>
          </a:p>
          <a:p>
            <a:pPr marL="342900" indent="-342900">
              <a:spcAft>
                <a:spcPts val="750"/>
              </a:spcAft>
            </a:pPr>
            <a:r>
              <a:rPr sz="2400" b="1" i="0" dirty="0">
                <a:solidFill>
                  <a:srgbClr val="97BC62"/>
                </a:solidFill>
                <a:latin typeface="Calibri"/>
              </a:rPr>
              <a:t>3   </a:t>
            </a:r>
            <a:r>
              <a:rPr sz="2400" b="0" i="0" dirty="0">
                <a:solidFill>
                  <a:srgbClr val="222B22"/>
                </a:solidFill>
                <a:latin typeface="Calibri"/>
              </a:rPr>
              <a:t>Stand in a circle</a:t>
            </a:r>
          </a:p>
          <a:p>
            <a:pPr marL="342900" indent="-342900">
              <a:spcAft>
                <a:spcPts val="750"/>
              </a:spcAft>
            </a:pPr>
            <a:r>
              <a:rPr sz="2400" b="1" i="0" dirty="0">
                <a:solidFill>
                  <a:srgbClr val="97BC62"/>
                </a:solidFill>
                <a:latin typeface="Calibri"/>
              </a:rPr>
              <a:t>4   </a:t>
            </a:r>
            <a:r>
              <a:rPr sz="2400" b="0" i="0" dirty="0">
                <a:solidFill>
                  <a:srgbClr val="222B22"/>
                </a:solidFill>
                <a:latin typeface="Calibri"/>
              </a:rPr>
              <a:t>One-word check-in — how you actually are, right now</a:t>
            </a:r>
          </a:p>
          <a:p>
            <a:pPr marL="342900" indent="-342900">
              <a:spcAft>
                <a:spcPts val="750"/>
              </a:spcAft>
            </a:pPr>
            <a:r>
              <a:rPr sz="2400" b="1" i="0" dirty="0">
                <a:solidFill>
                  <a:srgbClr val="97BC62"/>
                </a:solidFill>
                <a:latin typeface="Calibri"/>
              </a:rPr>
              <a:t>5   </a:t>
            </a:r>
            <a:r>
              <a:rPr sz="2400" b="0" i="0" dirty="0">
                <a:solidFill>
                  <a:srgbClr val="222B22"/>
                </a:solidFill>
                <a:latin typeface="Calibri"/>
              </a:rPr>
              <a:t>Put out / bring in — set something down; bring a blessing in</a:t>
            </a:r>
          </a:p>
          <a:p>
            <a:pPr marL="342900" indent="-342900">
              <a:spcAft>
                <a:spcPts val="750"/>
              </a:spcAft>
            </a:pPr>
            <a:r>
              <a:rPr sz="2400" b="1" i="0" dirty="0">
                <a:solidFill>
                  <a:srgbClr val="97BC62"/>
                </a:solidFill>
                <a:latin typeface="Calibri"/>
              </a:rPr>
              <a:t>6   </a:t>
            </a:r>
            <a:r>
              <a:rPr sz="2400" b="0" i="0" dirty="0">
                <a:solidFill>
                  <a:srgbClr val="222B22"/>
                </a:solidFill>
                <a:latin typeface="Calibri"/>
              </a:rPr>
              <a:t>Spoken commitment: “I am here. I am paying attention. I am willing to be moved.”</a:t>
            </a:r>
          </a:p>
          <a:p>
            <a:pPr marL="342900" indent="-342900">
              <a:spcAft>
                <a:spcPts val="750"/>
              </a:spcAft>
            </a:pPr>
            <a:r>
              <a:rPr sz="2400" b="1" i="0" dirty="0">
                <a:solidFill>
                  <a:srgbClr val="97BC62"/>
                </a:solidFill>
                <a:latin typeface="Calibri"/>
              </a:rPr>
              <a:t>7   </a:t>
            </a:r>
            <a:r>
              <a:rPr sz="2400" b="0" i="0" dirty="0">
                <a:solidFill>
                  <a:srgbClr val="222B22"/>
                </a:solidFill>
                <a:latin typeface="Calibri"/>
              </a:rPr>
              <a:t>Opening prayer — “Holy Spirit, you are welcome here. Speak. We are listening.”</a:t>
            </a:r>
          </a:p>
          <a:p>
            <a:pPr marL="342900" indent="-342900">
              <a:spcAft>
                <a:spcPts val="750"/>
              </a:spcAft>
            </a:pPr>
            <a:r>
              <a:rPr sz="2400" b="1" i="0" dirty="0">
                <a:solidFill>
                  <a:srgbClr val="97BC62"/>
                </a:solidFill>
                <a:latin typeface="Calibri"/>
              </a:rPr>
              <a:t>8   </a:t>
            </a:r>
            <a:r>
              <a:rPr sz="2400" b="0" i="0" dirty="0">
                <a:solidFill>
                  <a:srgbClr val="222B22"/>
                </a:solidFill>
                <a:latin typeface="Calibri"/>
              </a:rPr>
              <a:t>Sit. Begin.</a:t>
            </a:r>
          </a:p>
        </p:txBody>
      </p:sp>
      <p:sp>
        <p:nvSpPr>
          <p:cNvPr id="90" name="SlideNum">
            <a:extLst>
              <a:ext uri="{FF2B5EF4-FFF2-40B4-BE49-F238E27FC236}">
                <a16:creationId xmlns:a16="http://schemas.microsoft.com/office/drawing/2014/main" id="{B3F47171-AA3A-79BA-0DB5-F2E0CB466238}"/>
              </a:ext>
            </a:extLst>
          </p:cNvPr>
          <p:cNvSpPr txBox="1"/>
          <p:nvPr/>
        </p:nvSpPr>
        <p:spPr>
          <a:xfrm>
            <a:off x="11384280" y="6446520"/>
            <a:ext cx="640080" cy="292608"/>
          </a:xfrm>
          <a:prstGeom prst="rect">
            <a:avLst/>
          </a:prstGeom>
          <a:noFill/>
        </p:spPr>
        <p:txBody>
          <a:bodyPr wrap="none" lIns="0" tIns="0" rIns="45720" bIns="0" anchor="ctr"/>
          <a:lstStyle/>
          <a:p>
            <a:pPr algn="r"/>
            <a:r>
              <a:t>9</a:t>
            </a:r>
            <a:endParaRPr sz="1000" b="1">
              <a:solidFill>
                <a:srgbClr val="7A8A6E"/>
              </a:solidFill>
              <a:latin typeface="Calibri"/>
            </a:endParaRPr>
          </a:p>
        </p:txBody>
      </p:sp>
    </p:spTree>
    <p:extLst>
      <p:ext uri="{BB962C8B-B14F-4D97-AF65-F5344CB8AC3E}">
        <p14:creationId xmlns:p14="http://schemas.microsoft.com/office/powerpoint/2010/main" val="248454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True Sentence — Why Each of Us Is Here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Around the circle: one true sentence about why you are here tonight</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 not a paragraph, not a story</a:t>
            </a:r>
          </a:p>
          <a:p>
            <a:pPr marL="274320" indent="-274320">
              <a:spcAft>
                <a:spcPts val="900"/>
              </a:spcAft>
            </a:pPr>
            <a:r>
              <a:rPr sz="2800" b="1" i="0">
                <a:solidFill>
                  <a:srgbClr val="97BC62"/>
                </a:solidFill>
                <a:latin typeface="Calibri"/>
              </a:rPr>
              <a:t>•  </a:t>
            </a:r>
            <a:r>
              <a:rPr sz="2800" b="0" i="0">
                <a:solidFill>
                  <a:srgbClr val="222B22"/>
                </a:solidFill>
                <a:latin typeface="Calibri"/>
              </a:rPr>
              <a:t>The word that matters is “true” — not what you think we want to hear</a:t>
            </a:r>
          </a:p>
          <a:p>
            <a:pPr marL="274320" indent="-274320">
              <a:spcAft>
                <a:spcPts val="900"/>
              </a:spcAft>
            </a:pPr>
            <a:r>
              <a:rPr sz="2800" b="1" i="0">
                <a:solidFill>
                  <a:srgbClr val="97BC62"/>
                </a:solidFill>
                <a:latin typeface="Calibri"/>
              </a:rPr>
              <a:t>•  </a:t>
            </a:r>
            <a:r>
              <a:rPr sz="2800" b="0" i="0">
                <a:solidFill>
                  <a:srgbClr val="222B22"/>
                </a:solidFill>
                <a:latin typeface="Calibri"/>
              </a:rPr>
              <a:t>“Because Mom said I had to be here” counts. “I don’t know yet” counts.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10</a:t>
            </a:r>
            <a:endParaRPr sz="1000" b="1">
              <a:solidFill>
                <a:srgbClr val="7A8A6E"/>
              </a:solidFill>
              <a:latin typeface="Calibri"/>
            </a:endParaRPr>
          </a:p>
        </p:txBody>
      </p:sp>
      <p:pic>
        <p:nvPicPr>
          <p:cNvPr id="30" name="Picture 30" descr="circle of chairs"/>
          <p:cNvPicPr>
            <a:picLocks noChangeAspect="1"/>
          </p:cNvPicPr>
          <p:nvPr/>
        </p:nvPicPr>
        <p:blipFill>
          <a:blip r:embed="rId3"/>
          <a:stretch>
            <a:fillRect/>
          </a:stretch>
        </p:blipFill>
        <p:spPr>
          <a:xfrm>
            <a:off x="7818120"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John 10:10 — and the Seed, Stated Plainly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11</a:t>
            </a:r>
            <a:endParaRPr sz="1000" b="1">
              <a:solidFill>
                <a:srgbClr val="7A8A6E"/>
              </a:solidFill>
              <a:latin typeface="Calibri"/>
            </a:endParaRPr>
          </a:p>
        </p:txBody>
      </p:sp>
      <p:sp>
        <p:nvSpPr>
          <p:cNvPr id="230" name="John1010Card"/>
          <p:cNvSpPr txBox="1"/>
          <p:nvPr/>
        </p:nvSpPr>
        <p:spPr>
          <a:xfrm>
            <a:off x="822960" y="1417320"/>
            <a:ext cx="10515600" cy="2286000"/>
          </a:xfrm>
          <a:prstGeom prst="rect">
            <a:avLst/>
          </a:prstGeom>
          <a:solidFill>
            <a:srgbClr val="F1F6EC"/>
          </a:solidFill>
        </p:spPr>
        <p:txBody>
          <a:bodyPr wrap="square" lIns="182880" tIns="91440" rIns="182880" bIns="91440" anchor="ctr"/>
          <a:lstStyle/>
          <a:p>
            <a:pPr>
              <a:spcAft>
                <a:spcPts val="1000"/>
              </a:spcAft>
            </a:pPr>
            <a:r>
              <a:rPr sz="1200" b="1" i="0">
                <a:solidFill>
                  <a:srgbClr val="97BC62"/>
                </a:solidFill>
                <a:latin typeface="Calibri"/>
              </a:rPr>
              <a:t>JOHN 10:10</a:t>
            </a:r>
          </a:p>
          <a:p>
            <a:pPr>
              <a:spcAft>
                <a:spcPts val="600"/>
              </a:spcAft>
            </a:pPr>
            <a:r>
              <a:rPr sz="2400" b="0" i="1">
                <a:solidFill>
                  <a:srgbClr val="222B22"/>
                </a:solidFill>
                <a:latin typeface="Cambria"/>
              </a:rPr>
              <a:t>“The thief comes only to steal and kill and destroy. I came that they may have life and have it abundantly.”</a:t>
            </a:r>
          </a:p>
        </p:txBody>
      </p:sp>
      <p:sp>
        <p:nvSpPr>
          <p:cNvPr id="231" name="CarryHome"/>
          <p:cNvSpPr txBox="1"/>
          <p:nvPr/>
        </p:nvSpPr>
        <p:spPr>
          <a:xfrm>
            <a:off x="822960" y="4114800"/>
            <a:ext cx="10515600" cy="1737360"/>
          </a:xfrm>
          <a:prstGeom prst="rect">
            <a:avLst/>
          </a:prstGeom>
          <a:noFill/>
        </p:spPr>
        <p:txBody>
          <a:bodyPr wrap="square"/>
          <a:lstStyle/>
          <a:p>
            <a:pPr algn="l">
              <a:spcAft>
                <a:spcPts val="800"/>
              </a:spcAft>
            </a:pPr>
            <a:r>
              <a:rPr sz="1800" b="1" i="0" dirty="0">
                <a:solidFill>
                  <a:srgbClr val="97BC62"/>
                </a:solidFill>
                <a:latin typeface="Calibri"/>
              </a:rPr>
              <a:t>THE QUESTION TO CARRY HOME — NOT TO ANSWER TONIGHT</a:t>
            </a:r>
          </a:p>
          <a:p>
            <a:pPr algn="l"/>
            <a:r>
              <a:rPr sz="2800" b="0" i="1" dirty="0">
                <a:solidFill>
                  <a:srgbClr val="222B22"/>
                </a:solidFill>
                <a:latin typeface="Cambria"/>
              </a:rPr>
              <a:t>“Where in my life am I living abundantly, and where am I living some thinner version of life that Jesus did not come to give 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12</a:t>
            </a:r>
            <a:endParaRPr sz="1000" b="1">
              <a:solidFill>
                <a:srgbClr val="7A8A6E"/>
              </a:solidFill>
              <a:latin typeface="Calibri"/>
            </a:endParaRPr>
          </a:p>
        </p:txBody>
      </p:sp>
      <p:sp>
        <p:nvSpPr>
          <p:cNvPr id="230" name="BigQuestion"/>
          <p:cNvSpPr txBox="1"/>
          <p:nvPr/>
        </p:nvSpPr>
        <p:spPr>
          <a:xfrm>
            <a:off x="822960" y="2377440"/>
            <a:ext cx="10515600" cy="2011680"/>
          </a:xfrm>
          <a:prstGeom prst="rect">
            <a:avLst/>
          </a:prstGeom>
          <a:noFill/>
        </p:spPr>
        <p:txBody>
          <a:bodyPr wrap="square"/>
          <a:lstStyle/>
          <a:p>
            <a:pPr algn="ctr"/>
            <a:r>
              <a:rPr sz="4000" b="1" i="0">
                <a:solidFill>
                  <a:srgbClr val="2C5F2D"/>
                </a:solidFill>
                <a:latin typeface="Cambria"/>
              </a:rPr>
              <a:t>What does it mean to be saved?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Does It Mean to Be Saved?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13</a:t>
            </a:r>
            <a:endParaRPr sz="1000" b="1">
              <a:solidFill>
                <a:srgbClr val="7A8A6E"/>
              </a:solidFill>
              <a:latin typeface="Calibri"/>
            </a:endParaRPr>
          </a:p>
        </p:txBody>
      </p:sp>
      <p:sp>
        <p:nvSpPr>
          <p:cNvPr id="220" name="LukeCard"/>
          <p:cNvSpPr txBox="1"/>
          <p:nvPr/>
        </p:nvSpPr>
        <p:spPr>
          <a:xfrm>
            <a:off x="822960" y="1481328"/>
            <a:ext cx="5120640" cy="2514600"/>
          </a:xfrm>
          <a:prstGeom prst="rect">
            <a:avLst/>
          </a:prstGeom>
          <a:solidFill>
            <a:srgbClr val="F1F6EC"/>
          </a:solidFill>
        </p:spPr>
        <p:txBody>
          <a:bodyPr wrap="square" lIns="137160" tIns="91440" rIns="137160" bIns="91440" anchor="ctr"/>
          <a:lstStyle/>
          <a:p>
            <a:pPr>
              <a:spcAft>
                <a:spcPts val="800"/>
              </a:spcAft>
            </a:pPr>
            <a:r>
              <a:rPr sz="1200" b="1" i="0" dirty="0">
                <a:solidFill>
                  <a:srgbClr val="97BC62"/>
                </a:solidFill>
                <a:latin typeface="Calibri"/>
              </a:rPr>
              <a:t>LUKE 23:42–43</a:t>
            </a:r>
          </a:p>
          <a:p>
            <a:pPr>
              <a:spcAft>
                <a:spcPts val="400"/>
              </a:spcAft>
            </a:pPr>
            <a:r>
              <a:rPr sz="2400" b="0" i="1" dirty="0">
                <a:solidFill>
                  <a:srgbClr val="222B22"/>
                </a:solidFill>
                <a:latin typeface="Cambria"/>
              </a:rPr>
              <a:t>“And he said, ‘Jesus, remember me when you come into your kingdom.’ And he said to him, ‘Truly, I say to you, today you will be with me in paradise.’”</a:t>
            </a:r>
          </a:p>
        </p:txBody>
      </p:sp>
      <p:sp>
        <p:nvSpPr>
          <p:cNvPr id="221" name="RomCard"/>
          <p:cNvSpPr txBox="1"/>
          <p:nvPr/>
        </p:nvSpPr>
        <p:spPr>
          <a:xfrm>
            <a:off x="6217920" y="1481328"/>
            <a:ext cx="5120640" cy="2514600"/>
          </a:xfrm>
          <a:prstGeom prst="rect">
            <a:avLst/>
          </a:prstGeom>
          <a:solidFill>
            <a:srgbClr val="F1F6EC"/>
          </a:solidFill>
        </p:spPr>
        <p:txBody>
          <a:bodyPr wrap="square" lIns="137160" tIns="91440" rIns="137160" bIns="91440" anchor="ctr"/>
          <a:lstStyle/>
          <a:p>
            <a:pPr>
              <a:spcAft>
                <a:spcPts val="800"/>
              </a:spcAft>
            </a:pPr>
            <a:r>
              <a:rPr sz="1200" b="1" i="0" dirty="0">
                <a:solidFill>
                  <a:srgbClr val="97BC62"/>
                </a:solidFill>
                <a:latin typeface="Calibri"/>
              </a:rPr>
              <a:t>ROMANS 10:9–10</a:t>
            </a:r>
          </a:p>
          <a:p>
            <a:pPr>
              <a:spcAft>
                <a:spcPts val="400"/>
              </a:spcAft>
            </a:pPr>
            <a:r>
              <a:rPr sz="2000" b="0" i="1" dirty="0">
                <a:solidFill>
                  <a:srgbClr val="222B22"/>
                </a:solidFill>
                <a:latin typeface="Cambria"/>
              </a:rPr>
              <a:t>“because, if you confess with your mouth that Jesus is Lord and believe in your heart that God raised him from the dead, you will be saved. For with the heart one believes and is justified, and with the mouth one confesses and is saved.”</a:t>
            </a:r>
          </a:p>
        </p:txBody>
      </p:sp>
      <p:sp>
        <p:nvSpPr>
          <p:cNvPr id="222" name="Definition"/>
          <p:cNvSpPr txBox="1"/>
          <p:nvPr/>
        </p:nvSpPr>
        <p:spPr>
          <a:xfrm>
            <a:off x="822960" y="4224528"/>
            <a:ext cx="10515600" cy="914400"/>
          </a:xfrm>
          <a:prstGeom prst="rect">
            <a:avLst/>
          </a:prstGeom>
          <a:noFill/>
        </p:spPr>
        <p:txBody>
          <a:bodyPr wrap="square"/>
          <a:lstStyle/>
          <a:p>
            <a:pPr algn="l"/>
            <a:r>
              <a:rPr sz="2400" b="1" i="0">
                <a:solidFill>
                  <a:srgbClr val="222B22"/>
                </a:solidFill>
                <a:latin typeface="Cambria"/>
              </a:rPr>
              <a:t>Saved: the desire to be connected to Christ, acted on by turning to Him.</a:t>
            </a:r>
          </a:p>
        </p:txBody>
      </p:sp>
      <p:sp>
        <p:nvSpPr>
          <p:cNvPr id="223" name="Facts"/>
          <p:cNvSpPr txBox="1"/>
          <p:nvPr/>
        </p:nvSpPr>
        <p:spPr>
          <a:xfrm>
            <a:off x="822960" y="5257800"/>
            <a:ext cx="10515600" cy="1097280"/>
          </a:xfrm>
          <a:prstGeom prst="rect">
            <a:avLst/>
          </a:prstGeom>
          <a:noFill/>
        </p:spPr>
        <p:txBody>
          <a:bodyPr wrap="square"/>
          <a:lstStyle/>
          <a:p>
            <a:pPr algn="l"/>
            <a:r>
              <a:rPr sz="1800" b="0" i="1">
                <a:solidFill>
                  <a:srgbClr val="222B22"/>
                </a:solidFill>
                <a:latin typeface="Calibri"/>
              </a:rPr>
              <a:t>No baptism. No church attendance. No cleaned-up life. No time left — he had hours. He wanted Jesus, and he turned to Him — and Jesus said yes. Heart and mouth: believe, and say so. Not a certificate. A connection.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As Far as the East Is from the West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14</a:t>
            </a:r>
            <a:endParaRPr sz="1000" b="1">
              <a:solidFill>
                <a:srgbClr val="7A8A6E"/>
              </a:solidFill>
              <a:latin typeface="Calibri"/>
            </a:endParaRPr>
          </a:p>
        </p:txBody>
      </p:sp>
      <p:sp>
        <p:nvSpPr>
          <p:cNvPr id="230" name="John1010Card"/>
          <p:cNvSpPr txBox="1"/>
          <p:nvPr/>
        </p:nvSpPr>
        <p:spPr>
          <a:xfrm>
            <a:off x="822960" y="1380000"/>
            <a:ext cx="10515600" cy="1330000"/>
          </a:xfrm>
          <a:prstGeom prst="rect">
            <a:avLst/>
          </a:prstGeom>
          <a:solidFill>
            <a:srgbClr val="F1F6EC"/>
          </a:solidFill>
        </p:spPr>
        <p:txBody>
          <a:bodyPr wrap="square" lIns="182880" tIns="91440" rIns="182880" bIns="91440" anchor="ctr"/>
          <a:lstStyle/>
          <a:p>
            <a:pPr>
              <a:spcAft>
                <a:spcPts val="1000"/>
              </a:spcAft>
            </a:pPr>
            <a:r>
              <a:rPr sz="1200" b="1" i="0">
                <a:solidFill>
                  <a:srgbClr val="97BC62"/>
                </a:solidFill>
                <a:latin typeface="Calibri"/>
              </a:rPr>
              <a:t>PSALM 103:12</a:t>
            </a:r>
          </a:p>
          <a:p>
            <a:pPr>
              <a:spcAft>
                <a:spcPts val="600"/>
              </a:spcAft>
            </a:pPr>
            <a:r>
              <a:rPr sz="2400" b="0" i="1">
                <a:solidFill>
                  <a:srgbClr val="222B22"/>
                </a:solidFill>
                <a:latin typeface="Cambria"/>
              </a:rPr>
              <a:t>“as far as the east is from the west, so far does he remove our transgressions from us.”</a:t>
            </a:r>
          </a:p>
        </p:txBody>
      </p:sp>
      <p:sp>
        <p:nvSpPr>
          <p:cNvPr id="231" name="CarryHome"/>
          <p:cNvSpPr txBox="1"/>
          <p:nvPr/>
        </p:nvSpPr>
        <p:spPr>
          <a:xfrm>
            <a:off x="822960" y="5620000"/>
            <a:ext cx="10515600" cy="560000"/>
          </a:xfrm>
          <a:prstGeom prst="rect">
            <a:avLst/>
          </a:prstGeom>
          <a:noFill/>
        </p:spPr>
        <p:txBody>
          <a:bodyPr wrap="square"/>
          <a:lstStyle/>
          <a:p>
            <a:pPr algn="ctr">
              <a:spcAft>
                <a:spcPts val="800"/>
              </a:spcAft>
            </a:pPr>
            <a:r>
              <a:rPr sz="1800" b="1" i="0" dirty="0">
                <a:solidFill>
                  <a:srgbClr val="222B22"/>
                </a:solidFill>
                <a:latin typeface="Calibri"/>
              </a:rPr>
              <a:t>It is all about which way you are pointing. Catch yourself pointing east, and turn.</a:t>
            </a:r>
          </a:p>
        </p:txBody>
      </p:sp>
      <p:sp>
        <p:nvSpPr>
          <p:cNvPr id="232" name="Oval 231"/>
          <p:cNvSpPr/>
          <p:nvPr/>
        </p:nvSpPr>
        <p:spPr>
          <a:xfrm>
            <a:off x="5016000" y="3100000"/>
            <a:ext cx="2160000" cy="2160000"/>
          </a:xfrm>
          <a:prstGeom prst="ellipse">
            <a:avLst/>
          </a:prstGeom>
          <a:noFill/>
          <a:ln w="15875">
            <a:solidFill>
              <a:srgbClr val="AAB4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Rectangle 232"/>
          <p:cNvSpPr/>
          <p:nvPr/>
        </p:nvSpPr>
        <p:spPr>
          <a:xfrm>
            <a:off x="6087000" y="2980000"/>
            <a:ext cx="18000" cy="2400000"/>
          </a:xfrm>
          <a:prstGeom prst="rect">
            <a:avLst/>
          </a:prstGeom>
          <a:solidFill>
            <a:srgbClr val="AAB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Left-Right Arrow 233"/>
          <p:cNvSpPr/>
          <p:nvPr/>
        </p:nvSpPr>
        <p:spPr>
          <a:xfrm>
            <a:off x="4686000" y="4010000"/>
            <a:ext cx="2820000" cy="340000"/>
          </a:xfrm>
          <a:prstGeom prst="lef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5746000" y="2540000"/>
            <a:ext cx="700000" cy="460000"/>
          </a:xfrm>
          <a:prstGeom prst="rect">
            <a:avLst/>
          </a:prstGeom>
          <a:noFill/>
        </p:spPr>
        <p:txBody>
          <a:bodyPr wrap="none" anchor="ctr">
            <a:spAutoFit/>
          </a:bodyPr>
          <a:lstStyle/>
          <a:p>
            <a:pPr algn="ctr"/>
            <a:r>
              <a:rPr sz="1500" b="1">
                <a:solidFill>
                  <a:srgbClr val="AAB4AA"/>
                </a:solidFill>
                <a:latin typeface="Cambria"/>
              </a:rPr>
              <a:t>N</a:t>
            </a:r>
          </a:p>
        </p:txBody>
      </p:sp>
      <p:sp>
        <p:nvSpPr>
          <p:cNvPr id="236" name="TextBox 235"/>
          <p:cNvSpPr txBox="1"/>
          <p:nvPr/>
        </p:nvSpPr>
        <p:spPr>
          <a:xfrm>
            <a:off x="5746000" y="5360000"/>
            <a:ext cx="700000" cy="460000"/>
          </a:xfrm>
          <a:prstGeom prst="rect">
            <a:avLst/>
          </a:prstGeom>
          <a:noFill/>
        </p:spPr>
        <p:txBody>
          <a:bodyPr wrap="none" anchor="ctr">
            <a:spAutoFit/>
          </a:bodyPr>
          <a:lstStyle/>
          <a:p>
            <a:pPr algn="ctr"/>
            <a:r>
              <a:rPr sz="1500" b="1">
                <a:solidFill>
                  <a:srgbClr val="AAB4AA"/>
                </a:solidFill>
                <a:latin typeface="Cambria"/>
              </a:rPr>
              <a:t>S</a:t>
            </a:r>
          </a:p>
        </p:txBody>
      </p:sp>
      <p:sp>
        <p:nvSpPr>
          <p:cNvPr id="237" name="TextBox 236"/>
          <p:cNvSpPr txBox="1"/>
          <p:nvPr/>
        </p:nvSpPr>
        <p:spPr>
          <a:xfrm>
            <a:off x="4046000" y="3950000"/>
            <a:ext cx="700000" cy="460000"/>
          </a:xfrm>
          <a:prstGeom prst="rect">
            <a:avLst/>
          </a:prstGeom>
          <a:noFill/>
        </p:spPr>
        <p:txBody>
          <a:bodyPr wrap="none" anchor="ctr">
            <a:spAutoFit/>
          </a:bodyPr>
          <a:lstStyle/>
          <a:p>
            <a:pPr algn="ctr"/>
            <a:r>
              <a:rPr sz="2600" b="1">
                <a:solidFill>
                  <a:srgbClr val="2C5F2D"/>
                </a:solidFill>
                <a:latin typeface="Cambria"/>
              </a:rPr>
              <a:t>W</a:t>
            </a:r>
          </a:p>
        </p:txBody>
      </p:sp>
      <p:sp>
        <p:nvSpPr>
          <p:cNvPr id="238" name="TextBox 237"/>
          <p:cNvSpPr txBox="1"/>
          <p:nvPr/>
        </p:nvSpPr>
        <p:spPr>
          <a:xfrm>
            <a:off x="7446000" y="3950000"/>
            <a:ext cx="700000" cy="460000"/>
          </a:xfrm>
          <a:prstGeom prst="rect">
            <a:avLst/>
          </a:prstGeom>
          <a:noFill/>
        </p:spPr>
        <p:txBody>
          <a:bodyPr wrap="none" anchor="ctr">
            <a:spAutoFit/>
          </a:bodyPr>
          <a:lstStyle/>
          <a:p>
            <a:pPr algn="ctr"/>
            <a:r>
              <a:rPr sz="2600" b="1">
                <a:solidFill>
                  <a:srgbClr val="2C5F2D"/>
                </a:solidFill>
                <a:latin typeface="Cambria"/>
              </a:rPr>
              <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First Page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15</a:t>
            </a:r>
            <a:endParaRPr sz="1000" b="1">
              <a:solidFill>
                <a:srgbClr val="7A8A6E"/>
              </a:solidFill>
              <a:latin typeface="Calibri"/>
            </a:endParaRPr>
          </a:p>
        </p:txBody>
      </p:sp>
      <p:sp>
        <p:nvSpPr>
          <p:cNvPr id="200" name="Question"/>
          <p:cNvSpPr txBox="1"/>
          <p:nvPr/>
        </p:nvSpPr>
        <p:spPr>
          <a:xfrm>
            <a:off x="822960" y="1554480"/>
            <a:ext cx="10515600" cy="1737360"/>
          </a:xfrm>
          <a:prstGeom prst="rect">
            <a:avLst/>
          </a:prstGeom>
          <a:noFill/>
        </p:spPr>
        <p:txBody>
          <a:bodyPr wrap="square"/>
          <a:lstStyle/>
          <a:p>
            <a:pPr algn="l"/>
            <a:r>
              <a:rPr sz="2800" b="1" i="0">
                <a:solidFill>
                  <a:srgbClr val="222B22"/>
                </a:solidFill>
                <a:latin typeface="Cambria"/>
              </a:rPr>
              <a:t>If you could ask God one question — and know that He would answer it for you this year — what would you ask Him?</a:t>
            </a:r>
          </a:p>
        </p:txBody>
      </p:sp>
      <p:sp>
        <p:nvSpPr>
          <p:cNvPr id="201" name="Bullets"/>
          <p:cNvSpPr txBox="1"/>
          <p:nvPr/>
        </p:nvSpPr>
        <p:spPr>
          <a:xfrm>
            <a:off x="822960" y="3474720"/>
            <a:ext cx="10515600" cy="210312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Open your journal to the very first page — write it in your own handwriting</a:t>
            </a:r>
          </a:p>
          <a:p>
            <a:pPr marL="274320" indent="-274320">
              <a:spcAft>
                <a:spcPts val="900"/>
              </a:spcAft>
            </a:pPr>
            <a:r>
              <a:rPr sz="2200" b="1" i="0">
                <a:solidFill>
                  <a:srgbClr val="97BC62"/>
                </a:solidFill>
                <a:latin typeface="Calibri"/>
              </a:rPr>
              <a:t>•  </a:t>
            </a:r>
            <a:r>
              <a:rPr sz="2200" b="0" i="0">
                <a:solidFill>
                  <a:srgbClr val="222B22"/>
                </a:solidFill>
                <a:latin typeface="Calibri"/>
              </a:rPr>
              <a:t>The question you actually have — not the one you’re supposed to have</a:t>
            </a:r>
          </a:p>
          <a:p>
            <a:pPr marL="274320" indent="-274320">
              <a:spcAft>
                <a:spcPts val="900"/>
              </a:spcAft>
            </a:pPr>
            <a:r>
              <a:rPr sz="2200" b="1" i="0">
                <a:solidFill>
                  <a:srgbClr val="97BC62"/>
                </a:solidFill>
                <a:latin typeface="Calibri"/>
              </a:rPr>
              <a:t>•  </a:t>
            </a:r>
            <a:r>
              <a:rPr sz="2200" b="0" i="0">
                <a:solidFill>
                  <a:srgbClr val="222B22"/>
                </a:solidFill>
                <a:latin typeface="Calibri"/>
              </a:rPr>
              <a:t>Date it. Nobody will ever read it — the journal is yours, never collected</a:t>
            </a:r>
          </a:p>
          <a:p>
            <a:pPr marL="274320" indent="-274320">
              <a:spcAft>
                <a:spcPts val="900"/>
              </a:spcAft>
            </a:pPr>
            <a:r>
              <a:rPr sz="2200" b="1" i="0">
                <a:solidFill>
                  <a:srgbClr val="97BC62"/>
                </a:solidFill>
                <a:latin typeface="Calibri"/>
              </a:rPr>
              <a:t>•  </a:t>
            </a:r>
            <a:r>
              <a:rPr sz="2200" b="0" i="0">
                <a:solidFill>
                  <a:srgbClr val="222B22"/>
                </a:solidFill>
                <a:latin typeface="Calibri"/>
              </a:rPr>
              <a:t>This room will come back to that page before the year is done</a:t>
            </a:r>
          </a:p>
        </p:txBody>
      </p:sp>
      <p:sp>
        <p:nvSpPr>
          <p:cNvPr id="202" name="Footer"/>
          <p:cNvSpPr txBox="1"/>
          <p:nvPr/>
        </p:nvSpPr>
        <p:spPr>
          <a:xfrm>
            <a:off x="822960" y="5806440"/>
            <a:ext cx="10515600" cy="457200"/>
          </a:xfrm>
          <a:prstGeom prst="rect">
            <a:avLst/>
          </a:prstGeom>
          <a:noFill/>
        </p:spPr>
        <p:txBody>
          <a:bodyPr wrap="square"/>
          <a:lstStyle/>
          <a:p>
            <a:pPr algn="l"/>
            <a:r>
              <a:rPr sz="1800" i="1">
                <a:solidFill>
                  <a:srgbClr val="222B22"/>
                </a:solidFill>
                <a:latin typeface="Calibri"/>
              </a:rPr>
              <a:t>Two quiet minutes, no music. Companions write their own first page too.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Homework — Two Weeks, Four Parts</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Week one — the simplest practice we will give you in all of Getting Started</a:t>
            </a:r>
          </a:p>
          <a:p>
            <a:pPr marL="274320" indent="-274320">
              <a:spcAft>
                <a:spcPts val="900"/>
              </a:spcAft>
            </a:pPr>
            <a:r>
              <a:rPr sz="2400" b="1" i="0">
                <a:solidFill>
                  <a:srgbClr val="97BC62"/>
                </a:solidFill>
                <a:latin typeface="Calibri"/>
              </a:rPr>
              <a:t>•  </a:t>
            </a:r>
            <a:r>
              <a:rPr sz="2400" b="0" i="0">
                <a:solidFill>
                  <a:srgbClr val="222B22"/>
                </a:solidFill>
                <a:latin typeface="Calibri"/>
              </a:rPr>
              <a:t>Each morning, before the phone: five quiet minutes</a:t>
            </a:r>
          </a:p>
          <a:p>
            <a:pPr marL="685800" indent="-274320">
              <a:spcAft>
                <a:spcPts val="700"/>
              </a:spcAft>
            </a:pPr>
            <a:r>
              <a:rPr sz="1800" b="1" i="0">
                <a:solidFill>
                  <a:srgbClr val="97BC62"/>
                </a:solidFill>
                <a:latin typeface="Calibri"/>
              </a:rPr>
              <a:t>–  </a:t>
            </a:r>
            <a:r>
              <a:rPr sz="1800" b="0" i="0">
                <a:solidFill>
                  <a:srgbClr val="222B22"/>
                </a:solidFill>
                <a:latin typeface="Calibri"/>
              </a:rPr>
              <a:t>Ask one question: </a:t>
            </a:r>
            <a:r>
              <a:rPr sz="1800" b="0" i="1">
                <a:solidFill>
                  <a:srgbClr val="222B22"/>
                </a:solidFill>
                <a:latin typeface="Calibri"/>
              </a:rPr>
              <a:t>“Father, what are you up to today, and what do you want me to notice?”</a:t>
            </a:r>
          </a:p>
          <a:p>
            <a:pPr marL="685800" indent="-274320">
              <a:spcAft>
                <a:spcPts val="700"/>
              </a:spcAft>
            </a:pPr>
            <a:r>
              <a:rPr sz="1800" b="1" i="0">
                <a:solidFill>
                  <a:srgbClr val="97BC62"/>
                </a:solidFill>
                <a:latin typeface="Calibri"/>
              </a:rPr>
              <a:t>–  </a:t>
            </a:r>
            <a:r>
              <a:rPr sz="1800" b="0" i="0">
                <a:solidFill>
                  <a:srgbClr val="222B22"/>
                </a:solidFill>
                <a:latin typeface="Calibri"/>
              </a:rPr>
              <a:t>Then sit. Listen. The asking is the practice.</a:t>
            </a:r>
          </a:p>
          <a:p>
            <a:pPr marL="274320" indent="-274320">
              <a:spcAft>
                <a:spcPts val="900"/>
              </a:spcAft>
            </a:pPr>
            <a:r>
              <a:rPr sz="2400" b="1" i="0">
                <a:solidFill>
                  <a:srgbClr val="97BC62"/>
                </a:solidFill>
                <a:latin typeface="Calibri"/>
              </a:rPr>
              <a:t>•  </a:t>
            </a:r>
            <a:r>
              <a:rPr sz="2400" b="0" i="0">
                <a:solidFill>
                  <a:srgbClr val="222B22"/>
                </a:solidFill>
                <a:latin typeface="Calibri"/>
              </a:rPr>
              <a:t>Each evening, sixty seconds: one specific sentence in the journal — what did I notice today?</a:t>
            </a:r>
          </a:p>
          <a:p>
            <a:pPr marL="274320" indent="-274320">
              <a:spcAft>
                <a:spcPts val="900"/>
              </a:spcAft>
            </a:pPr>
            <a:r>
              <a:rPr sz="2400" b="1" i="0">
                <a:solidFill>
                  <a:srgbClr val="97BC62"/>
                </a:solidFill>
                <a:latin typeface="Calibri"/>
              </a:rPr>
              <a:t>•  </a:t>
            </a:r>
            <a:r>
              <a:rPr sz="2400" b="0" i="0">
                <a:solidFill>
                  <a:srgbClr val="222B22"/>
                </a:solidFill>
                <a:latin typeface="Calibri"/>
              </a:rPr>
              <a:t>End of week one: report to your check-in partner. Week two: add John 10:10 — where is abundance, and where isn’t it? Parents are doing this too — we check in when we gather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16</a:t>
            </a:r>
            <a:endParaRPr sz="1000" b="1">
              <a:solidFill>
                <a:srgbClr val="7A8A6E"/>
              </a:solidFill>
              <a:latin typeface="Calibri"/>
            </a:endParaRPr>
          </a:p>
        </p:txBody>
      </p:sp>
      <p:pic>
        <p:nvPicPr>
          <p:cNvPr id="30" name="Picture 30" descr="journal and coffee by window"/>
          <p:cNvPicPr>
            <a:picLocks noChangeAspect="1"/>
          </p:cNvPicPr>
          <p:nvPr/>
        </p:nvPicPr>
        <p:blipFill>
          <a:blip r:embed="rId3"/>
          <a:stretch>
            <a:fillRect/>
          </a:stretch>
        </p:blipFill>
        <p:spPr>
          <a:xfrm>
            <a:off x="7818120"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Homework, If You Want It — Five Questions for Your Journal</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a:t>
            </a:r>
            <a:endParaRPr sz="1000" b="1">
              <a:solidFill>
                <a:srgbClr val="7A8A6E"/>
              </a:solidFill>
              <a:latin typeface="Calibri"/>
            </a:endParaRPr>
          </a:p>
        </p:txBody>
      </p:sp>
      <p:sp>
        <p:nvSpPr>
          <p:cNvPr id="240" name="FiveQuestions"/>
          <p:cNvSpPr txBox="1"/>
          <p:nvPr/>
        </p:nvSpPr>
        <p:spPr>
          <a:xfrm>
            <a:off x="822960" y="1325880"/>
            <a:ext cx="10515600" cy="5212080"/>
          </a:xfrm>
          <a:prstGeom prst="rect">
            <a:avLst/>
          </a:prstGeom>
          <a:noFill/>
        </p:spPr>
        <p:txBody>
          <a:bodyPr wrap="square"/>
          <a:lstStyle/>
          <a:p>
            <a:pPr algn="l">
              <a:spcAft>
                <a:spcPts val="1400"/>
              </a:spcAft>
            </a:pPr>
            <a:r>
              <a:rPr sz="2100" b="0" i="0" dirty="0">
                <a:solidFill>
                  <a:srgbClr val="222B22"/>
                </a:solidFill>
                <a:latin typeface="Calibri"/>
              </a:rPr>
              <a:t>These are the five questions we ask every family on the way into this work — some of you have met them already; some are meeting them tonight. They’re printed in your </a:t>
            </a:r>
            <a:r>
              <a:rPr sz="2100" b="0" i="0">
                <a:solidFill>
                  <a:srgbClr val="222B22"/>
                </a:solidFill>
                <a:latin typeface="Calibri"/>
              </a:rPr>
              <a:t>journal</a:t>
            </a:r>
            <a:r>
              <a:rPr lang="en-US" sz="2100" b="0" i="0">
                <a:solidFill>
                  <a:srgbClr val="222B22"/>
                </a:solidFill>
                <a:latin typeface="Calibri"/>
              </a:rPr>
              <a:t> handout</a:t>
            </a:r>
            <a:r>
              <a:rPr sz="2100" b="0" i="0">
                <a:solidFill>
                  <a:srgbClr val="222B22"/>
                </a:solidFill>
                <a:latin typeface="Calibri"/>
              </a:rPr>
              <a:t>. </a:t>
            </a:r>
            <a:r>
              <a:rPr sz="2100" b="0" i="0" dirty="0">
                <a:solidFill>
                  <a:srgbClr val="222B22"/>
                </a:solidFill>
                <a:latin typeface="Calibri"/>
              </a:rPr>
              <a:t>If you want more than the one practice this week: give each one a page.</a:t>
            </a:r>
          </a:p>
          <a:p>
            <a:pPr algn="l">
              <a:spcAft>
                <a:spcPts val="900"/>
              </a:spcAft>
            </a:pPr>
            <a:r>
              <a:rPr sz="2400" b="1" i="0" dirty="0">
                <a:solidFill>
                  <a:srgbClr val="97BC62"/>
                </a:solidFill>
                <a:latin typeface="Calibri"/>
              </a:rPr>
              <a:t>1   </a:t>
            </a:r>
            <a:r>
              <a:rPr sz="2400" b="0" i="1" dirty="0">
                <a:solidFill>
                  <a:srgbClr val="222B22"/>
                </a:solidFill>
                <a:latin typeface="Cambria"/>
              </a:rPr>
              <a:t>What do you sense the Spirit might be doing in you right now?</a:t>
            </a:r>
          </a:p>
          <a:p>
            <a:pPr algn="l">
              <a:spcAft>
                <a:spcPts val="900"/>
              </a:spcAft>
            </a:pPr>
            <a:r>
              <a:rPr sz="2400" b="1" i="0" dirty="0">
                <a:solidFill>
                  <a:srgbClr val="97BC62"/>
                </a:solidFill>
                <a:latin typeface="Calibri"/>
              </a:rPr>
              <a:t>2   </a:t>
            </a:r>
            <a:r>
              <a:rPr sz="2400" b="0" i="1" dirty="0">
                <a:solidFill>
                  <a:srgbClr val="222B22"/>
                </a:solidFill>
                <a:latin typeface="Cambria"/>
              </a:rPr>
              <a:t>What’s drawing you toward something like this?</a:t>
            </a:r>
          </a:p>
          <a:p>
            <a:pPr algn="l">
              <a:spcAft>
                <a:spcPts val="900"/>
              </a:spcAft>
            </a:pPr>
            <a:r>
              <a:rPr sz="2400" b="1" i="0" dirty="0">
                <a:solidFill>
                  <a:srgbClr val="97BC62"/>
                </a:solidFill>
                <a:latin typeface="Calibri"/>
              </a:rPr>
              <a:t>3   </a:t>
            </a:r>
            <a:r>
              <a:rPr sz="2400" b="0" i="1" dirty="0">
                <a:solidFill>
                  <a:srgbClr val="222B22"/>
                </a:solidFill>
                <a:latin typeface="Cambria"/>
              </a:rPr>
              <a:t>What are you a little afraid of?</a:t>
            </a:r>
          </a:p>
          <a:p>
            <a:pPr algn="l">
              <a:spcAft>
                <a:spcPts val="900"/>
              </a:spcAft>
            </a:pPr>
            <a:r>
              <a:rPr sz="2400" b="1" i="0" dirty="0">
                <a:solidFill>
                  <a:srgbClr val="97BC62"/>
                </a:solidFill>
                <a:latin typeface="Calibri"/>
              </a:rPr>
              <a:t>4   </a:t>
            </a:r>
            <a:r>
              <a:rPr sz="2400" b="0" i="1" dirty="0">
                <a:solidFill>
                  <a:srgbClr val="222B22"/>
                </a:solidFill>
                <a:latin typeface="Cambria"/>
              </a:rPr>
              <a:t>What would you NOT want this to be?</a:t>
            </a:r>
          </a:p>
          <a:p>
            <a:pPr algn="l">
              <a:spcAft>
                <a:spcPts val="900"/>
              </a:spcAft>
            </a:pPr>
            <a:r>
              <a:rPr sz="2400" b="1" i="0" dirty="0">
                <a:solidFill>
                  <a:srgbClr val="97BC62"/>
                </a:solidFill>
                <a:latin typeface="Calibri"/>
              </a:rPr>
              <a:t>5   </a:t>
            </a:r>
            <a:r>
              <a:rPr sz="2400" b="0" i="1" dirty="0">
                <a:solidFill>
                  <a:srgbClr val="222B22"/>
                </a:solidFill>
                <a:latin typeface="Cambria"/>
              </a:rPr>
              <a:t>Where would you say you are with Jesus — has there been a time you said yes to Him, or is that still an open question?</a:t>
            </a:r>
          </a:p>
          <a:p>
            <a:pPr algn="l">
              <a:spcBef>
                <a:spcPts val="800"/>
              </a:spcBef>
            </a:pPr>
            <a:r>
              <a:rPr sz="1800" b="0" i="1" dirty="0">
                <a:solidFill>
                  <a:srgbClr val="222B22"/>
                </a:solidFill>
                <a:latin typeface="Calibri"/>
              </a:rPr>
              <a:t>Your journal is never collected and never read. A page per question or a single sentence — whatever is true.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Week One and the Check-In</a:t>
            </a:r>
          </a:p>
        </p:txBody>
      </p:sp>
      <p:pic>
        <p:nvPicPr>
          <p:cNvPr id="4" name="Picture 3" descr="s1_part1.png"/>
          <p:cNvPicPr>
            <a:picLocks noChangeAspect="1"/>
          </p:cNvPicPr>
          <p:nvPr/>
        </p:nvPicPr>
        <p:blipFill>
          <a:blip r:embed="rId2"/>
          <a:stretch>
            <a:fillRect/>
          </a:stretch>
        </p:blipFill>
        <p:spPr>
          <a:xfrm>
            <a:off x="2371088" y="1463040"/>
            <a:ext cx="7449518" cy="4709160"/>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a:t>
            </a:r>
            <a:endParaRPr sz="1000" b="1">
              <a:solidFill>
                <a:srgbClr val="7A8A6E"/>
              </a:solidFill>
              <a:latin typeface="Calibri"/>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Week Two and Preparation</a:t>
            </a:r>
          </a:p>
        </p:txBody>
      </p:sp>
      <p:pic>
        <p:nvPicPr>
          <p:cNvPr id="4" name="Picture 3" descr="s1_part2.png"/>
          <p:cNvPicPr>
            <a:picLocks noChangeAspect="1"/>
          </p:cNvPicPr>
          <p:nvPr/>
        </p:nvPicPr>
        <p:blipFill>
          <a:blip r:embed="rId2"/>
          <a:stretch>
            <a:fillRect/>
          </a:stretch>
        </p:blipFill>
        <p:spPr>
          <a:xfrm>
            <a:off x="1798167" y="1463040"/>
            <a:ext cx="8595360" cy="458009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One practice at a time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19</a:t>
            </a:r>
            <a:endParaRPr sz="1000" b="1">
              <a:solidFill>
                <a:srgbClr val="7A8A6E"/>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Two rounds, same as every session from here on — the container holder first, then the content presenter: three things each</a:t>
            </a:r>
          </a:p>
          <a:p>
            <a:pPr marL="685800" indent="-274320">
              <a:spcAft>
                <a:spcPts val="700"/>
              </a:spcAft>
            </a:pPr>
            <a:r>
              <a:rPr sz="1800" b="1" i="0">
                <a:solidFill>
                  <a:srgbClr val="97BC62"/>
                </a:solidFill>
                <a:latin typeface="Calibri"/>
              </a:rPr>
              <a:t>–  </a:t>
            </a:r>
            <a:r>
              <a:rPr sz="1800" b="0" i="1">
                <a:solidFill>
                  <a:srgbClr val="222B22"/>
                </a:solidFill>
                <a:latin typeface="Calibri"/>
              </a:rPr>
              <a:t>“What I think went well tonight: ______”</a:t>
            </a:r>
          </a:p>
          <a:p>
            <a:pPr marL="685800" indent="-274320">
              <a:spcAft>
                <a:spcPts val="700"/>
              </a:spcAft>
            </a:pPr>
            <a:r>
              <a:rPr sz="1800" b="1" i="0">
                <a:solidFill>
                  <a:srgbClr val="97BC62"/>
                </a:solidFill>
                <a:latin typeface="Calibri"/>
              </a:rPr>
              <a:t>–  </a:t>
            </a:r>
            <a:r>
              <a:rPr sz="1800" b="0" i="1">
                <a:solidFill>
                  <a:srgbClr val="222B22"/>
                </a:solidFill>
                <a:latin typeface="Calibri"/>
              </a:rPr>
              <a:t>“What I’d do differently next time: ______”</a:t>
            </a:r>
          </a:p>
          <a:p>
            <a:pPr marL="685800" indent="-274320">
              <a:spcAft>
                <a:spcPts val="700"/>
              </a:spcAft>
            </a:pPr>
            <a:r>
              <a:rPr sz="1800" b="1" i="0">
                <a:solidFill>
                  <a:srgbClr val="97BC62"/>
                </a:solidFill>
                <a:latin typeface="Calibri"/>
              </a:rPr>
              <a:t>–  </a:t>
            </a:r>
            <a:r>
              <a:rPr sz="1800" b="0" i="1">
                <a:solidFill>
                  <a:srgbClr val="222B22"/>
                </a:solidFill>
                <a:latin typeface="Calibri"/>
              </a:rPr>
              <a:t>“If I were to teach tonight’s process to someone, I would tell them: ______”</a:t>
            </a:r>
          </a:p>
          <a:p>
            <a:pPr marL="274320" indent="-274320">
              <a:spcAft>
                <a:spcPts val="900"/>
              </a:spcAft>
            </a:pPr>
            <a:r>
              <a:rPr sz="2400" b="1" i="0">
                <a:solidFill>
                  <a:srgbClr val="97BC62"/>
                </a:solidFill>
                <a:latin typeface="Calibri"/>
              </a:rPr>
              <a:t>•  </a:t>
            </a:r>
            <a:r>
              <a:rPr sz="2400" b="0" i="0">
                <a:solidFill>
                  <a:srgbClr val="222B22"/>
                </a:solidFill>
                <a:latin typeface="Calibri"/>
              </a:rPr>
              <a:t>Then the room — the same two questions about tonight</a:t>
            </a:r>
          </a:p>
          <a:p>
            <a:pPr marL="274320" indent="-274320">
              <a:spcAft>
                <a:spcPts val="900"/>
              </a:spcAft>
            </a:pPr>
            <a:r>
              <a:rPr sz="2400" b="1" i="0">
                <a:solidFill>
                  <a:srgbClr val="97BC62"/>
                </a:solidFill>
                <a:latin typeface="Calibri"/>
              </a:rPr>
              <a:t>•  </a:t>
            </a:r>
            <a:r>
              <a:rPr sz="24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2062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said together: “Father, what are you up to today, and what do you want me to notice?”</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eyes on the person, not the screen: say what is on your heart for them.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then the Aaronic blessing, spoken over each other, face to face</a:t>
            </a:r>
          </a:p>
        </p:txBody>
      </p:sp>
      <p:sp>
        <p:nvSpPr>
          <p:cNvPr id="6" name="TextBox 6"/>
          <p:cNvSpPr txBox="1"/>
          <p:nvPr/>
        </p:nvSpPr>
        <p:spPr>
          <a:xfrm>
            <a:off x="6766560" y="1737360"/>
            <a:ext cx="4663440" cy="3657600"/>
          </a:xfrm>
          <a:prstGeom prst="rect">
            <a:avLst/>
          </a:prstGeom>
          <a:solidFill>
            <a:srgbClr val="F1F6EC"/>
          </a:solidFill>
        </p:spPr>
        <p:txBody>
          <a:bodyPr wrap="square" lIns="91440" tIns="91440" rIns="91440" bIns="91440" anchor="ctr"/>
          <a:lstStyle/>
          <a:p>
            <a:pPr>
              <a:spcAft>
                <a:spcPts val="1000"/>
              </a:spcAft>
            </a:pPr>
            <a:r>
              <a:rPr sz="1200" b="1" i="0" dirty="0">
                <a:solidFill>
                  <a:srgbClr val="97BC62"/>
                </a:solidFill>
                <a:latin typeface="Calibri"/>
              </a:rPr>
              <a:t>THE AARONIC BLESSING — NUMBERS 6:24–26</a:t>
            </a:r>
          </a:p>
          <a:p>
            <a:pPr>
              <a:spcAft>
                <a:spcPts val="700"/>
              </a:spcAft>
            </a:pPr>
            <a:r>
              <a:rPr sz="2400" b="0" i="1" dirty="0">
                <a:solidFill>
                  <a:srgbClr val="222B22"/>
                </a:solidFill>
                <a:latin typeface="Cambria"/>
              </a:rPr>
              <a:t>“The Lord bless you and keep you;</a:t>
            </a:r>
          </a:p>
          <a:p>
            <a:pPr>
              <a:spcAft>
                <a:spcPts val="700"/>
              </a:spcAft>
            </a:pPr>
            <a:r>
              <a:rPr sz="2400" b="0" i="1" dirty="0">
                <a:solidFill>
                  <a:srgbClr val="222B22"/>
                </a:solidFill>
                <a:latin typeface="Cambria"/>
              </a:rPr>
              <a:t>the Lord make his face to shine upon you, and be gracious to you;</a:t>
            </a:r>
          </a:p>
          <a:p>
            <a:pPr>
              <a:spcAft>
                <a:spcPts val="700"/>
              </a:spcAft>
            </a:pPr>
            <a:r>
              <a:rPr sz="2400" b="0" i="1" dirty="0">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a:t>
            </a:r>
            <a:endParaRPr sz="1000" b="1">
              <a:solidFill>
                <a:srgbClr val="7A8A6E"/>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111</TotalTime>
  <Words>3959</Words>
  <Application>Microsoft Office PowerPoint</Application>
  <PresentationFormat>Widescreen</PresentationFormat>
  <Paragraphs>242</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2026-09-09T16:52:36Z</dcterms:modified>
  <cp:category/>
</cp:coreProperties>
</file>