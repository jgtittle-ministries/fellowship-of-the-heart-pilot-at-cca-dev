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259" r:id="rId4"/>
    <p:sldId id="334" r:id="rId5"/>
    <p:sldId id="552" r:id="rId6"/>
    <p:sldId id="333" r:id="rId7"/>
    <p:sldId id="332" r:id="rId8"/>
    <p:sldId id="553" r:id="rId9"/>
    <p:sldId id="331" r:id="rId10"/>
    <p:sldId id="546" r:id="rId11"/>
    <p:sldId id="521" r:id="rId12"/>
    <p:sldId id="520" r:id="rId13"/>
    <p:sldId id="554" r:id="rId14"/>
    <p:sldId id="519" r:id="rId15"/>
    <p:sldId id="330" r:id="rId16"/>
    <p:sldId id="547" r:id="rId17"/>
    <p:sldId id="524" r:id="rId18"/>
    <p:sldId id="329" r:id="rId19"/>
    <p:sldId id="32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9-09T16:52:27.831" v="150" actId="2710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ord modNotesTx">
        <pc:chgData name="John Tittle" userId="c9414421e32e8042" providerId="LiveId" clId="{48C55722-1884-484D-BEBA-C6DAFFF89F9C}" dt="2026-09-09T16:52:27.831" v="150" actId="27107"/>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Around 7:05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rPr lang="en-US" sz="1200"/>
              <a:t>S1 · 7:20–7:32 · LEAD: CONTAINER HOLDER</a:t>
            </a:r>
          </a:p>
          <a:p>
            <a:r>
              <a:rPr lang="en-US" sz="1200"/>
              <a:t>1. You have just named the four conditions; now show the architecture. The room experienced these steps as tonight opened without knowing their names — walk the eight so they can see the shape they were just held by.</a:t>
            </a:r>
          </a:p>
          <a:p>
            <a:r>
              <a:rPr lang="en-US" sz="1200"/>
              <a:t>2. From our next evening on, this protocol opens the room at 7:00 with no explanation; tonight is the one night it gets taught.</a:t>
            </a:r>
          </a:p>
          <a:p>
            <a:r>
              <a:rPr lang="en-US" sz="1200"/>
              <a:t>3. Keep it warm, not procedural: the steps are how the container forms, not rules about it.</a:t>
            </a:r>
          </a:p>
          <a:p>
            <a:endParaRPr lang="en-US" sz="1200"/>
          </a:p>
          <a:p>
            <a:endParaRPr lang="en-US" sz="1200"/>
          </a:p>
          <a:p>
            <a:endParaRPr lang="en-US" sz="1200"/>
          </a:p>
          <a:p>
            <a:endParaRPr lang="en-US" sz="1200"/>
          </a:p>
          <a:p>
            <a:endParaRPr lang="en-US" sz="1200"/>
          </a:p>
        </p:txBody>
      </p:sp>
    </p:spTree>
    <p:extLst>
      <p:ext uri="{BB962C8B-B14F-4D97-AF65-F5344CB8AC3E}">
        <p14:creationId xmlns:p14="http://schemas.microsoft.com/office/powerpoint/2010/main" val="1101322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7:50–8:00 · LEAD: CONTENT PRESENTER</a:t>
            </a:r>
          </a:p>
          <a:p>
            <a:r>
              <a:rPr lang="en-US" sz="1200" dirty="0"/>
              <a:t>BEATS:</a:t>
            </a:r>
          </a:p>
          <a:p>
            <a:r>
              <a:rPr lang="en-US" sz="1200" dirty="0"/>
              <a:t>1. 'Tonight's scripture. Listen for one word.' Read John 10:10 in full from the physical Bible — slowly, once. The screen holds the words; the Bible carries the reading.</a:t>
            </a:r>
          </a:p>
          <a:p>
            <a:r>
              <a:rPr lang="en-US" sz="1200" dirty="0"/>
              <a:t>2. Abundantly — the word the year hangs on. The thief's purpose against His purpose; the more is real and it cost Him everything (John 10:11). Point to the carry-home question on the slide: not to answer tonight — to carry.</a:t>
            </a:r>
          </a:p>
          <a:p>
            <a:r>
              <a:rPr lang="en-US" sz="1200" dirty="0"/>
              <a:t>3. Close the Bible. One beat of quiet. The seed, stated plainly (2–3 min) — full script in the plan, Block 6. The year's proclamation: do not rush it; do not decorate it.</a:t>
            </a:r>
          </a:p>
          <a:p>
            <a:r>
              <a:rPr lang="en-US" sz="1200" dirty="0"/>
              <a:t>ADVANCE CUE: next slide exactly at the seed's last line — 'which raises a question worth sitting with on our very first night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Hold up the check-off card (H1.3) — fridge, mirror, or journal pocket; one check per completed practice.</a:t>
            </a:r>
          </a:p>
          <a:p>
            <a:r>
              <a:rPr lang="en-US" sz="1200"/>
              <a:t>2. Say the card's grace note aloud: a missed box is never a failure; it is an invitation to return.</a:t>
            </a:r>
          </a:p>
          <a:p>
            <a:r>
              <a:rPr lang="en-US" sz="1200"/>
              <a:t>CUES: Rides inside the practice block — keep the two slides to four minutes together.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8:24–8:28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8:28–8:30 · LEAD: CONTAINER HOLDER</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jgtittle-ministries.github.io/fellowship-of-the-heart-pilot-at-cca/"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a:p>
            <a:pPr>
              <a:spcAft>
                <a:spcPts val="200"/>
              </a:spcAft>
            </a:pPr>
            <a:r>
              <a:rPr sz="2800" b="1" i="0">
                <a:solidFill>
                  <a:srgbClr val="2C5F2D"/>
                </a:solidFill>
                <a:latin typeface="Cambria"/>
              </a:rPr>
              <a:t>Two leads tonight — handing the evening back and forth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the unhurried open of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End of week one: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Session’s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pic>
        <p:nvPicPr>
          <p:cNvPr id="270" name="CardImage" descr="the Week 1 check-off card, as handed out"/>
          <p:cNvPicPr>
            <a:picLocks noChangeAspect="1"/>
          </p:cNvPicPr>
          <p:nvPr/>
        </p:nvPicPr>
        <p:blipFill>
          <a:blip r:embed="rId3"/>
          <a:stretch>
            <a:fillRect/>
          </a:stretch>
        </p:blipFill>
        <p:spPr>
          <a:xfrm>
            <a:off x="2159170" y="1417320"/>
            <a:ext cx="787335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89320"/>
            <a:ext cx="10515600" cy="548640"/>
          </a:xfrm>
          <a:prstGeom prst="rect">
            <a:avLst/>
          </a:prstGeom>
          <a:noFill/>
        </p:spPr>
        <p:txBody>
          <a:bodyPr wrap="square"/>
          <a:lstStyle/>
          <a:p>
            <a:pPr algn="ctr"/>
            <a:r>
              <a:rPr sz="1800" b="0" i="1">
                <a:solidFill>
                  <a:srgbClr val="222B22"/>
                </a:solidFill>
                <a:latin typeface="Calibri"/>
              </a:rPr>
              <a:t>Handed out now — fridge, mirror, notebook pocket. Two weeks, four boxes:</a:t>
            </a:r>
          </a:p>
          <a:p>
            <a:pPr algn="ctr"/>
            <a:r>
              <a:rPr sz="1800" b="0" i="1">
                <a:solidFill>
                  <a:srgbClr val="222B22"/>
                </a:solidFill>
                <a:latin typeface="Calibri"/>
              </a:rPr>
              <a:t>☐  Week one — the two questions, morning and evening</a:t>
            </a:r>
          </a:p>
          <a:p>
            <a:pPr algn="ctr"/>
            <a:r>
              <a:rPr sz="1800" b="0" i="1">
                <a:solidFill>
                  <a:srgbClr val="222B22"/>
                </a:solidFill>
                <a:latin typeface="Calibri"/>
              </a:rPr>
              <a:t>☐  End of week one — report to your check-in partner</a:t>
            </a:r>
          </a:p>
          <a:p>
            <a:pPr algn="ctr"/>
            <a:r>
              <a:rPr sz="1800" b="0" i="1">
                <a:solidFill>
                  <a:srgbClr val="222B22"/>
                </a:solidFill>
                <a:latin typeface="Calibri"/>
              </a:rPr>
              <a:t>☐  Week two — keep both questions, add the abundance question</a:t>
            </a:r>
          </a:p>
          <a:p>
            <a:pPr algn="ctr"/>
            <a:r>
              <a:rPr sz="1800" b="0" i="1">
                <a:solidFill>
                  <a:srgbClr val="222B22"/>
                </a:solidFill>
                <a:latin typeface="Calibri"/>
              </a:rPr>
              <a:t>☐  One sentence of prep before we gather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111</TotalTime>
  <Words>3959</Words>
  <Application>Microsoft Office PowerPoint</Application>
  <PresentationFormat>Widescreen</PresentationFormat>
  <Paragraphs>242</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2026-09-09T16:52:36Z</dcterms:modified>
  <cp:category/>
</cp:coreProperties>
</file>