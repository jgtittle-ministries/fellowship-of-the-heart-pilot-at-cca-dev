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0" r:id="rId139"/>
    <p:sldId id="535" r:id="rId24"/>
    <p:sldId id="291" r:id="rId140"/>
    <p:sldId id="419" r:id="rId141"/>
    <p:sldId id="420" r:id="rId142"/>
    <p:sldId id="421" r:id="rId143"/>
    <p:sldId id="422" r:id="rId144"/>
    <p:sldId id="423" r:id="rId145"/>
    <p:sldId id="424" r:id="rId146"/>
    <p:sldId id="538" r:id="rId23"/>
    <p:sldId id="425" r:id="rId147"/>
    <p:sldId id="426" r:id="rId148"/>
    <p:sldId id="536" r:id="rId25"/>
    <p:sldId id="537" r:id="rId26"/>
    <p:sldId id="427" r:id="rId150"/>
    <p:sldId id="428" r:id="rId151"/>
    <p:sldId id="293"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11.xml"/><Relationship Id="rId24" Type="http://schemas.openxmlformats.org/officeDocument/2006/relationships/slide" Target="slides/slide3.xml"/><Relationship Id="rId25" Type="http://schemas.openxmlformats.org/officeDocument/2006/relationships/slide" Target="slides/slide14.xml"/><Relationship Id="rId26" Type="http://schemas.openxmlformats.org/officeDocument/2006/relationships/slide" Target="slides/slide15.xml"/><Relationship Id="rId139" Type="http://schemas.openxmlformats.org/officeDocument/2006/relationships/slide" Target="slides/slide2.xml"/><Relationship Id="rId140" Type="http://schemas.openxmlformats.org/officeDocument/2006/relationships/slide" Target="slides/slide4.xml"/><Relationship Id="rId141" Type="http://schemas.openxmlformats.org/officeDocument/2006/relationships/slide" Target="slides/slide5.xml"/><Relationship Id="rId142" Type="http://schemas.openxmlformats.org/officeDocument/2006/relationships/slide" Target="slides/slide6.xml"/><Relationship Id="rId143" Type="http://schemas.openxmlformats.org/officeDocument/2006/relationships/slide" Target="slides/slide7.xml"/><Relationship Id="rId144" Type="http://schemas.openxmlformats.org/officeDocument/2006/relationships/slide" Target="slides/slide8.xml"/><Relationship Id="rId145" Type="http://schemas.openxmlformats.org/officeDocument/2006/relationships/slide" Target="slides/slide9.xml"/><Relationship Id="rId146" Type="http://schemas.openxmlformats.org/officeDocument/2006/relationships/slide" Target="slides/slide10.xml"/><Relationship Id="rId147" Type="http://schemas.openxmlformats.org/officeDocument/2006/relationships/slide" Target="slides/slide12.xml"/><Relationship Id="rId148" Type="http://schemas.openxmlformats.org/officeDocument/2006/relationships/slide" Target="slides/slide13.xml"/><Relationship Id="rId150" Type="http://schemas.openxmlformats.org/officeDocument/2006/relationships/slide" Target="slides/slide16.xml"/><Relationship Id="rId151" Type="http://schemas.openxmlformats.org/officeDocument/2006/relationships/slide" Target="slides/slide17.xml"/><Relationship Id="rId152" Type="http://schemas.openxmlformats.org/officeDocument/2006/relationships/slide" Target="slides/slide18.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7:53–8:06 · LEAD: CONTENT PRESENTER</a:t>
            </a:r>
          </a:p>
          <a:p>
            <a:r>
              <a:t>BEATS: 1. The reader reads the Silent Place Reading Card. Settle, 1 minute. 2. Remember, about 2 minutes: a time or place where God seemed silent — a dry spell, a prayer that met nothing. Get clear on it. 3. Bring in the anchor: the time you did hear, remembered at the Garden evening — what it looked, sounded and felt like — into the silent place. 4. Invite Jesus into the silent place; give him permission to do or say anything he wishes; then about three minutes of silence. See what he does. Return. 5. Write, 3 minutes: what did he do? Is something blocking, or in the way? What might be the downside of a deeper connection — what would change? 6. Share, 2 minutes, optional: one circle, by invitation; 'Thank you' is the whole response.</a:t>
            </a:r>
          </a:p>
          <a:p>
            <a:r>
              <a:t>CUES: Sharing is optional — say so twice. No anchor from the Garden evening? Offer a time creation stopped you, or simply John 10:27.</a:t>
            </a:r>
          </a:p>
          <a:p>
            <a:r>
              <a:t>GUARD: Silence is not a verdict on anyone. If a silent place opens something heavy, the Settle Protocol stands — for the person, not the circle; follow up within 48 hours.</a:t>
            </a:r>
          </a:p>
          <a:p>
            <a:r>
              <a:t>FROM: the Four Connects deck (FotH, September 2025), 'Hearing God — The How' (remember a place where the Lord was not speaking; change with the anchor; invite in Jesus, give him permission; share optional) and 'Connect with God' (is something blocking; the downside to a deeper connection).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WELCOME · LEAD: CONTAINER HOLDER · GROUNDING — every session opens on this map</a:t>
            </a:r>
          </a:p>
          <a:p>
            <a:r>
              <a:t>BEATS:</a:t>
            </a:r>
          </a:p>
          <a:p>
            <a:r>
              <a:t>1. Locate tonight on the map, plainly: Evening 8 stands in the third box — Connect with God.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COMMISSIONING · LEAD: CONTENT PRESENTER</a:t>
            </a:r>
          </a:p>
          <a:p>
            <a:r>
              <a:t>BEATS:</a:t>
            </a:r>
          </a:p>
          <a:p>
            <a:r>
              <a:t>1. The sheet on the screen is the sheet in their hands — walk it, don't read it.</a:t>
            </a:r>
          </a:p>
          <a:p>
            <a:r>
              <a:t>2. The standing rhythm first: the morning question, the evening journal line — one box per day, on one grid for the weeks to The Return.</a:t>
            </a:r>
          </a:p>
          <a:p>
            <a:r>
              <a:t>3. A missed box is never a failure — it is an invitation to return.</a:t>
            </a:r>
          </a:p>
          <a:p>
            <a:r>
              <a:t>CUES: The five parts are the next slide.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COMMISSIONING · LEAD: CONTENT PRESENTER</a:t>
            </a:r>
          </a:p>
          <a:p>
            <a:r>
              <a:t>BEATS:</a:t>
            </a:r>
          </a:p>
          <a:p>
            <a:r>
              <a:t>1. The five parts, in order: week one, the doubts inventory; the end-of-week-one check-in; week two, the two journal questions; the rest of the break, your choice from The Practices So Far; two sentences of preparation for The Return.</a:t>
            </a:r>
          </a:p>
          <a:p>
            <a:r>
              <a:t>2. Check-in partners are named aloud before leaving this slide; the sheet has the line to write the name.</a:t>
            </a:r>
          </a:p>
          <a:p>
            <a:r>
              <a:t>3. The Practices So Far card goes with the sheet, with Any Doubts? now on it.</a:t>
            </a:r>
          </a:p>
          <a:p>
            <a:r>
              <a:t>GUARD: The sheet-walk, not a re-teach.</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pre-session · DIVIDER</a:t>
            </a:r>
          </a:p>
          <a:p>
            <a:r>
              <a:t>On screen through dinner and as the circle forms. Greet at the door — the slide holds the room.</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7:00–7:08 · LEAD: CONTAINER HOLDER</a:t>
            </a:r>
          </a:p>
          <a:p>
            <a:r>
              <a:t>BEATS: 1. Evening 8 — the last evening of Connect with God. Tonight is the first evening after four weeks apart (no evening over Thanksgiving): it opens with the return round, then picks up the Garden evening's thread: what I'm not sure was God. 2. Today: Any Doubts? — bringing the small quiet doubts we never say aloud, honestly, to God, in front of one other person. 3. With the Garden, one of the two highest-confidence practices in this whole body of work — treat it with care. 4. Frame it early and repeat it: doubt is not disbelief; this is the gap between what we say and what we actually trust. 5. The shape (John's word, 13 October): the four steps in pairs, then the silent place from the Four Connects deck — remember where God seemed silent, bring in the time you heard, invite Jesus in.</a:t>
            </a:r>
          </a:p>
          <a:p>
            <a:r>
              <a:t>THE BREAKS (John's word, 28 October): the return round opens tonight; the Christmas send-off closes it. The Return opens January.</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7:00–7:06 · LEAD: CONTAINER HOLDER</a:t>
            </a:r>
          </a:p>
          <a:p>
            <a:r>
              <a:t>BEATS: 1. 'Welcome back. Settle.' Aaronic blessing. 2. Name the night: this goes against most of what we have been taught about how spiritual people should sound — we bring our actual doubts and bring them honestly to God. 3. Container: what is said in your pair stays in your pair; nothing is required; specificity is the practice, honesty is the goal.</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7:06–7:18 · LEAD: CONTAINER HOLDER</a:t>
            </a:r>
          </a:p>
          <a:p>
            <a:r>
              <a:t>BEATS: 1. Rebuild the room slowly: it has been four weeks. 2. Around the circle, one at a time, the leader first, then a parent: which practices did you choose for weeks three and four, and why; what held; when it slipped, did you come back to it on your own, because you wanted to; which one would you keep. A sentence on the garden weeks if they wish. 3. The preparation sentence from the Garden take-home, 'One thing I'm not sure was God': say it aloud, or keep it for your pair. 4. Receive each with 'We hear that'; no comment. Move on with: 'Good. The garden is still there. Tonight we bring the questions.'</a:t>
            </a:r>
          </a:p>
          <a:p>
            <a:r>
              <a:t>GUARD: Cut the shame spiral off early, from the front: slips are data, and nobody owes an explanation for the gap. Receive 'No, not yet' as warmly as 'Yes.' If the gap was hard at home, that is a conversation with an adult tonight or this week, not a circle one.</a:t>
            </a:r>
          </a:p>
          <a:p>
            <a:r>
              <a:t>TALLY: at the debrief, a quiet count for each practice: how many chose it, and how many would keep it. No names. This is the read on which practices people really want to do (John's word, 28 October); The Return runs it again for the Christmas choices.</a:t>
            </a:r>
          </a:p>
          <a:p>
            <a:r>
              <a:t>CUES: Arranged parent opens after the leader; never cold-call a teen; pass-anytime holds.</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7:18–7:23 · LEAD: CONTENT PRESENTER</a:t>
            </a:r>
          </a:p>
          <a:p>
            <a:r>
              <a:t>BEATS: 1. Read Mark 9:14–29 IN FULL from the physical Bible, slowly, without stopping to comment — the verse lands differently inside the whole scene. 2. Teach the model: the father names belief and unbelief at once — 'I believe; help my unbelief' — and Jesus does not rebuke him; He heals the boy. 3. Most of us say the believing half loud and bury the unbelieving half, where it works as a quiet brake on faith. 4. Today is not generating new doubts — it is bringing the unbelief already there into the open, and bringing it to Jesus.</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7:23–7:30 · LEAD: CONTENT PRESENTER</a:t>
            </a:r>
          </a:p>
          <a:p>
            <a:r>
              <a:t>BEATS: 1. Callback, 30s: journals open to the first-night question — naming a doubt takes the same courage. 2. The seat for the skeptic, named ALOUD: a doubt bigger than today's list is welcome and has its own standing door — any Companion, any week, for as long as it takes. 3. Name the two kinds of doubt: doubting what God has said — tonight's four steps; and doubting whether I heard him at all — that goes to the How Did You Know? checks from the Garden evening, tested in company, never settled alone. 4. Whiteboard walk: NAME (specific, not abstract) / EXAGGERATE (expose the brake, not endorse it) / SIT (feel it, 10–15s) / RE-READ (the Spirit works; you notice). 5. Demo with a Co-Companion, 3 min — real scripture, real small doubt; do NOT resolve it at the end. The pairs calibrate everything against this demo.</a:t>
            </a:r>
          </a:p>
          <a:p>
            <a:r>
              <a:t>CUES: Keep the demo brief — do not let teaching eat the pair time.</a:t>
            </a:r>
          </a:p>
          <a:p>
            <a:r>
              <a:t>SUB: Demo YOUR OWN real, small doubt — never fake one, never borrow the founder's. If you cannot bring one honestly, walk the four steps only and let the arranged parents' first turns carry the modeling.</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7:30–7:31 · LEAD: CONTENT PRESENTER · TRANSITION</a:t>
            </a:r>
          </a:p>
          <a:p>
            <a:r>
              <a:t>BEATS: 1. Practice card H11.1 goes with them. Pairs are announced by the Lead Companion — pre-considered, within families, parent with own teen; never improvised on the night. 2. Say it plainly: in every pair the PARENT goes first — arranged this week; Mark 9:24 is a parent's sentence first. Teens go second and choose their own depth; a small doubt is enough; passing is enough. 3. Scripture choice: a flicker, not a hurricane — H11.3 has options. 4. Partners: read, listen, re-read — never fix, never theologize. Pray and send.</a:t>
            </a:r>
          </a:p>
          <a:p>
            <a:r>
              <a:t>SMALL ROOM: the split is only necessary if the room is large enough to need it. With six or so, stay one circle — or quick pair work in place, knee to knee. Pair work is also the standing time-recovery lever: a full split-and-merge costs about five minutes.</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7:31–7:53 · LEAD: CONTENT PRESENTER · PAIRS</a:t>
            </a:r>
          </a:p>
          <a:p>
            <a:r>
              <a:t>BEATS: 1. Twenty-two minutes: one full cycle each direction, about 11 min per turn, parent's turn first. The silent place follows, so hold the clock. Companion calls switches at seven minutes; never interrupt a re-read. 2. The turn: partner reads; 'the doubt I am holding is ___'; gentle exaggerate; sit 10–20s; re-read; 'what I notice this time is ___'. 3. Interventions: apologetics — 'we're not arguing the doubt'; no doubt found — honest, run the partner's cycle; exaggeration won't come — don't push; distress — stop the exaggeration, re-read, sit with them.</a:t>
            </a:r>
          </a:p>
          <a:p>
            <a:r>
              <a:t>GUARD: The practice never runs on a scripture the person actively rejects — flicker, not hurricane. A parent's doubt about the very teen across from them moves to a different doubt today and a 1:1 later. Anything bigger than the exercise: bless the naming, end the cycle gently, follow up within 48 hours.</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8:06–8:12 · LEAD: CONTAINER HOLDER</a:t>
            </a:r>
          </a:p>
          <a:p>
            <a:r>
              <a:t>BEATS: 1. What happened in your pair stays in your pair — not back to the pair, not around the dinner table, unless the one who named it brings it up first. 2. One word about the practices, not the doubt or the silent place: 'surprising', 'heavy', 'honest', 'lighter'. Receive with a nod; no commentary. 3. Two closers: this practice takes five minutes alone, for the rest of your life; and the naming is ours — the resolution is the Spirit's work.</a:t>
            </a:r>
          </a:p>
          <a:p>
            <a:r>
              <a:t>CUES: Pass-anytime holds. Watch faces — follow up offline within 48 hours on anything the night stirred.</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8:12–8:21 · LEAD: CONTENT PRESENTER</a:t>
            </a:r>
          </a:p>
          <a:p>
            <a:r>
              <a:t>BEATS: 1. Week one, the Personal Doubts Inventory (H11.2): twenty minutes once; list 5–10 scriptures you say you believe, rate your honest trust in each, write one specific sentence on the two or three lowest. No shame, just data; nobody ever sees it. 2. The check-in at the end of week one. 3. Week two, two journal questions from the Four Connects deck: 'Is there something I heard and did not obey?' and 'What is at risk for me to hear?' 4. The Christmas break: after the two weeks, each week one practice from The Practices So Far card, the one you would really like to do, written down with why. Read the list once, aloud; never steer. 5. The returning rule; name who to reach over the break.</a:t>
            </a:r>
          </a:p>
          <a:p>
            <a:r>
              <a:t>GUARD: Name the break plainly: how long it is, and that The Return opens by asking which practices were chosen and how it went. The choices are made at home, freely.</a:t>
            </a:r>
          </a:p>
          <a:p>
            <a:r>
              <a:t>FROM: the Four Connects deck (FotH, September 2025), 'Hearing God — What If?'.</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8:21–8:25 · LEAD: BOTH LEADERS</a:t>
            </a:r>
          </a:p>
          <a:p>
            <a:r>
              <a:t>BEATS: 1. Same round: leader's three answers first, then the room's two questions — two or three voices is plenty. 2. Receive without defending — 'thank you' is the whole response. 3. May be dropped if the room needs quiet; dropping it twice running goes to the team debrief.</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8:25–8:30 · LEAD: CONTAINER HOLDER</a:t>
            </a:r>
          </a:p>
          <a:p>
            <a:r>
              <a:t>BEATS: 1. What was named in your pair is yours — some doubts quietly resolve, some deepen before they release; both are normal. If anything is heavier than tonight could hold, reach out. 2. Name the Christmas break plainly and who to reach over it; Evening 9, The Return, opens January and asks which practices you chose. Merry Christmas to every house. 3. Aaronic blessing.</a:t>
            </a:r>
          </a:p>
          <a:p>
            <a:r>
              <a:t>BLESSINGS: eyes on the person, not the screen — nothing to read; say what is on your heart for them, specific and short.</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MOVEMENT 3 · pre-session · DIVIDER</a:t>
            </a:r>
          </a:p>
          <a:p>
            <a:r>
              <a:t>On screen as families arrive at the next evening. Greet warmly at the door.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4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4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4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 Id="rId4" Type="http://schemas.openxmlformats.org/officeDocument/2006/relationships/image" Target="../media/image12.png"/><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8-doubts.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8</a:t>
            </a:r>
          </a:p>
          <a:p>
            <a:pPr algn="l">
              <a:spcAft>
                <a:spcPts val="1000"/>
              </a:spcAft>
            </a:pPr>
            <a:r>
              <a:rPr sz="3300" b="1" i="0">
                <a:solidFill>
                  <a:srgbClr val="2C5F2D"/>
                </a:solidFill>
                <a:latin typeface="Cambria"/>
              </a:rPr>
              <a:t>Any Doubts?</a:t>
            </a:r>
          </a:p>
          <a:p>
            <a:pPr algn="l">
              <a:spcAft>
                <a:spcPts val="600"/>
              </a:spcAft>
            </a:pPr>
            <a:r>
              <a:rPr sz="1800" b="0" i="1">
                <a:solidFill>
                  <a:srgbClr val="595959"/>
                </a:solidFill>
                <a:latin typeface="Calibri"/>
              </a:rPr>
              <a:t>Bringing the real question, and bringing it to God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The second movement: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8 stands in the third box — </a:t>
            </a:r>
            <a:r>
              <a:rPr sz="1800" b="1">
                <a:solidFill>
                  <a:srgbClr val="2C5F2D"/>
                </a:solidFill>
                <a:latin typeface="Calibri"/>
              </a:rPr>
              <a:t>Connect with God</a:t>
            </a:r>
            <a:r>
              <a:rPr sz="1800" b="0">
                <a:solidFill>
                  <a:srgbClr val="222B22"/>
                </a:solidFill>
                <a:latin typeface="Calibri"/>
              </a:rPr>
              <a:t>.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200" b="1">
                <a:solidFill>
                  <a:srgbClr val="97BC62"/>
                </a:solidFill>
                <a:latin typeface="Calibri"/>
              </a:rPr>
              <a:t>1   </a:t>
            </a:r>
            <a:r>
              <a:rPr sz="2200">
                <a:solidFill>
                  <a:srgbClr val="222B22"/>
                </a:solidFill>
                <a:latin typeface="Calibri"/>
              </a:rPr>
              <a:t>Welcome and centering</a:t>
            </a:r>
          </a:p>
          <a:p>
            <a:pPr>
              <a:spcAft>
                <a:spcPts val="500"/>
              </a:spcAft>
            </a:pPr>
            <a:r>
              <a:rPr sz="2200" b="1">
                <a:solidFill>
                  <a:srgbClr val="97BC62"/>
                </a:solidFill>
                <a:latin typeface="Calibri"/>
              </a:rPr>
              <a:t>2   </a:t>
            </a:r>
            <a:r>
              <a:rPr sz="2200">
                <a:solidFill>
                  <a:srgbClr val="222B22"/>
                </a:solidFill>
                <a:latin typeface="Calibri"/>
              </a:rPr>
              <a:t>The return — four weeks, and what I’m not sure was God</a:t>
            </a:r>
          </a:p>
          <a:p>
            <a:pPr>
              <a:spcAft>
                <a:spcPts val="500"/>
              </a:spcAft>
            </a:pPr>
            <a:r>
              <a:rPr sz="2200" b="1">
                <a:solidFill>
                  <a:srgbClr val="97BC62"/>
                </a:solidFill>
                <a:latin typeface="Calibri"/>
              </a:rPr>
              <a:t>3   </a:t>
            </a:r>
            <a:r>
              <a:rPr sz="2200">
                <a:solidFill>
                  <a:srgbClr val="222B22"/>
                </a:solidFill>
                <a:latin typeface="Calibri"/>
              </a:rPr>
              <a:t>Mark 9:14–29 — the scripture ground</a:t>
            </a:r>
          </a:p>
          <a:p>
            <a:pPr>
              <a:spcAft>
                <a:spcPts val="500"/>
              </a:spcAft>
            </a:pPr>
            <a:r>
              <a:rPr sz="2200" b="1">
                <a:solidFill>
                  <a:srgbClr val="97BC62"/>
                </a:solidFill>
                <a:latin typeface="Calibri"/>
              </a:rPr>
              <a:t>4   </a:t>
            </a:r>
            <a:r>
              <a:rPr sz="2200">
                <a:solidFill>
                  <a:srgbClr val="222B22"/>
                </a:solidFill>
                <a:latin typeface="Calibri"/>
              </a:rPr>
              <a:t>The Any Doubts? practice — teaching</a:t>
            </a:r>
          </a:p>
          <a:p>
            <a:pPr>
              <a:spcAft>
                <a:spcPts val="500"/>
              </a:spcAft>
            </a:pPr>
            <a:r>
              <a:rPr sz="2200" b="1">
                <a:solidFill>
                  <a:srgbClr val="97BC62"/>
                </a:solidFill>
                <a:latin typeface="Calibri"/>
              </a:rPr>
              <a:t>5   </a:t>
            </a:r>
            <a:r>
              <a:rPr sz="2200">
                <a:solidFill>
                  <a:srgbClr val="222B22"/>
                </a:solidFill>
                <a:latin typeface="Calibri"/>
              </a:rPr>
              <a:t>Bridge to pairs</a:t>
            </a:r>
          </a:p>
          <a:p>
            <a:pPr>
              <a:spcAft>
                <a:spcPts val="500"/>
              </a:spcAft>
            </a:pPr>
            <a:r>
              <a:rPr sz="2200" b="1">
                <a:solidFill>
                  <a:srgbClr val="97BC62"/>
                </a:solidFill>
                <a:latin typeface="Calibri"/>
              </a:rPr>
              <a:t>6   </a:t>
            </a:r>
            <a:r>
              <a:rPr sz="2200">
                <a:solidFill>
                  <a:srgbClr val="222B22"/>
                </a:solidFill>
                <a:latin typeface="Calibri"/>
              </a:rPr>
              <a:t>Any Doubts? in pairs within families</a:t>
            </a:r>
          </a:p>
          <a:p>
            <a:pPr>
              <a:spcAft>
                <a:spcPts val="500"/>
              </a:spcAft>
            </a:pPr>
            <a:r>
              <a:rPr sz="2200" b="1">
                <a:solidFill>
                  <a:srgbClr val="97BC62"/>
                </a:solidFill>
                <a:latin typeface="Calibri"/>
              </a:rPr>
              <a:t>7   </a:t>
            </a:r>
            <a:r>
              <a:rPr sz="2200">
                <a:solidFill>
                  <a:srgbClr val="222B22"/>
                </a:solidFill>
                <a:latin typeface="Calibri"/>
              </a:rPr>
              <a:t>The silent place — bringing in the time you heard</a:t>
            </a:r>
          </a:p>
          <a:p>
            <a:pPr>
              <a:spcAft>
                <a:spcPts val="500"/>
              </a:spcAft>
            </a:pPr>
            <a:r>
              <a:rPr sz="2200" b="1">
                <a:solidFill>
                  <a:srgbClr val="97BC62"/>
                </a:solidFill>
                <a:latin typeface="Calibri"/>
              </a:rPr>
              <a:t>8   </a:t>
            </a:r>
            <a:r>
              <a:rPr sz="2200">
                <a:solidFill>
                  <a:srgbClr val="222B22"/>
                </a:solidFill>
                <a:latin typeface="Calibri"/>
              </a:rPr>
              <a:t>Merge and surface</a:t>
            </a:r>
          </a:p>
          <a:p>
            <a:pPr>
              <a:spcAft>
                <a:spcPts val="500"/>
              </a:spcAft>
            </a:pPr>
            <a:r>
              <a:rPr sz="2200" b="1">
                <a:solidFill>
                  <a:srgbClr val="97BC62"/>
                </a:solidFill>
                <a:latin typeface="Calibri"/>
              </a:rPr>
              <a:t>9   </a:t>
            </a:r>
            <a:r>
              <a:rPr sz="2200">
                <a:solidFill>
                  <a:srgbClr val="222B22"/>
                </a:solidFill>
                <a:latin typeface="Calibri"/>
              </a:rPr>
              <a:t>Homework and the Christmas break</a:t>
            </a:r>
          </a:p>
          <a:p>
            <a:pPr>
              <a:spcAft>
                <a:spcPts val="500"/>
              </a:spcAft>
            </a:pPr>
            <a:r>
              <a:rPr sz="2200" b="1">
                <a:solidFill>
                  <a:srgbClr val="97BC62"/>
                </a:solidFill>
                <a:latin typeface="Calibri"/>
              </a:rPr>
              <a:t>10  </a:t>
            </a:r>
            <a:r>
              <a:rPr sz="2200">
                <a:solidFill>
                  <a:srgbClr val="222B22"/>
                </a:solidFill>
                <a:latin typeface="Calibri"/>
              </a:rPr>
              <a:t>Leader Feedback Round</a:t>
            </a:r>
          </a:p>
          <a:p>
            <a:pPr>
              <a:spcAft>
                <a:spcPts val="500"/>
              </a:spcAft>
            </a:pPr>
            <a:r>
              <a:rPr sz="2200" b="1">
                <a:solidFill>
                  <a:srgbClr val="97BC62"/>
                </a:solidFill>
                <a:latin typeface="Calibri"/>
              </a:rPr>
              <a:t>11  </a:t>
            </a:r>
            <a:r>
              <a:rPr sz="22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Return — Four Weeks, and What I’m Not Sure Was God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600" b="1" i="0">
                <a:solidFill>
                  <a:srgbClr val="97BC62"/>
                </a:solidFill>
                <a:latin typeface="Calibri"/>
              </a:rPr>
              <a:t>•  </a:t>
            </a:r>
            <a:r>
              <a:rPr sz="2600" b="0" i="0">
                <a:solidFill>
                  <a:srgbClr val="222B22"/>
                </a:solidFill>
                <a:latin typeface="Calibri"/>
              </a:rPr>
              <a:t>Which practices did you choose for weeks three and four — and why?</a:t>
            </a:r>
          </a:p>
          <a:p>
            <a:pPr marL="274320" indent="-274320">
              <a:spcAft>
                <a:spcPts val="900"/>
              </a:spcAft>
            </a:pPr>
            <a:r>
              <a:rPr sz="2600" b="1" i="0">
                <a:solidFill>
                  <a:srgbClr val="97BC62"/>
                </a:solidFill>
                <a:latin typeface="Calibri"/>
              </a:rPr>
              <a:t>•  </a:t>
            </a:r>
            <a:r>
              <a:rPr sz="2600" b="0" i="0">
                <a:solidFill>
                  <a:srgbClr val="222B22"/>
                </a:solidFill>
                <a:latin typeface="Calibri"/>
              </a:rPr>
              <a:t>What held? When it slipped, did you come back on your own?</a:t>
            </a:r>
          </a:p>
          <a:p>
            <a:pPr marL="274320" indent="-274320">
              <a:spcAft>
                <a:spcPts val="900"/>
              </a:spcAft>
            </a:pPr>
            <a:r>
              <a:rPr sz="2600" b="1" i="0">
                <a:solidFill>
                  <a:srgbClr val="97BC62"/>
                </a:solidFill>
                <a:latin typeface="Calibri"/>
              </a:rPr>
              <a:t>•  </a:t>
            </a:r>
            <a:r>
              <a:rPr sz="2600" b="0" i="0">
                <a:solidFill>
                  <a:srgbClr val="222B22"/>
                </a:solidFill>
                <a:latin typeface="Calibri"/>
              </a:rPr>
              <a:t>Which one would you keep?</a:t>
            </a:r>
          </a:p>
          <a:p>
            <a:pPr marL="274320" indent="-274320">
              <a:spcAft>
                <a:spcPts val="900"/>
              </a:spcAft>
            </a:pPr>
            <a:r>
              <a:rPr sz="2600" b="1" i="0">
                <a:solidFill>
                  <a:srgbClr val="97BC62"/>
                </a:solidFill>
                <a:latin typeface="Calibri"/>
              </a:rPr>
              <a:t>•  </a:t>
            </a:r>
            <a:r>
              <a:rPr sz="2600" b="0" i="0">
                <a:solidFill>
                  <a:srgbClr val="222B22"/>
                </a:solidFill>
                <a:latin typeface="Calibri"/>
              </a:rPr>
              <a:t>“One thing I’m not sure was God” — say it, or keep it for your pair</a:t>
            </a:r>
          </a:p>
          <a:p>
            <a:pPr marL="274320" indent="-274320">
              <a:spcAft>
                <a:spcPts val="900"/>
              </a:spcAft>
            </a:pPr>
            <a:r>
              <a:rPr sz="2600" b="1" i="0">
                <a:solidFill>
                  <a:srgbClr val="97BC62"/>
                </a:solidFill>
                <a:latin typeface="Calibri"/>
              </a:rPr>
              <a:t>–  </a:t>
            </a:r>
            <a:r>
              <a:rPr sz="2600" b="0" i="0">
                <a:solidFill>
                  <a:srgbClr val="222B22"/>
                </a:solidFill>
                <a:latin typeface="Calibri"/>
              </a:rPr>
              <a:t>“We hear that.” No comment; slips are data</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Mark 9:14–29 — the Scripture Ground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The whole scene, read slowly — the desperate father, the failed disciples, the boy in convulsions</a:t>
            </a:r>
          </a:p>
          <a:p>
            <a:pPr marL="274320" indent="-274320">
              <a:spcAft>
                <a:spcPts val="800"/>
              </a:spcAft>
            </a:pPr>
            <a:r>
              <a:rPr sz="2200" b="1" i="0">
                <a:solidFill>
                  <a:srgbClr val="97BC62"/>
                </a:solidFill>
                <a:latin typeface="Calibri"/>
              </a:rPr>
              <a:t>•  </a:t>
            </a:r>
            <a:r>
              <a:rPr sz="2200" b="0" i="0">
                <a:solidFill>
                  <a:srgbClr val="222B22"/>
                </a:solidFill>
                <a:latin typeface="Calibri"/>
              </a:rPr>
              <a:t>He does not pretend the unbelief is not there — he names both at once. And Jesus does not rebuke him; Jesus heals the boy</a:t>
            </a:r>
          </a:p>
          <a:p>
            <a:pPr marL="274320" indent="-274320">
              <a:spcAft>
                <a:spcPts val="800"/>
              </a:spcAft>
            </a:pPr>
            <a:r>
              <a:rPr sz="2200" b="1" i="0">
                <a:solidFill>
                  <a:srgbClr val="97BC62"/>
                </a:solidFill>
                <a:latin typeface="Calibri"/>
              </a:rPr>
              <a:t>•  </a:t>
            </a:r>
            <a:r>
              <a:rPr sz="2200" b="0" i="0">
                <a:solidFill>
                  <a:srgbClr val="222B22"/>
                </a:solidFill>
                <a:latin typeface="Calibri"/>
              </a:rPr>
              <a:t>The unbelief that is named and brought to Jesus is the unbelief that can be released; suppressed, it works as a quiet brake</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generating new doubts — it is bringing the ones already there into the open, and bringing them to Jesus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MARK 9:24</a:t>
            </a:r>
          </a:p>
          <a:p>
            <a:pPr>
              <a:spcAft>
                <a:spcPts val="600"/>
              </a:spcAft>
            </a:pPr>
            <a:r>
              <a:rPr sz="2400" b="0" i="1">
                <a:solidFill>
                  <a:srgbClr val="222B22"/>
                </a:solidFill>
                <a:latin typeface="Cambria"/>
              </a:rPr>
              <a:t>“Immediately the father of the child cried out and said, ‘I believe; help my unbelief!’”</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164</a:t>
            </a:r>
            <a:endParaRPr sz="1000" b="1">
              <a:solidFill>
                <a:srgbClr val="7A8A6E"/>
              </a:solidFill>
              <a:latin typeface="Calibri"/>
            </a:endParaRPr>
          </a:p>
        </p:txBody>
      </p:sp>
      <p:pic>
        <p:nvPicPr>
          <p:cNvPr id="91" name="Picture 91" descr="a sunlit pine trail with mist in the trees"/>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Any Doubts? Practice — Four Steps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900"/>
              </a:spcAft>
            </a:pPr>
            <a:r>
              <a:rPr sz="1900" b="1" i="0">
                <a:solidFill>
                  <a:srgbClr val="97BC62"/>
                </a:solidFill>
                <a:latin typeface="Calibri"/>
              </a:rPr>
              <a:t>1   </a:t>
            </a:r>
            <a:r>
              <a:rPr sz="1900" b="0" i="0">
                <a:solidFill>
                  <a:srgbClr val="222B22"/>
                </a:solidFill>
                <a:latin typeface="Calibri"/>
              </a:rPr>
              <a:t>NAME — the scripture, then the doubt. Specific, not abstract: “I doubt He hears prayer about this specific thing”</a:t>
            </a:r>
          </a:p>
          <a:p>
            <a:pPr marL="342900" indent="-342900">
              <a:spcAft>
                <a:spcPts val="900"/>
              </a:spcAft>
            </a:pPr>
            <a:r>
              <a:rPr sz="1900" b="1" i="0">
                <a:solidFill>
                  <a:srgbClr val="97BC62"/>
                </a:solidFill>
                <a:latin typeface="Calibri"/>
              </a:rPr>
              <a:t>2   </a:t>
            </a:r>
            <a:r>
              <a:rPr sz="1900" b="0" i="0">
                <a:solidFill>
                  <a:srgbClr val="222B22"/>
                </a:solidFill>
                <a:latin typeface="Calibri"/>
              </a:rPr>
              <a:t>EXAGGERATE — make the doubt bigger, not smaller. You are not endorsing it; you are exposing it</a:t>
            </a:r>
          </a:p>
          <a:p>
            <a:pPr marL="342900" indent="-342900">
              <a:spcAft>
                <a:spcPts val="900"/>
              </a:spcAft>
            </a:pPr>
            <a:r>
              <a:rPr sz="1900" b="1" i="0">
                <a:solidFill>
                  <a:srgbClr val="97BC62"/>
                </a:solidFill>
                <a:latin typeface="Calibri"/>
              </a:rPr>
              <a:t>3   </a:t>
            </a:r>
            <a:r>
              <a:rPr sz="1900" b="0" i="0">
                <a:solidFill>
                  <a:srgbClr val="222B22"/>
                </a:solidFill>
                <a:latin typeface="Calibri"/>
              </a:rPr>
              <a:t>SIT — what does the doubt feel like in your body? Ten or fifteen seconds. Don’t fix it. Feel it</a:t>
            </a:r>
          </a:p>
          <a:p>
            <a:pPr marL="342900" indent="-342900">
              <a:spcAft>
                <a:spcPts val="900"/>
              </a:spcAft>
            </a:pPr>
            <a:r>
              <a:rPr sz="1900" b="1" i="0">
                <a:solidFill>
                  <a:srgbClr val="97BC62"/>
                </a:solidFill>
                <a:latin typeface="Calibri"/>
              </a:rPr>
              <a:t>4   </a:t>
            </a:r>
            <a:r>
              <a:rPr sz="1900" b="0" i="0">
                <a:solidFill>
                  <a:srgbClr val="222B22"/>
                </a:solidFill>
                <a:latin typeface="Calibri"/>
              </a:rPr>
              <a:t>RE-READ — your partner reads the same scripture again, slowly. The Spirit does the work; you do the noticing</a:t>
            </a:r>
          </a:p>
          <a:p>
            <a:pPr marL="342900" indent="-342900">
              <a:spcAft>
                <a:spcPts val="900"/>
              </a:spcAft>
            </a:pPr>
            <a:r>
              <a:rPr sz="1900" b="1" i="0">
                <a:solidFill>
                  <a:srgbClr val="97BC62"/>
                </a:solidFill>
                <a:latin typeface="Calibri"/>
              </a:rPr>
              <a:t>•  </a:t>
            </a:r>
            <a:r>
              <a:rPr sz="1900" b="0" i="0">
                <a:solidFill>
                  <a:srgbClr val="222B22"/>
                </a:solidFill>
                <a:latin typeface="Calibri"/>
              </a:rPr>
              <a:t>Two kinds of doubt: what God has said — these four steps; whether I heard him — the How Did You Know? checks</a:t>
            </a:r>
          </a:p>
          <a:p>
            <a:pPr marL="342900" indent="-342900">
              <a:spcAft>
                <a:spcPts val="900"/>
              </a:spcAft>
            </a:pPr>
            <a:r>
              <a:rPr sz="1900" b="1" i="0">
                <a:solidFill>
                  <a:srgbClr val="97BC62"/>
                </a:solidFill>
                <a:latin typeface="Calibri"/>
              </a:rPr>
              <a:t>•  </a:t>
            </a:r>
            <a:r>
              <a:rPr sz="1900" b="0" i="0">
                <a:solidFill>
                  <a:srgbClr val="222B22"/>
                </a:solidFill>
                <a:latin typeface="Calibri"/>
              </a:rPr>
              <a:t>Watch the demo — specific, honest, brief, and unresolved-but-honest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165</a:t>
            </a:r>
            <a:endParaRPr sz="1000" b="1">
              <a:solidFill>
                <a:srgbClr val="7A8A6E"/>
              </a:solidFill>
              <a:latin typeface="Calibri"/>
            </a:endParaRPr>
          </a:p>
        </p:txBody>
      </p:sp>
      <p:pic>
        <p:nvPicPr>
          <p:cNvPr id="91" name="Picture 91" descr="soft rays of light falling through fog onto a forest road"/>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Parents First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Take the practice card from your chair — Name · Exaggerate · Sit · Re-read. Pairs form within your own family, a parent with their own teen</a:t>
            </a:r>
          </a:p>
          <a:p>
            <a:pPr marL="274320" indent="-274320">
              <a:spcAft>
                <a:spcPts val="900"/>
              </a:spcAft>
            </a:pPr>
            <a:r>
              <a:rPr sz="2400" b="1" i="0">
                <a:solidFill>
                  <a:srgbClr val="97BC62"/>
                </a:solidFill>
                <a:latin typeface="Calibri"/>
              </a:rPr>
              <a:t>•  </a:t>
            </a:r>
            <a:r>
              <a:rPr sz="2400" b="0" i="0">
                <a:solidFill>
                  <a:srgbClr val="222B22"/>
                </a:solidFill>
                <a:latin typeface="Calibri"/>
              </a:rPr>
              <a:t>In every pair the parent goes first — arranged this week; nobody is being put on the spot tonight</a:t>
            </a:r>
          </a:p>
          <a:p>
            <a:pPr marL="685800" indent="-274320">
              <a:spcAft>
                <a:spcPts val="700"/>
              </a:spcAft>
            </a:pPr>
            <a:r>
              <a:rPr sz="1800" b="1" i="0">
                <a:solidFill>
                  <a:srgbClr val="97BC62"/>
                </a:solidFill>
                <a:latin typeface="Calibri"/>
              </a:rPr>
              <a:t>–  </a:t>
            </a:r>
            <a:r>
              <a:rPr sz="1800" b="0" i="1">
                <a:solidFill>
                  <a:srgbClr val="222B22"/>
                </a:solidFill>
                <a:latin typeface="Calibri"/>
              </a:rPr>
              <a:t>“Teens: you go second, and you choose your own depth. A small doubt is enough. Passing is enough.”</a:t>
            </a:r>
          </a:p>
          <a:p>
            <a:pPr marL="274320" indent="-274320">
              <a:spcAft>
                <a:spcPts val="900"/>
              </a:spcAft>
            </a:pPr>
            <a:r>
              <a:rPr sz="2400" b="1" i="0">
                <a:solidFill>
                  <a:srgbClr val="97BC62"/>
                </a:solidFill>
                <a:latin typeface="Calibri"/>
              </a:rPr>
              <a:t>•  </a:t>
            </a:r>
            <a:r>
              <a:rPr sz="2400" b="0" i="0">
                <a:solidFill>
                  <a:srgbClr val="222B22"/>
                </a:solidFill>
                <a:latin typeface="Calibri"/>
              </a:rPr>
              <a:t>No scripture in mind? Pick one with a flicker for you, not a hurricane</a:t>
            </a:r>
          </a:p>
          <a:p>
            <a:pPr marL="685800" indent="-274320">
              <a:spcAft>
                <a:spcPts val="650"/>
              </a:spcAft>
            </a:pPr>
            <a:r>
              <a:rPr sz="1800" b="1" i="0">
                <a:solidFill>
                  <a:srgbClr val="97BC62"/>
                </a:solidFill>
                <a:latin typeface="Calibri"/>
              </a:rPr>
              <a:t>–  </a:t>
            </a:r>
            <a:r>
              <a:rPr sz="1800" b="0" i="0">
                <a:solidFill>
                  <a:srgbClr val="222B22"/>
                </a:solidFill>
                <a:latin typeface="Calibri"/>
              </a:rPr>
              <a:t>Romans 8:28 · Jeremiah 29:11 · Psalm 139:13–16 · John 14:1–3 · Romans 8:38–39 · James 1:5</a:t>
            </a:r>
          </a:p>
          <a:p>
            <a:pPr marL="274320" indent="-274320">
              <a:spcAft>
                <a:spcPts val="900"/>
              </a:spcAft>
            </a:pPr>
            <a:r>
              <a:rPr sz="2400" b="1" i="0">
                <a:solidFill>
                  <a:srgbClr val="97BC62"/>
                </a:solidFill>
                <a:latin typeface="Calibri"/>
              </a:rPr>
              <a:t>•  </a:t>
            </a:r>
            <a:r>
              <a:rPr sz="2400" b="0" i="0">
                <a:solidFill>
                  <a:srgbClr val="222B22"/>
                </a:solidFill>
                <a:latin typeface="Calibri"/>
              </a:rPr>
              <a:t>Partners: read, listen, re-read. Not fix. Not theologize. “We are not arguing the doubt. We are bringing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166</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Any Doubts? in Pairs, within Families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Pick a scripture; your partner reads it slowly — from the physical Bible if possible</a:t>
            </a:r>
          </a:p>
          <a:p>
            <a:pPr marL="342900" indent="-342900">
              <a:spcAft>
                <a:spcPts val="750"/>
              </a:spcAft>
            </a:pPr>
            <a:r>
              <a:rPr sz="2400" b="1" i="0">
                <a:solidFill>
                  <a:srgbClr val="97BC62"/>
                </a:solidFill>
                <a:latin typeface="Calibri"/>
              </a:rPr>
              <a:t>2   </a:t>
            </a:r>
            <a:r>
              <a:rPr sz="2400" b="0" i="0">
                <a:solidFill>
                  <a:srgbClr val="222B22"/>
                </a:solidFill>
                <a:latin typeface="Calibri"/>
              </a:rPr>
              <a:t>“What I notice is ___. The doubt I am holding is ___.” — specific</a:t>
            </a:r>
          </a:p>
          <a:p>
            <a:pPr marL="342900" indent="-342900">
              <a:spcAft>
                <a:spcPts val="750"/>
              </a:spcAft>
            </a:pPr>
            <a:r>
              <a:rPr sz="2400" b="1" i="0">
                <a:solidFill>
                  <a:srgbClr val="97BC62"/>
                </a:solidFill>
                <a:latin typeface="Calibri"/>
              </a:rPr>
              <a:t>3   </a:t>
            </a:r>
            <a:r>
              <a:rPr sz="2400" b="0" i="0">
                <a:solidFill>
                  <a:srgbClr val="222B22"/>
                </a:solidFill>
                <a:latin typeface="Calibri"/>
              </a:rPr>
              <a:t>Exaggerate it, then sit with the feeling for 10–20 seconds</a:t>
            </a:r>
          </a:p>
          <a:p>
            <a:pPr marL="342900" indent="-342900">
              <a:spcAft>
                <a:spcPts val="750"/>
              </a:spcAft>
            </a:pPr>
            <a:r>
              <a:rPr sz="2400" b="1" i="0">
                <a:solidFill>
                  <a:srgbClr val="97BC62"/>
                </a:solidFill>
                <a:latin typeface="Calibri"/>
              </a:rPr>
              <a:t>4   </a:t>
            </a:r>
            <a:r>
              <a:rPr sz="2400" b="0" i="0">
                <a:solidFill>
                  <a:srgbClr val="222B22"/>
                </a:solidFill>
                <a:latin typeface="Calibri"/>
              </a:rPr>
              <a:t>“Read it again, please.” Then: “What I notice this time is ___.”</a:t>
            </a:r>
          </a:p>
          <a:p>
            <a:pPr marL="274320" indent="-274320">
              <a:spcAft>
                <a:spcPts val="750"/>
              </a:spcAft>
            </a:pPr>
            <a:r>
              <a:rPr sz="2400" b="1" i="0">
                <a:solidFill>
                  <a:srgbClr val="97BC62"/>
                </a:solidFill>
                <a:latin typeface="Calibri"/>
              </a:rPr>
              <a:t>•  </a:t>
            </a:r>
            <a:r>
              <a:rPr sz="2400" b="0" i="0">
                <a:solidFill>
                  <a:srgbClr val="222B22"/>
                </a:solidFill>
                <a:latin typeface="Calibri"/>
              </a:rPr>
              <a:t>The parent’s turn first, then switch — the teen at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Two agreements: you are not arguing or fixing the doubt — and nothing leaves your pair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167</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Silent Place — Bringing In the Time You Heard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Settle (1 min) — breathe; be present; he is here</a:t>
            </a:r>
          </a:p>
          <a:p>
            <a:pPr marL="342900" indent="-342900">
              <a:spcAft>
                <a:spcPts val="750"/>
              </a:spcAft>
            </a:pPr>
            <a:r>
              <a:rPr sz="2000" b="1" i="0">
                <a:solidFill>
                  <a:srgbClr val="97BC62"/>
                </a:solidFill>
                <a:latin typeface="Calibri"/>
              </a:rPr>
              <a:t>2   </a:t>
            </a:r>
            <a:r>
              <a:rPr sz="2000" b="0" i="0">
                <a:solidFill>
                  <a:srgbClr val="222B22"/>
                </a:solidFill>
                <a:latin typeface="Calibri"/>
              </a:rPr>
              <a:t>Remember (2 min) — a time or place where God seemed silent: a dry spell, a prayer that met nothing. Get clear on it</a:t>
            </a:r>
          </a:p>
          <a:p>
            <a:pPr marL="342900" indent="-342900">
              <a:spcAft>
                <a:spcPts val="750"/>
              </a:spcAft>
            </a:pPr>
            <a:r>
              <a:rPr sz="2000" b="1" i="0">
                <a:solidFill>
                  <a:srgbClr val="97BC62"/>
                </a:solidFill>
                <a:latin typeface="Calibri"/>
              </a:rPr>
              <a:t>3   </a:t>
            </a:r>
            <a:r>
              <a:rPr sz="2000" b="0" i="0">
                <a:solidFill>
                  <a:srgbClr val="222B22"/>
                </a:solidFill>
                <a:latin typeface="Calibri"/>
              </a:rPr>
              <a:t>Bring in the time you heard — the memory from the Garden evening: what it looked, sounded, felt like</a:t>
            </a:r>
          </a:p>
          <a:p>
            <a:pPr marL="342900" indent="-342900">
              <a:spcAft>
                <a:spcPts val="750"/>
              </a:spcAft>
            </a:pPr>
            <a:r>
              <a:rPr sz="2000" b="1" i="0">
                <a:solidFill>
                  <a:srgbClr val="97BC62"/>
                </a:solidFill>
                <a:latin typeface="Calibri"/>
              </a:rPr>
              <a:t>4   </a:t>
            </a:r>
            <a:r>
              <a:rPr sz="2000" b="0" i="0">
                <a:solidFill>
                  <a:srgbClr val="222B22"/>
                </a:solidFill>
                <a:latin typeface="Calibri"/>
              </a:rPr>
              <a:t>Invite Jesus into the silent place (4 min) — give him permission to do or say anything he wishes; see what he does</a:t>
            </a:r>
          </a:p>
          <a:p>
            <a:pPr marL="342900" indent="-342900">
              <a:spcAft>
                <a:spcPts val="750"/>
              </a:spcAft>
            </a:pPr>
            <a:r>
              <a:rPr sz="2000" b="1" i="0">
                <a:solidFill>
                  <a:srgbClr val="97BC62"/>
                </a:solidFill>
                <a:latin typeface="Calibri"/>
              </a:rPr>
              <a:t>5   </a:t>
            </a:r>
            <a:r>
              <a:rPr sz="2000" b="0" i="0">
                <a:solidFill>
                  <a:srgbClr val="222B22"/>
                </a:solidFill>
                <a:latin typeface="Calibri"/>
              </a:rPr>
              <a:t>Write (3 min) — what did he do? Is something blocking, or in the way? What might be the downside of a deeper connection?</a:t>
            </a:r>
          </a:p>
          <a:p>
            <a:pPr marL="342900" indent="-342900">
              <a:spcAft>
                <a:spcPts val="750"/>
              </a:spcAft>
            </a:pPr>
            <a:r>
              <a:rPr sz="2000" b="1" i="0">
                <a:solidFill>
                  <a:srgbClr val="97BC62"/>
                </a:solidFill>
                <a:latin typeface="Calibri"/>
              </a:rPr>
              <a:t>6   </a:t>
            </a:r>
            <a:r>
              <a:rPr sz="2000" b="0" i="0">
                <a:solidFill>
                  <a:srgbClr val="222B22"/>
                </a:solidFill>
                <a:latin typeface="Calibri"/>
              </a:rPr>
              <a:t>Share (2 min) — optional, one circle, by invitation; received with “Thank you.”</a:t>
            </a:r>
          </a:p>
          <a:p>
            <a:pPr marL="342900" indent="-342900">
              <a:spcAft>
                <a:spcPts val="750"/>
              </a:spcAft>
            </a:pPr>
            <a:r>
              <a:rPr sz="2000" b="1" i="0">
                <a:solidFill>
                  <a:srgbClr val="97BC62"/>
                </a:solidFill>
                <a:latin typeface="Calibri"/>
              </a:rPr>
              <a:t>•  </a:t>
            </a:r>
            <a:r>
              <a:rPr sz="2000" b="0" i="0">
                <a:solidFill>
                  <a:srgbClr val="222B22"/>
                </a:solidFill>
                <a:latin typeface="Calibri"/>
              </a:rPr>
              <a:t>If nothing comes, that is honest. Silence is not a verdict on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168</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pair stays in your pair — no one will be asked to share a doubt or a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the practice was like. Not the doubt — the practice.”</a:t>
            </a:r>
          </a:p>
          <a:p>
            <a:pPr marL="685800" indent="-274320">
              <a:spcAft>
                <a:spcPts val="700"/>
              </a:spcAft>
            </a:pPr>
            <a:r>
              <a:rPr sz="2000" b="1" i="0">
                <a:solidFill>
                  <a:srgbClr val="97BC62"/>
                </a:solidFill>
                <a:latin typeface="Calibri"/>
              </a:rPr>
              <a:t>–  </a:t>
            </a:r>
            <a:r>
              <a:rPr sz="2000" b="0" i="1">
                <a:solidFill>
                  <a:srgbClr val="222B22"/>
                </a:solidFill>
                <a:latin typeface="Calibri"/>
              </a:rPr>
              <a:t>“Surprising.” “Heavy.” “Quiet.” “Awkward.” “Honest.” “Lighter.”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This practice fits in five minutes alone, or twenty with a friend — a way of bringing your real questions to God for the rest of your life</a:t>
            </a:r>
          </a:p>
          <a:p>
            <a:pPr marL="274320" indent="-274320">
              <a:spcAft>
                <a:spcPts val="900"/>
              </a:spcAft>
            </a:pPr>
            <a:r>
              <a:rPr sz="2800" b="1" i="0">
                <a:solidFill>
                  <a:srgbClr val="97BC62"/>
                </a:solidFill>
                <a:latin typeface="Calibri"/>
              </a:rPr>
              <a:t>•  </a:t>
            </a:r>
            <a:r>
              <a:rPr sz="2800" b="0" i="0">
                <a:solidFill>
                  <a:srgbClr val="222B22"/>
                </a:solidFill>
                <a:latin typeface="Calibri"/>
              </a:rPr>
              <a:t>“The resolution is the Spirit’s work. The naming is yours. We do the naming. He does what only He can.”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169</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Then the Christmas Break</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Week one: the Personal Doubts Inventory — twenty minutes, once; no shame, just data, never turned in</a:t>
            </a:r>
          </a:p>
          <a:p>
            <a:pPr marL="274320" indent="-274320">
              <a:spcAft>
                <a:spcPts val="750"/>
              </a:spcAft>
            </a:pPr>
            <a:r>
              <a:rPr sz="2000" b="1" i="0">
                <a:solidFill>
                  <a:srgbClr val="97BC62"/>
                </a:solidFill>
                <a:latin typeface="Calibri"/>
              </a:rPr>
              <a:t>•  </a:t>
            </a:r>
            <a:r>
              <a:rPr sz="2000" b="0" i="0">
                <a:solidFill>
                  <a:srgbClr val="222B22"/>
                </a:solidFill>
                <a:latin typeface="Calibri"/>
              </a:rPr>
              <a:t>End of week one: the check-in with your partner</a:t>
            </a:r>
          </a:p>
          <a:p>
            <a:pPr marL="274320" indent="-274320">
              <a:spcAft>
                <a:spcPts val="750"/>
              </a:spcAft>
            </a:pPr>
            <a:r>
              <a:rPr sz="2000" b="1" i="0">
                <a:solidFill>
                  <a:srgbClr val="97BC62"/>
                </a:solidFill>
                <a:latin typeface="Calibri"/>
              </a:rPr>
              <a:t>•  </a:t>
            </a:r>
            <a:r>
              <a:rPr sz="2000" b="0" i="0">
                <a:solidFill>
                  <a:srgbClr val="222B22"/>
                </a:solidFill>
                <a:latin typeface="Calibri"/>
              </a:rPr>
              <a:t>Week two, two journal questions: Is there something I heard and did not obey? What is at risk for me to hear?</a:t>
            </a:r>
          </a:p>
          <a:p>
            <a:pPr marL="274320" indent="-274320">
              <a:spcAft>
                <a:spcPts val="750"/>
              </a:spcAft>
            </a:pPr>
            <a:r>
              <a:rPr sz="2000" b="1" i="0">
                <a:solidFill>
                  <a:srgbClr val="97BC62"/>
                </a:solidFill>
                <a:latin typeface="Calibri"/>
              </a:rPr>
              <a:t>•  </a:t>
            </a:r>
            <a:r>
              <a:rPr sz="2000" b="0" i="0">
                <a:solidFill>
                  <a:srgbClr val="222B22"/>
                </a:solidFill>
                <a:latin typeface="Calibri"/>
              </a:rPr>
              <a:t>Then each week of the break: one practice from The Practices So Far — Any Doubts? is on it now — written down, with why</a:t>
            </a:r>
          </a:p>
          <a:p>
            <a:pPr marL="274320" indent="-274320">
              <a:spcAft>
                <a:spcPts val="750"/>
              </a:spcAft>
            </a:pPr>
            <a:r>
              <a:rPr sz="2000" b="1" i="0">
                <a:solidFill>
                  <a:srgbClr val="97BC62"/>
                </a:solidFill>
                <a:latin typeface="Calibri"/>
              </a:rPr>
              <a:t>•  </a:t>
            </a:r>
            <a:r>
              <a:rPr sz="2000" b="0" i="0">
                <a:solidFill>
                  <a:srgbClr val="222B22"/>
                </a:solidFill>
                <a:latin typeface="Calibri"/>
              </a:rPr>
              <a:t>If it slips: begin again the next day. No streaks. You know who to reach</a:t>
            </a:r>
          </a:p>
          <a:p>
            <a:pPr marL="274320" indent="-274320">
              <a:spcAft>
                <a:spcPts val="750"/>
              </a:spcAft>
            </a:pPr>
            <a:r>
              <a:rPr sz="2000" b="1" i="0">
                <a:solidFill>
                  <a:srgbClr val="97BC62"/>
                </a:solidFill>
                <a:latin typeface="Calibri"/>
              </a:rPr>
              <a:t>•  </a:t>
            </a:r>
            <a:r>
              <a:rPr sz="2000" b="0" i="0">
                <a:solidFill>
                  <a:srgbClr val="222B22"/>
                </a:solidFill>
                <a:latin typeface="Calibri"/>
              </a:rPr>
              <a:t>The Return in January opens with: which did you choose? Did you come back on your own? Which would you keep?</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171</a:t>
            </a:r>
            <a:endParaRPr sz="1000" b="1">
              <a:solidFill>
                <a:srgbClr val="7A8A6E"/>
              </a:solidFill>
              <a:latin typeface="Calibri"/>
            </a:endParaRPr>
          </a:p>
        </p:txBody>
      </p:sp>
      <p:pic>
        <p:nvPicPr>
          <p:cNvPr id="91" name="Picture 90" descr="e8new_s14.png"/>
          <p:cNvPicPr>
            <a:picLocks noChangeAspect="1"/>
          </p:cNvPicPr>
          <p:nvPr/>
        </p:nvPicPr>
        <p:blipFill>
          <a:blip r:embed="rId4"/>
          <a:stretch>
            <a:fillRect/>
          </a:stretch>
        </p:blipFill>
        <p:spPr>
          <a:xfrm>
            <a:off x="1798167" y="1463040"/>
            <a:ext cx="8595360" cy="295714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Five Parts</a:t>
            </a:r>
          </a:p>
        </p:txBody>
      </p:sp>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Two weeks as always, then the break you choose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172</a:t>
            </a:r>
            <a:endParaRPr sz="1000" b="1">
              <a:solidFill>
                <a:srgbClr val="7A8A6E"/>
              </a:solidFill>
              <a:latin typeface="Calibri"/>
            </a:endParaRPr>
          </a:p>
        </p:txBody>
      </p:sp>
      <p:pic>
        <p:nvPicPr>
          <p:cNvPr id="91" name="Picture 90" descr="e8new_s15b.png"/>
          <p:cNvPicPr>
            <a:picLocks noChangeAspect="1"/>
          </p:cNvPicPr>
          <p:nvPr/>
        </p:nvPicPr>
        <p:blipFill>
          <a:blip r:embed="rId5"/>
          <a:stretch>
            <a:fillRect/>
          </a:stretch>
        </p:blipFill>
        <p:spPr>
          <a:xfrm>
            <a:off x="3399609" y="1463040"/>
            <a:ext cx="5392782" cy="4800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The Third Movement</a:t>
            </a:r>
          </a:p>
          <a:p>
            <a:pPr algn="l">
              <a:spcAft>
                <a:spcPts val="600"/>
              </a:spcAft>
            </a:pPr>
            <a:r>
              <a:rPr sz="4000" b="1" i="0">
                <a:solidFill>
                  <a:srgbClr val="FFFFFF"/>
                </a:solidFill>
                <a:latin typeface="Cambria"/>
              </a:rPr>
              <a:t>Mission &amp; Rhythm</a:t>
            </a:r>
          </a:p>
          <a:p>
            <a:pPr algn="l">
              <a:spcAft>
                <a:spcPts val="600"/>
              </a:spcAft>
            </a:pPr>
            <a:r>
              <a:rPr sz="1800" b="0" i="1">
                <a:solidFill>
                  <a:srgbClr val="E4EFDA"/>
                </a:solidFill>
                <a:latin typeface="Calibri"/>
              </a:rPr>
              <a:t>Evenings 9 · 10 · 11 · 12 · 13  —  five evenings, every two weeks · the Return, Mission, the Rhythm, Family Night, the Float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F1F6EC"/>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