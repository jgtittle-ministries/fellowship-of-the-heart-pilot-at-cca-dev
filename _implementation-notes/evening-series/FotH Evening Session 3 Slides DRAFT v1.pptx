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4" r:id="rId35"/>
    <p:sldId id="265" r:id="rId36"/>
    <p:sldId id="343" r:id="rId37"/>
    <p:sldId id="344" r:id="rId38"/>
    <p:sldId id="345" r:id="rId39"/>
    <p:sldId id="346" r:id="rId40"/>
    <p:sldId id="347" r:id="rId41"/>
    <p:sldId id="348" r:id="rId42"/>
    <p:sldId id="349" r:id="rId43"/>
    <p:sldId id="350" r:id="rId44"/>
    <p:sldId id="526" r:id="rId45"/>
    <p:sldId id="351" r:id="rId46"/>
    <p:sldId id="352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79" Type="http://schemas.openxmlformats.org/officeDocument/2006/relationships/notesMaster" Target="notesMasters/notesMaster1.xml"/><Relationship Id="rId43" Type="http://schemas.openxmlformats.org/officeDocument/2006/relationships/slide" Target="slides/slide42.xml"/><Relationship Id="rId280" Type="http://schemas.openxmlformats.org/officeDocument/2006/relationships/presProps" Target="presProps.xml"/><Relationship Id="rId44" Type="http://schemas.openxmlformats.org/officeDocument/2006/relationships/slide" Target="slides/slide43.xml"/><Relationship Id="rId281" Type="http://schemas.openxmlformats.org/officeDocument/2006/relationships/viewProps" Target="viewProps.xml"/><Relationship Id="rId45" Type="http://schemas.openxmlformats.org/officeDocument/2006/relationships/slide" Target="slides/slide44.xml"/><Relationship Id="rId35" Type="http://schemas.openxmlformats.org/officeDocument/2006/relationships/slide" Target="slides/slide34.xml"/><Relationship Id="rId282" Type="http://schemas.openxmlformats.org/officeDocument/2006/relationships/theme" Target="theme/theme1.xml"/><Relationship Id="rId46" Type="http://schemas.openxmlformats.org/officeDocument/2006/relationships/slide" Target="slides/slide45.xml"/><Relationship Id="rId36" Type="http://schemas.openxmlformats.org/officeDocument/2006/relationships/slide" Target="slides/slide35.xml"/><Relationship Id="rId283" Type="http://schemas.openxmlformats.org/officeDocument/2006/relationships/tableStyles" Target="tableStyles.xml"/><Relationship Id="rId47" Type="http://schemas.openxmlformats.org/officeDocument/2006/relationships/slide" Target="slides/slide46.xml"/><Relationship Id="rId284" Type="http://schemas.microsoft.com/office/2016/11/relationships/changesInfo" Target="changesInfos/changesInfo1.xml"/><Relationship Id="rId37" Type="http://schemas.openxmlformats.org/officeDocument/2006/relationships/slide" Target="slides/slide36.xml"/><Relationship Id="rId285" Type="http://schemas.microsoft.com/office/2015/10/relationships/revisionInfo" Target="revisionInfo.xml"/><Relationship Id="rId38" Type="http://schemas.openxmlformats.org/officeDocument/2006/relationships/slide" Target="slides/slide37.xml"/><Relationship Id="rId1" Type="http://schemas.openxmlformats.org/officeDocument/2006/relationships/slideMaster" Target="slideMasters/slideMaster1.xml"/><Relationship Id="rId39" Type="http://schemas.openxmlformats.org/officeDocument/2006/relationships/slide" Target="slides/slide38.xml"/><Relationship Id="rId2" Type="http://schemas.openxmlformats.org/officeDocument/2006/relationships/slide" Target="slides/slide1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Highest-risk session of the series — Handbook Section 6 re-read within 48 hours before; crisis card in every Companion pocket; pastoral/clinical backup on call 6:30–11:00.</a:t>
            </a:r>
          </a:p>
          <a:p>
            <a:r>
              <a:rPr lang="en-US" sz="1200"/>
              <a:t>2. Shape: open, check-in, Psalm 139, YOUR five-minute demo story, bridge, 35-minute pair storytelling (parents tell; teens witness and bless), merge, Joint Footprints, feedback, close.</a:t>
            </a:r>
          </a:p>
          <a:p>
            <a:r>
              <a:rPr lang="en-US" sz="1200"/>
              <a:t>3. The clock is a guide — if a block runs sixty seconds long because something true is being said, let it.</a:t>
            </a:r>
          </a:p>
          <a:p>
            <a:r>
              <a:rPr lang="en-US" sz="1200"/>
              <a:t>CUES: First-teller parent arranged per pair. Any parent whose story carries news their teen has not been handed talked with the Lead Companion beforehand — hold that plan.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7:00–7:08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'Find a seat. We'll start in ninety seconds.' The settling is part of the work.</a:t>
            </a:r>
          </a:p>
          <a:p>
            <a:r>
              <a:rPr lang="en-US" sz="1200"/>
              <a:t>2. Speak the Aaronic blessing over the room first.</a:t>
            </a:r>
          </a:p>
          <a:p>
            <a:r>
              <a:rPr lang="en-US" sz="1200"/>
              <a:t>3. Frame: today the parents tell; teens, your night is next week — your work today is listening and blessing, and that is not the small half.</a:t>
            </a:r>
          </a:p>
          <a:p>
            <a:r>
              <a:rPr lang="en-US" sz="1200"/>
              <a:t>4. Container reminders: Safe, Present, Clear, Intentional; nothing is required; we listen and bless, we do not fix.</a:t>
            </a:r>
          </a:p>
          <a:p>
            <a:r>
              <a:rPr lang="en-US" sz="1200"/>
              <a:t>CUES: Spot anyone who arrived heavy — eye contact, smile, no singling out. They will know you saw them.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S3 · 7:08–7:25 · LEAD: CONTAINER HOLDER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Ninety seconds, optional: one sentence on what the soil journaling surfaced — 'path soil at school' is enough.</a:t>
            </a:r>
          </a:p>
          <a:p>
            <a:r>
              <a:rPr lang="en-US" sz="1200" dirty="0"/>
              <a:t>2. Take 3–4 voluntary contributions; call on no one.</a:t>
            </a:r>
          </a:p>
          <a:p>
            <a:r>
              <a:rPr lang="en-US" sz="1200" dirty="0"/>
              <a:t>3. If silence: wait ten seconds, then 'Good. The work is happening, whether or not we name it today.'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Psalm 139:1–6, then 23–24, from the physical Bible. Slowly. Do not preach over the reading.</a:t>
            </a:r>
          </a:p>
          <a:p>
            <a:r>
              <a:rPr lang="en-US" sz="1200"/>
              <a:t>2. The psalmist is completely known and not running — his response is wonder, and he invites more: 'Search me.'</a:t>
            </a:r>
          </a:p>
          <a:p>
            <a:r>
              <a:rPr lang="en-US" sz="1200"/>
              <a:t>3. Land the one idea: the opposite of hidden is not exposed — it is seen and safe at the same time. That is what the circle is.</a:t>
            </a:r>
          </a:p>
          <a:p>
            <a:r>
              <a:rPr lang="en-US" sz="1200"/>
              <a:t>4. Today is a small practice of it: parents answer one question at the depth they choose; the circle blesses, never fixes.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7:33–7:39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Tell your own five-minute story answering the one question: how you got here, and what has shaped you.</a:t>
            </a:r>
          </a:p>
          <a:p>
            <a:r>
              <a:rPr lang="en-US" sz="1200"/>
              <a:t>2. Be specific ('I learned to read a slammed cabinet door'), honest about one real hard place, neither hero nor victim; say where you see God in it now.</a:t>
            </a:r>
          </a:p>
          <a:p>
            <a:r>
              <a:rPr lang="en-US" sz="1200"/>
              <a:t>3. Close: 'That is the form. Parents, today in your pair. Teens, yours is next week. Yours doesn't have to look like mine.'</a:t>
            </a:r>
          </a:p>
          <a:p>
            <a:r>
              <a:rPr lang="en-US" sz="1200"/>
              <a:t>GUARD: Time it — five minutes, practiced in advance. The whole room calibrates against this demo; vague gives permission to be evasive.</a:t>
            </a:r>
          </a:p>
          <a:p>
            <a:r>
              <a:rPr lang="en-US" sz="1200"/>
              <a:t>SUB: The printed kitchen-table story in the plan is the founder's own. Tell YOUR story, written out this week per the pre-work — never perform John's testimony.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7:39–7:40 · LEAD: CONTENT PRESENTER · TRANSITION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Hold up the cards. Three things: one question, depth is the teller's; listeners receive and bless — no fixing, advising, or 'me too'; nothing leaves the circle.</a:t>
            </a:r>
          </a:p>
          <a:p>
            <a:r>
              <a:rPr lang="en-US" sz="1200"/>
              <a:t>2. Pray the bridge prayer: 'Make this circle a small place where we can be known and safe at the same time.'</a:t>
            </a:r>
          </a:p>
          <a:p>
            <a:r>
              <a:rPr lang="en-US" sz="1200"/>
              <a:t>3. Send: families stay together; back in the main room at 5:14.</a:t>
            </a:r>
          </a:p>
          <a:p>
            <a:r>
              <a:rPr lang="en-US" sz="1200"/>
              <a:t>CUES: Teen storytelling cards (H3.2) go home today for Week 4. Ten or fewer — stay one circle; the arranged parent tells after the Companion.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7:40–8:20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In each pair: the Companion tells first, then the arranged parent, then the remaining parents. 5–7 minutes per story, 10 seconds of silence, 1–2 minute blessing round.</a:t>
            </a:r>
          </a:p>
          <a:p>
            <a:r>
              <a:rPr lang="en-US" sz="1200"/>
              <a:t>2. Nobody interrupts a teller, even through silence. At six minutes, gentle eye contact; at seven, 'Let's land it together.'</a:t>
            </a:r>
          </a:p>
          <a:p>
            <a:r>
              <a:rPr lang="en-US" sz="1200"/>
              <a:t>3. Blessing starters are on the listener card; invite the teller's own teen to bless — invite, never force.</a:t>
            </a:r>
          </a:p>
          <a:p>
            <a:r>
              <a:rPr lang="en-US" sz="1200"/>
              <a:t>4. Short on time: compress blessings to one sentence each. Never send a parent home untold.</a:t>
            </a:r>
          </a:p>
          <a:p>
            <a:r>
              <a:rPr lang="en-US" sz="1200"/>
              <a:t>GUARD: Watch each teen's face during their parent's telling — weight received is a Settle Protocol matter (Handbook Section 6); quiet check-in at the next pause, and nobody leaves activated. Heavy disclosures: receive, bless, do not rush; two adults step aside after; Section 6 timelines apply.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Reconvene; the room's texture will be different than at 4:38 — honor it, do not break it with energy.</a:t>
            </a:r>
          </a:p>
          <a:p>
            <a:r>
              <a:rPr lang="en-US" sz="1200"/>
              <a:t>2. One word each on what today was like; pass allowed. Receive with eye contact and a small nod — no 'great', no commentary.</a:t>
            </a:r>
          </a:p>
          <a:p>
            <a:r>
              <a:rPr lang="en-US" sz="1200"/>
              <a:t>3. Close: 'Each of you brought something true and received something true. That's rare. It's also the kind of room God shows up in.'</a:t>
            </a:r>
          </a:p>
          <a:p>
            <a:r>
              <a:rPr lang="en-US" sz="1200"/>
              <a:t>GUARD: Do not ask anyone to share what was said — pair content stays in the pair.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One handout per family (H3.5).</a:t>
            </a:r>
          </a:p>
          <a:p>
            <a:r>
              <a:rPr lang="en-US" sz="1200"/>
              <a:t>2. The practice: parent and teen sit together twenty minutes this week — not the car, not the TV, phones away. Five minutes of footprints each way; listener asks one or two follow-ups, then one sentence: 'What I love about your footprints is...'</a:t>
            </a:r>
          </a:p>
          <a:p>
            <a:r>
              <a:rPr lang="en-US" sz="1200"/>
              <a:t>3. Two rules: the teen discloses only what they are ready to (their telling night is next week); the parent does not turn it into a lecture.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Check-off card (H3.6): morning question and evening note daily; Joint Footprints once.</a:t>
            </a:r>
          </a:p>
          <a:p>
            <a:r>
              <a:rPr lang="en-US" sz="1200"/>
              <a:t>2. Confirm every teen leaves with their storytelling card (H3.2) — the writing for next week starts today.</a:t>
            </a:r>
          </a:p>
          <a:p>
            <a:r>
              <a:rPr lang="en-US" sz="1200"/>
              <a:t>CUES: Rides inside the practice block.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S3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Restate the container hard: your own story goes home with you; nobody else's does — not to a sibling, a friend, or a spouse not in this room.</a:t>
            </a:r>
          </a:p>
          <a:p>
            <a:r>
              <a:rPr lang="en-US" sz="1200"/>
              <a:t>2. Name the help: reach out if today sits heavy — email, text, knock; the Crisis Quick-Reference Card is real and someone is there.</a:t>
            </a:r>
          </a:p>
          <a:p>
            <a:r>
              <a:rPr lang="en-US" sz="1200"/>
              <a:t>3. Aaronic blessing. 'Go gently this week.'</a:t>
            </a:r>
          </a:p>
          <a:p>
            <a:r>
              <a:rPr lang="en-US" sz="1200"/>
              <a:t>CUES: Do not pack up — stay accessible ten minutes; the work after the closing is sometimes the work.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3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One question, one circle, and the practice of being known — the parents tell first; the teens’ night is Week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3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9782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Week 2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Companion demo story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shared closing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10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2 Check-In — Heart Soil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“Some of you journaled this week. Some of you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One sentence about what showed up — optional, no pressure</a:t>
            </a:r>
          </a:p>
          <a:p>
            <a:pPr marL="685800" indent="-274320">
              <a:spcAft>
                <a:spcPts val="700"/>
              </a:spcAft>
            </a:pPr>
            <a:r>
              <a:rPr sz="19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“‘Path soil at school’ — just one sentence. Anyone?”</a:t>
            </a:r>
          </a:p>
          <a:p>
            <a:pPr marL="274320" indent="-274320">
              <a:spcAft>
                <a:spcPts val="900"/>
              </a:spcAft>
            </a:pPr>
            <a:r>
              <a:rPr sz="26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6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Psalm 139 is the psalm of being completely known by God — and the psalmist’s response is not panic. It is wonder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Most of us have parts we hope nobody has noticed. The psalmist invites God to look further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opposite of being hidden is not being exposed — it is being seen and being safe at the same time. That is what the circle is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 is a small practice of Psalm 139 — parents answer one question, with what they are willing to say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 Story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Lead Companion tells their own story — five minutes, modeling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one question: “tell the story of how you got here — today, as you are. What has shaped you into who you are today?”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Be specific — “I grew up in a house where </a:t>
            </a:r>
            <a:r>
              <a:rPr lang="en-US" sz="2400" b="0" i="0" dirty="0">
                <a:solidFill>
                  <a:srgbClr val="222B22"/>
                </a:solidFill>
                <a:latin typeface="Calibri"/>
              </a:rPr>
              <a:t>we didn’t do anger, it wasn’t accepted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Not the hero, not the victim — what happened, and where you see God in it now, looking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“That is the form. Parents, you’ll do this in your pair tonight. Teens, this is yours next week.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question — how you got here, and what has shaped you.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Listening — do not fix. Do not advise. Do not say “that happened to me too.” Receive, then bless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Nothing leaves your circle. “Not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 — your own storytelling card goes home tonight; next Wednesday is your 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Two or three families together, your own family stays with you — thirty-five minutes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Tonight’s tellers: the parents — plus any Companion-in-Formation. The leadsanion goes first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Story — 5–7 minutes. The teller speaks;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 round — one or two sentences each, teens included: “What I want to bless about your story is...”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“Inside this pair, what is said stays in this pair. Not even back to the main room, and not back up in the car this week.”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“When someone is telling their story... we are looking at them. We are receiving. That’s the practice.”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tepping stones across a stre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962" y="1463040"/>
            <a:ext cx="3669030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Closing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circle stays in your circle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 — just one — about what tonight was like for you. You can pass</a:t>
            </a:r>
          </a:p>
          <a:p>
            <a:pPr marL="685800" indent="-274320">
              <a:spcAft>
                <a:spcPts val="7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1" dirty="0">
                <a:solidFill>
                  <a:srgbClr val="222B22"/>
                </a:solidFill>
                <a:latin typeface="Calibri"/>
              </a:rPr>
              <a:t>“Heavy.” “Seen.” “Surprising.” “Tender.” “Hard.” Whatever the true word is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“Each of you brought something true into this room tonight, and each of you received something true. That’s rare. It’s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Joint Footprints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Joint Footprints — each parent-and-teen pair sits together once this week. Twenty minutes total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in the car, not at dinner, not while the TV is on. Phones away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Five minutes telling the footprints question — where you grew up, who shaped you, what places and people made you who you are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listener asks one or two follow-ups, then one sentence: “What I love about your footprints is...”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swap — the other person tells, the first listens and blesses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morning question and evening journal note continue daily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wo pairs of footprints in sa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829" y="1463040"/>
            <a:ext cx="3357162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Your Take-Home Card — This Session’s Practice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270" name="CardImage" descr="the Week 3 check-off card, as handed ou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087" y="1554480"/>
            <a:ext cx="9875520" cy="421009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271" name="Caption"/>
          <p:cNvSpPr txBox="1"/>
          <p:nvPr/>
        </p:nvSpPr>
        <p:spPr>
          <a:xfrm>
            <a:off x="822960" y="5947450"/>
            <a:ext cx="105156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0" i="1">
                <a:solidFill>
                  <a:srgbClr val="222B22"/>
                </a:solidFill>
                <a:latin typeface="Calibri"/>
              </a:rPr>
              <a:t>Handed out now — fridge, mirror, journal pocket.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46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