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00" r:id="rId178"/>
    <p:sldId id="538" r:id="rId18"/>
    <p:sldId id="301" r:id="rId179"/>
    <p:sldId id="446" r:id="rId180"/>
    <p:sldId id="447" r:id="rId181"/>
    <p:sldId id="448" r:id="rId182"/>
    <p:sldId id="539" r:id="rId19"/>
    <p:sldId id="540" r:id="rId20"/>
    <p:sldId id="449" r:id="rId184"/>
    <p:sldId id="450" r:id="rId18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8.xml"/><Relationship Id="rId20" Type="http://schemas.openxmlformats.org/officeDocument/2006/relationships/slide" Target="slides/slide9.xml"/><Relationship Id="rId178" Type="http://schemas.openxmlformats.org/officeDocument/2006/relationships/slide" Target="slides/slide2.xml"/><Relationship Id="rId179" Type="http://schemas.openxmlformats.org/officeDocument/2006/relationships/slide" Target="slides/slide4.xml"/><Relationship Id="rId180" Type="http://schemas.openxmlformats.org/officeDocument/2006/relationships/slide" Target="slides/slide5.xml"/><Relationship Id="rId181" Type="http://schemas.openxmlformats.org/officeDocument/2006/relationships/slide" Target="slides/slide6.xml"/><Relationship Id="rId182" Type="http://schemas.openxmlformats.org/officeDocument/2006/relationships/slide" Target="slides/slide7.xml"/><Relationship Id="rId184" Type="http://schemas.openxmlformats.org/officeDocument/2006/relationships/slide" Target="slides/slide10.xml"/><Relationship Id="rId185" Type="http://schemas.openxmlformats.org/officeDocument/2006/relationships/slide" Target="slides/slide11.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WELCOME · LEAD: CONTAINER HOLDER · GROUNDING — every session opens on this map</a:t>
            </a:r>
          </a:p>
          <a:p>
            <a:r>
              <a:t>BEATS:</a:t>
            </a:r>
          </a:p>
          <a:p>
            <a:r>
              <a:t>1. Locate tonight on the map, plainly: Session 14 returns to the second and third boxes — Others and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pre-session · DIVIDER</a:t>
            </a:r>
          </a:p>
          <a:p>
            <a:r>
              <a:rPr lang="en-US" sz="1200"/>
              <a:t>On screen through dinner and as the circle forms. Greet at the door — the slide holds the room.</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7:00–7:08 · LEAD: CONTAINER HOLDER · TEEN-LED</a:t>
            </a:r>
          </a:p>
          <a:p>
            <a:r>
              <a:rPr lang="en-US" sz="1200"/>
              <a:t>BEATS: 1. Today a willing teen leads end to end; nothing new is taught — the every-teen rotation is the curriculum. 2. The middle runs ONE of two options, decided at the prep meeting with the leading teen — never improvised on the night: Option 1 = PROAPT in pairs on a fresh passage (chosen if the daily practice thinned); Option 2 = the full opening container from memory plus a Family Conversation Cards round (chosen if the room needs warmth). Confirm before the door opens which was called, and who today's catch adult is.</a:t>
            </a:r>
          </a:p>
          <a:p>
            <a:r>
              <a:rPr lang="en-US" sz="1200"/>
              <a:t>CUES: Adults sit outside the circle, eyes on the teen, faces warm and unhelpful; the catch sits where the teen can find their eyes.</a:t>
            </a:r>
          </a:p>
          <a:p>
            <a:r>
              <a:rPr lang="en-US" sz="1200"/>
              <a:t>GUARD: The teen leads practices only — anything heavy hands to the adult immediately, and the handoff is honored publicly as leadership, not failure.</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7:00–7:08 · LEAD: CONTAINER HOLDER · TEEN-LED</a:t>
            </a:r>
          </a:p>
          <a:p>
            <a:r>
              <a:t>BEATS: 1. The leading teen opens: phones away, blessing first. 2. Option 1: the short container restatement — Safe, Present, Clear, Intentional — then straight to the check-in word. Option 2: this IS half the rep — the full protocol from memory: standing circle, one-word check-in, put out / bring in, the spoken commitment, prayer naming the Holy Spirit. Measure completeness, not polish.</a:t>
            </a:r>
          </a:p>
          <a:p>
            <a:r>
              <a:t>CUES: From the teen's first word, sit back outside the circle — the room learns who is leading from where the adults look. If the teen freezes: the catch counts silently to ten, steps in warm and seamless at the next one-liner, offers the lead back at the next step. No flag on the play.</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7:25–7:27 · LEAD: CONTENT PRESENTER · TEEN-LED</a:t>
            </a:r>
          </a:p>
          <a:p>
            <a:r>
              <a:rPr lang="en-US" sz="1200"/>
              <a:t>BEATS: 1. One round on Week 13's assignment: one small act aligned with your downhill mission. 2. One sentence each, entirely optional — 'I didn't get to it' is an honest sentence. 3. Receive them all the same way; the close: the works were prepared beforehand — the assignment doesn't expire.</a:t>
            </a:r>
          </a:p>
          <a:p>
            <a:r>
              <a:rPr lang="en-US" sz="1200"/>
              <a:t>CUES: The arranged parent opens (Run Card) — never a cold call on a teen; pass anytime.</a:t>
            </a:r>
          </a:p>
          <a:p>
            <a:r>
              <a:rPr lang="en-US" sz="1200"/>
              <a:t>GUARD: An acknowledgment, not a debrief — don't let it become a testimony hour or a guilt audit.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7:27–7:28 · LEAD: CONTENT PRESENTER · TEEN-LED</a:t>
            </a:r>
          </a:p>
          <a:p>
            <a:r>
              <a:rPr lang="en-US" sz="1200"/>
              <a:t>BEATS: 1. Say it plainly: nothing new today, on purpose — everything we do, this room has already done; one more of us leads it. 2. 1 Timothy 4:12 is the charter: let no one despise your youth; set the believers an example. 3. Name the score-keeping out loud: not a competition, no ranking — the room's job for every leader is the same: receive them.</a:t>
            </a:r>
          </a:p>
          <a:p>
            <a:r>
              <a:rPr lang="en-US" sz="1200"/>
              <a:t>GUARD: Today is not filler between the Mission week and the Rhythm week — it is the mechanism. Say so.</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8:24–8:26, blessing 8:29–8:30 · TEEN-LED</a:t>
            </a:r>
          </a:p>
          <a:p>
            <a:r>
              <a:rPr lang="en-US" sz="1200"/>
              <a:t>BEATS: 1. The teen runs the closing protocol: standing circle, one-word landing, the one thing, the one practice spoken aloud. 2. After the feedback round the teen returns for the send: when we gather is the Rhythm night — today was a rep of exactly that, the practice working without the team at the front. 3. Aaronic blessing, hands up; sent.</a:t>
            </a:r>
          </a:p>
          <a:p>
            <a:r>
              <a:rPr lang="en-US" sz="1200"/>
              <a:t>CUES: In Option 2, closing from memory completes the container half of the rep — let the teen carry all of it.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8:26–8:29 · LEAD: BOTH LEADERS (Lead Companion runs)</a:t>
            </a:r>
          </a:p>
          <a:p>
            <a:r>
              <a:rPr lang="en-US" sz="1200"/>
              <a:t>BEATS: 1. The leading teen answers first: went well / do differently / what I'd tell someone teaching this. 2. The adult answers the two questions second, adds ONE specific affirmation of the lead and at most one growth item. 3. The room only by the teen's consent — ask aloud; popcorn, 'for you' language; two or three voices each. 4. Receive without defending — 'thank you' is the whole response.</a:t>
            </a:r>
          </a:p>
          <a:p>
            <a:r>
              <a:rPr lang="en-US" sz="1200"/>
              <a:t>GUARD: If the catch stepped in today, name what the teen did well FIRST; the stepping-in was the team working, not the teen failing. If the teen declines the room's round, it ends after the adult — no pressure, no exposure.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49.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14</a:t>
            </a:r>
          </a:p>
          <a:p>
            <a:pPr algn="l">
              <a:spcAft>
                <a:spcPts val="1000"/>
              </a:spcAft>
            </a:pPr>
            <a:r>
              <a:rPr sz="3300" b="1" i="0">
                <a:solidFill>
                  <a:srgbClr val="2C5F2D"/>
                </a:solidFill>
                <a:latin typeface="Cambria"/>
              </a:rPr>
              <a:t>Second Running: Block A</a:t>
            </a:r>
          </a:p>
          <a:p>
            <a:pPr algn="l">
              <a:spcAft>
                <a:spcPts val="600"/>
              </a:spcAft>
            </a:pPr>
            <a:r>
              <a:rPr sz="1800" b="0" i="1">
                <a:solidFill>
                  <a:srgbClr val="595959"/>
                </a:solidFill>
                <a:latin typeface="Calibri"/>
              </a:rPr>
              <a:t>The rotation’s evening — another willing teen takes a full leading rep with a practice the room already owns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203</a:t>
            </a:r>
            <a:endParaRPr sz="1000" b="1">
              <a:solidFill>
                <a:srgbClr val="7A8A6E"/>
              </a:solidFill>
              <a:latin typeface="Calibri"/>
            </a:endParaRPr>
          </a:p>
        </p:txBody>
      </p:sp>
      <p:pic>
        <p:nvPicPr>
          <p:cNvPr id="91" name="Picture 91" descr="a baton passed from a grown hand into a younger hand, sun behi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14 returns to the second and third boxes — </a:t>
            </a:r>
            <a:r>
              <a:rPr sz="1800" b="1">
                <a:solidFill>
                  <a:srgbClr val="2C5F2D"/>
                </a:solidFill>
                <a:latin typeface="Calibri"/>
              </a:rPr>
              <a:t>Others and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204</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14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opening container</a:t>
            </a:r>
          </a:p>
          <a:p>
            <a:pPr>
              <a:spcAft>
                <a:spcPts val="800"/>
              </a:spcAft>
            </a:pPr>
            <a:r>
              <a:rPr sz="2800" b="1">
                <a:solidFill>
                  <a:srgbClr val="97BC62"/>
                </a:solidFill>
                <a:latin typeface="Calibri"/>
              </a:rPr>
              <a:t>2   </a:t>
            </a:r>
            <a:r>
              <a:rPr sz="2800">
                <a:solidFill>
                  <a:srgbClr val="222B22"/>
                </a:solidFill>
                <a:latin typeface="Calibri"/>
              </a:rPr>
              <a:t>The mission round</a:t>
            </a:r>
          </a:p>
          <a:p>
            <a:pPr>
              <a:spcAft>
                <a:spcPts val="800"/>
              </a:spcAft>
            </a:pPr>
            <a:r>
              <a:rPr sz="2800" b="1">
                <a:solidFill>
                  <a:srgbClr val="97BC62"/>
                </a:solidFill>
                <a:latin typeface="Calibri"/>
              </a:rPr>
              <a:t>3   </a:t>
            </a:r>
            <a:r>
              <a:rPr sz="2800">
                <a:solidFill>
                  <a:srgbClr val="222B22"/>
                </a:solidFill>
                <a:latin typeface="Calibri"/>
              </a:rPr>
              <a:t>Why tonight — the rotation’s charter</a:t>
            </a:r>
          </a:p>
          <a:p>
            <a:pPr>
              <a:spcAft>
                <a:spcPts val="800"/>
              </a:spcAft>
            </a:pPr>
            <a:r>
              <a:rPr sz="2800" b="1">
                <a:solidFill>
                  <a:srgbClr val="97BC62"/>
                </a:solidFill>
                <a:latin typeface="Calibri"/>
              </a:rPr>
              <a:t>4   </a:t>
            </a:r>
            <a:r>
              <a:rPr sz="2800">
                <a:solidFill>
                  <a:srgbClr val="222B22"/>
                </a:solidFill>
                <a:latin typeface="Calibri"/>
              </a:rPr>
              <a:t>Closing container</a:t>
            </a:r>
          </a:p>
          <a:p>
            <a:pPr>
              <a:spcAft>
                <a:spcPts val="800"/>
              </a:spcAft>
            </a:pPr>
            <a:r>
              <a:rPr sz="2800" b="1">
                <a:solidFill>
                  <a:srgbClr val="97BC62"/>
                </a:solidFill>
                <a:latin typeface="Calibri"/>
              </a:rPr>
              <a:t>5   </a:t>
            </a:r>
            <a:r>
              <a:rPr sz="2800">
                <a:solidFill>
                  <a:srgbClr val="222B22"/>
                </a:solidFill>
                <a:latin typeface="Calibri"/>
              </a:rPr>
              <a:t>Leader Feedback Round</a:t>
            </a:r>
          </a:p>
          <a:p>
            <a:pPr>
              <a:spcAft>
                <a:spcPts val="800"/>
              </a:spcAft>
            </a:pPr>
            <a:r>
              <a:rPr sz="2800" b="1">
                <a:solidFill>
                  <a:srgbClr val="97BC62"/>
                </a:solidFill>
                <a:latin typeface="Calibri"/>
              </a:rPr>
              <a:t>6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206</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Mission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Mission night sent us home with one assignment — one small act, lined up with your downhill mission</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each, whoever wants: what was your one act, or what got in the way?”</a:t>
            </a:r>
          </a:p>
          <a:p>
            <a:pPr marL="274320" indent="-274320">
              <a:spcAft>
                <a:spcPts val="900"/>
              </a:spcAft>
            </a:pPr>
            <a:r>
              <a:rPr sz="2800" b="1" i="0">
                <a:solidFill>
                  <a:srgbClr val="97BC62"/>
                </a:solidFill>
                <a:latin typeface="Calibri"/>
              </a:rPr>
              <a:t>•  </a:t>
            </a:r>
            <a:r>
              <a:rPr sz="2800" b="0" i="0">
                <a:solidFill>
                  <a:srgbClr val="222B22"/>
                </a:solidFill>
                <a:latin typeface="Calibri"/>
              </a:rPr>
              <a:t>“‘I didn’t get to it’ is an honest sentence.” A parent opens;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“The works were prepared beforehand; we keep walking into them. That assignment doesn’t expire.”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207</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the Rotation’s Charter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Nothing new gets taught tonight — on purpose. Everything we do, this room has already done</a:t>
            </a:r>
          </a:p>
          <a:p>
            <a:pPr marL="274320" indent="-274320">
              <a:spcAft>
                <a:spcPts val="800"/>
              </a:spcAft>
            </a:pPr>
            <a:r>
              <a:rPr sz="2000" b="1" i="0">
                <a:solidFill>
                  <a:srgbClr val="97BC62"/>
                </a:solidFill>
                <a:latin typeface="Calibri"/>
              </a:rPr>
              <a:t>•  </a:t>
            </a:r>
            <a:r>
              <a:rPr sz="2000" b="0" i="0">
                <a:solidFill>
                  <a:srgbClr val="222B22"/>
                </a:solidFill>
                <a:latin typeface="Calibri"/>
              </a:rPr>
              <a:t>See one, do one, in front of each other — every one of us who is willing, not just the seniors headed for commissioning</a:t>
            </a:r>
          </a:p>
          <a:p>
            <a:pPr marL="274320" indent="-274320">
              <a:spcAft>
                <a:spcPts val="800"/>
              </a:spcAft>
            </a:pPr>
            <a:r>
              <a:rPr sz="2000" b="1" i="0">
                <a:solidFill>
                  <a:srgbClr val="97BC62"/>
                </a:solidFill>
                <a:latin typeface="Calibri"/>
              </a:rPr>
              <a:t>•  </a:t>
            </a:r>
            <a:r>
              <a:rPr sz="2000" b="0" i="0">
                <a:solidFill>
                  <a:srgbClr val="222B22"/>
                </a:solidFill>
                <a:latin typeface="Calibri"/>
              </a:rPr>
              <a:t>“My turn is tonight. Somebody else’s turn is coming.”</a:t>
            </a:r>
          </a:p>
          <a:p>
            <a:pPr marL="274320" indent="-274320">
              <a:spcAft>
                <a:spcPts val="800"/>
              </a:spcAft>
            </a:pPr>
            <a:r>
              <a:rPr sz="2000" b="1" i="0">
                <a:solidFill>
                  <a:srgbClr val="97BC62"/>
                </a:solidFill>
                <a:latin typeface="Calibri"/>
              </a:rPr>
              <a:t>•  </a:t>
            </a:r>
            <a:r>
              <a:rPr sz="2000" b="0" i="0">
                <a:solidFill>
                  <a:srgbClr val="222B22"/>
                </a:solidFill>
                <a:latin typeface="Calibri"/>
              </a:rPr>
              <a:t>This is not a competition — no ranking. The room’s job for every leader is the same: receive them</a:t>
            </a:r>
          </a:p>
          <a:p>
            <a:pPr marL="274320" indent="-274320">
              <a:spcAft>
                <a:spcPts val="800"/>
              </a:spcAft>
            </a:pPr>
            <a:r>
              <a:rPr sz="2000" b="1" i="0">
                <a:solidFill>
                  <a:srgbClr val="97BC62"/>
                </a:solidFill>
                <a:latin typeface="Calibri"/>
              </a:rPr>
              <a:t>•  </a:t>
            </a:r>
            <a:r>
              <a:rPr sz="2000" b="0" i="0">
                <a:solidFill>
                  <a:srgbClr val="222B22"/>
                </a:solidFill>
                <a:latin typeface="Calibri"/>
              </a:rPr>
              <a:t>“The team is here. But the practice is ours now.”</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1 TIMOTHY 4:12</a:t>
            </a:r>
          </a:p>
          <a:p>
            <a:pPr>
              <a:spcAft>
                <a:spcPts val="600"/>
              </a:spcAft>
            </a:pPr>
            <a:r>
              <a:rPr sz="2400" b="0" i="1">
                <a:solidFill>
                  <a:srgbClr val="222B22"/>
                </a:solidFill>
                <a:latin typeface="Cambria"/>
              </a:rPr>
              <a:t>“Let no one despise you for your youth, but set the believers an example in speech, in conduct, in love, in faith, in purity.”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208</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4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209</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4_part2.png"/>
          <p:cNvPicPr>
            <a:picLocks noChangeAspect="1"/>
          </p:cNvPicPr>
          <p:nvPr/>
        </p:nvPicPr>
        <p:blipFill>
          <a:blip r:embed="rId2"/>
          <a:stretch>
            <a:fillRect/>
          </a:stretch>
        </p:blipFill>
        <p:spPr>
          <a:xfrm>
            <a:off x="2433167" y="1463040"/>
            <a:ext cx="7325360"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210</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211</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212</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