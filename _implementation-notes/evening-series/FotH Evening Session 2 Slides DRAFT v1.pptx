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261" r:id="rId22"/>
    <p:sldId id="526" r:id="rId21"/>
    <p:sldId id="262" r:id="rId23"/>
    <p:sldId id="335" r:id="rId24"/>
    <p:sldId id="336" r:id="rId25"/>
    <p:sldId id="337" r:id="rId26"/>
    <p:sldId id="523" r:id="rId27"/>
    <p:sldId id="522" r:id="rId28"/>
    <p:sldId id="338" r:id="rId29"/>
    <p:sldId id="339" r:id="rId30"/>
    <p:sldId id="340" r:id="rId31"/>
    <p:sldId id="527" r:id="rId20"/>
    <p:sldId id="528" r:id="rId19"/>
    <p:sldId id="341" r:id="rId33"/>
    <p:sldId id="342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9" Type="http://schemas.openxmlformats.org/officeDocument/2006/relationships/slide" Target="slides/slide14.xml"/><Relationship Id="rId20" Type="http://schemas.openxmlformats.org/officeDocument/2006/relationships/slide" Target="slides/slide13.xml"/><Relationship Id="rId21" Type="http://schemas.openxmlformats.org/officeDocument/2006/relationships/slide" Target="slides/slide3.xml"/><Relationship Id="rId22" Type="http://schemas.openxmlformats.org/officeDocument/2006/relationships/slide" Target="slides/slide2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E2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Evening 2 stands in the first box — Connect with Self. Each connection makes the next one real (Matt. 22:37–40).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E2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E2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E2 · pre-session · DIVIDER</a:t>
            </a:r>
          </a:p>
          <a:p>
            <a:r>
              <a:t>On screen through dinner and as the circle forms. Greet at the door — the slide holds the room.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E2 · 7:00–8:30 · LEAD: BOTH LEADERS</a:t>
            </a:r>
          </a:p>
          <a:p>
            <a:r>
              <a:t>BEATS:</a:t>
            </a:r>
          </a:p>
          <a:p>
            <a:r>
              <a:t>1. Shape: full eight-step open, practice check-in, Mark 4 teaching, first move into FAMILY PAIRS for the Heart Soil diagnostic, merge, practice, close.</a:t>
            </a:r>
          </a:p>
          <a:p>
            <a:r>
              <a:t>2. First pair night — frame it confidently: your family stays together, a parent goes first every time, you choose your own depth.</a:t>
            </a:r>
          </a:p>
          <a:p>
            <a:r>
              <a:t>3. If the room is about ten or fewer, skip the pairs entirely — one circle all night.</a:t>
            </a:r>
          </a:p>
          <a:p>
            <a:r>
              <a:t>CUES: pair spaces set before doors open; every Lead Companion has done the diagnostic on themselves; the opening parent for each pair is arranged in advance.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E2 · 7:00–7:08 · LEAD: CONTAINER HOLDER</a:t>
            </a:r>
          </a:p>
          <a:p>
            <a:r>
              <a:t>BEATS:</a:t>
            </a:r>
          </a:p>
          <a:p>
            <a:r>
              <a:t>1. Full eight-step opening protocol — the cohort knows the form; hold the rhythm, do not over-explain.</a:t>
            </a:r>
          </a:p>
          <a:p>
            <a:r>
              <a:t>2. Four conditions: name them once; nods or a quiet yes are enough. Re-teach only if Evening 1 felt unsafe.</a:t>
            </a:r>
          </a:p>
          <a:p>
            <a:r>
              <a:t>3. Close the opening with brief prayer naming the Holy Spirit — ask Him to teach us through Jesus' own words today.</a:t>
            </a:r>
          </a:p>
          <a:p>
            <a:r>
              <a:t>CUES: At the one-word check-in, listen for heavy words ('angry', 'numb', 'scared') — note them; the diagnostic may pull from there.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E2 · 7:08–7:25 · LEAD: CONTAINER HOLDER</a:t>
            </a:r>
          </a:p>
          <a:p>
            <a:r>
              <a:t>BEATS:</a:t>
            </a:r>
          </a:p>
          <a:p>
            <a:r>
              <a:t>1. Parent Co-Companion leads and models first with one true sentence ('I checked my phone before the question most days').</a:t>
            </a:r>
          </a:p>
          <a:p>
            <a:r>
              <a:t>2. One quick sentence each around the circle — what I noticed, or what I noticed about the practice. Honor passes without ceremony.</a:t>
            </a:r>
          </a:p>
          <a:p>
            <a:r>
              <a:t>3. Teach the anchor once, thirty seconds: Joshua 4 — twelve stones from the Jordan. Every week this check-in adds a stone.</a:t>
            </a:r>
          </a:p>
          <a:p>
            <a:r>
              <a:t>GUARD: No grading, no lecture on consistency. 'I didn't do it' gets 'Thanks for the honesty. Pick it back up tomorrow.'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E2 · 7:25–7:39 · LEAD: CONTENT PRESENTER</a:t>
            </a:r>
          </a:p>
          <a:p>
            <a:r>
              <a:t>BEATS:</a:t>
            </a:r>
          </a:p>
          <a:p>
            <a:r>
              <a:t>1. Read Mark 4:1–20 in full from the physical Bible — slowly, all 20 verses, no stopping to comment.</a:t>
            </a:r>
          </a:p>
          <a:p>
            <a:r>
              <a:t>2. Recall the seed, 60 seconds: 'the sower sows the word' — today is about the ground it lands on, yours and mine.</a:t>
            </a:r>
          </a:p>
          <a:p>
            <a:r>
              <a:t>3. Walk the four soils in six minutes max: path (hard, taken), rocky (fast, rootless), thorny (choked, fruitless), good (hears, accepts, produces — fruit, not perfection).</a:t>
            </a:r>
          </a:p>
          <a:p>
            <a:r>
              <a:t>GUARD: At path soil, name the enemy plainly — no dramatizing, no denying. Save the back of the block for Paul.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E2 · 7:25–7:39 · LEAD: CONTENT PRESENTER</a:t>
            </a:r>
          </a:p>
          <a:p>
            <a:r>
              <a:t>BEATS:</a:t>
            </a:r>
          </a:p>
          <a:p>
            <a:r>
              <a:t>1. Paul's mixed ground, 3 min: read Romans 7:15, 18–19 — an apostle with all four soils at once.</a:t>
            </a:r>
          </a:p>
          <a:p>
            <a:r>
              <a:t>2. Land where Paul lands, 7:24–25: rescue, not despair. Finding rocks and thorns is apostolic company.</a:t>
            </a:r>
          </a:p>
          <a:p>
            <a:r>
              <a:t>3. Pivot: the wrong question is 'which soil are you?' — the right one is 'where does each show up, specifically, this week?'</a:t>
            </a:r>
          </a:p>
          <a:p>
            <a:r>
              <a:t>CUES: Bridge before the 7:40 move: restate the container for the pairs — what your family says today is a gift, not ammunition; it does not come up in the car. Wait for nods from each family before anyone moves.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E2 · 7:40–8:10 · LEAD: CONTENT PRESENTER · PAIRS</a:t>
            </a:r>
          </a:p>
          <a:p>
            <a:r>
              <a:t>BEATS:</a:t>
            </a:r>
          </a:p>
          <a:p>
            <a:r>
              <a:t>1. First three minutes of pair time. Journals open to the Question Zero page; scripture asks it — 2 Corinthians 13:5.</a:t>
            </a:r>
          </a:p>
          <a:p>
            <a:r>
              <a:t>2. Read it once: has the seed itself ever gone into your ground — your yes, not your family's? Write yes, no, or not sure. The road is short; the thief walked it in one sentence.</a:t>
            </a:r>
          </a:p>
          <a:p>
            <a:r>
              <a:t>3. Three quiet minutes. Do not walk the circle; do not glance at pages.</a:t>
            </a:r>
          </a:p>
          <a:p>
            <a:r>
              <a:t>GUARD: Question zero is PRIVATE and journal-only — never shared, never referenced again, today or ever. No 'anyone want to say anything about the first one.' The quiet seeker who finds a Companion afterward is the year's best outcome, not a crisis.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E2 · 7:40–8:10 · LEAD: CONTENT PRESENTER · PAIRS</a:t>
            </a:r>
          </a:p>
          <a:p>
            <a:r>
              <a:t>BEATS:</a:t>
            </a:r>
          </a:p>
          <a:p>
            <a:r>
              <a:t>1. Four questions, one at a time: path, rocky, thorny, good. About two minutes journaling each, then share around — 'I'd rather not share that one' is a complete answer.</a:t>
            </a:r>
          </a:p>
          <a:p>
            <a:r>
              <a:t>2. Push for one specific incident, not a category — 'my phone' becomes one moment this week.</a:t>
            </a:r>
          </a:p>
          <a:p>
            <a:r>
              <a:t>3. Nobody fixes anybody across the family line: 'Just receive it. We're noticing today, not fixing.'</a:t>
            </a:r>
          </a:p>
          <a:p>
            <a:r>
              <a:t>CUES: The arranged parent opens the first round — never a cold call, never on a teen. Watch the clock privately: question zero plus four questions in 28 minutes. Ten or fewer today — run it as one whole circle.</a:t>
            </a:r>
          </a:p>
          <a:p>
            <a:r>
              <a:t>GUARD: Heavy material ('rocky is when we fight at home') — acknowledge, hold, move on; follow up per Handbook Section 6. Watch a teen's face while their parent shares.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E2 · 8:11–8:20 · LEAD: CONTAINER HOLDER</a:t>
            </a:r>
          </a:p>
          <a:p>
            <a:r>
              <a:t>BEATS:</a:t>
            </a:r>
          </a:p>
          <a:p>
            <a:r>
              <a:t>1. Re-merge starts at 8:10 — one minute to move; let the circle settle.</a:t>
            </a:r>
          </a:p>
          <a:p>
            <a:r>
              <a:t>2. One word each on what today surfaced — 'thorny', 'seen', 'tired'. Hold each word a beat.</a:t>
            </a:r>
          </a:p>
          <a:p>
            <a:r>
              <a:t>3. Re-read Mark 4:20 slowly; land it: good soil is not soil without rocks — it hears, accepts, produces. The noticing IS what good soil does.</a:t>
            </a:r>
          </a:p>
          <a:p>
            <a:r>
              <a:t>GUARD: No specifics from the pairs — the diagnostic stays in the pair; the merge is for landing, not repeating.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E2 · 8:20–8:24 · LEAD: CONTENT PRESENTER</a:t>
            </a:r>
          </a:p>
          <a:p>
            <a:r>
              <a:t>BEATS:</a:t>
            </a:r>
          </a:p>
          <a:p>
            <a:r>
              <a:t>1. Parent Co-Companion leads. Three times this week — not daily — five minutes: one sentence per soil, where did each show up today? Specific, not general.</a:t>
            </a:r>
          </a:p>
          <a:p>
            <a:r>
              <a:t>2. Rule stands: no fixing. The Spirit fixes; our job is to pay attention.</a:t>
            </a:r>
          </a:p>
          <a:p>
            <a:r>
              <a:t>3. Keep last week's morning question going — the two practices stack.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E2 · 8:24–8:28 · LEAD: BOTH LEADERS</a:t>
            </a:r>
          </a:p>
          <a:p>
            <a:r>
              <a:t>BEATS:</a:t>
            </a:r>
          </a:p>
          <a:p>
            <a:r>
              <a:t>1. Your three things first: what went well; what I'd do differently; what I'd tell someone teaching today's process.</a:t>
            </a:r>
          </a:p>
          <a:p>
            <a:r>
              <a:t>2. Room's two questions; two or three voices is plenty.</a:t>
            </a:r>
          </a:p>
          <a:p>
            <a:r>
              <a:t>3. Receive without defending — 'thank you' is the whole response.</a:t>
            </a:r>
          </a:p>
          <a:p>
            <a:r>
              <a:t>CUES: May be dropped if the room's energy needs something else; dropping it twice running goes to the team debrief.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E2 · 8:28–8:30 · LEAD: CONTAINER HOLDER</a:t>
            </a:r>
          </a:p>
          <a:p>
            <a:r>
              <a:t>BEATS:</a:t>
            </a:r>
          </a:p>
          <a:p>
            <a:r>
              <a:t>1. Abbreviated six-step close: one-word landing, one thing I'm taking, one practice (the three soil journals).</a:t>
            </a:r>
          </a:p>
          <a:p>
            <a:r>
              <a:t>2. Aaronic blessing parent-to-teen, teen-to-parent — the cohort knows the form now.</a:t>
            </a:r>
          </a:p>
          <a:p>
            <a:r>
              <a:t>3. Brief closing prayer naming, without details, what surfaced: 'Father, You saw the rocks and the thorns we named today.'</a:t>
            </a:r>
          </a:p>
          <a:p>
            <a:r>
              <a:t>GUARD: If the merge ran heavy, give the prayer 60–90 seconds; do not lighten the room.</a:t>
            </a:r>
          </a:p>
          <a:p>
            <a:r>
              <a:t>BLESSINGS: eyes on the person, not the screen — nothing to read; say what is on your heart for them, specific and short.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k02-so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30118"/>
            <a:ext cx="5394960" cy="3597763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EVENING 2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The Soil of Your Heart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The Heart Soil diagnostic from Mark 4; beginning Connecting with 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1: Connect with Self &amp; Others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Evening 2 stands in the first box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Connect with Self</a:t>
            </a:r>
            <a:r>
              <a:rPr sz="1800" b="0">
                <a:solidFill>
                  <a:srgbClr val="222B22"/>
                </a:solidFill>
                <a:latin typeface="Calibri"/>
              </a:rPr>
              <a:t>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Evening 2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503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dirty="0">
                <a:solidFill>
                  <a:srgbClr val="97BC62"/>
                </a:solidFill>
                <a:latin typeface="Calibri"/>
              </a:rPr>
              <a:t>1   </a:t>
            </a:r>
            <a:r>
              <a:rPr sz="2400" dirty="0">
                <a:solidFill>
                  <a:srgbClr val="222B22"/>
                </a:solidFill>
                <a:latin typeface="Calibri"/>
              </a:rPr>
              <a:t>Opening container — full eight-step protocol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97BC62"/>
                </a:solidFill>
                <a:latin typeface="Calibri"/>
              </a:rPr>
              <a:t>2   </a:t>
            </a:r>
            <a:r>
              <a:rPr sz="2400" dirty="0">
                <a:solidFill>
                  <a:srgbClr val="222B22"/>
                </a:solidFill>
                <a:latin typeface="Calibri"/>
              </a:rPr>
              <a:t>Check-in on Evening 1 practice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97BC62"/>
                </a:solidFill>
                <a:latin typeface="Calibri"/>
              </a:rPr>
              <a:t>3   </a:t>
            </a:r>
            <a:r>
              <a:rPr sz="2400" dirty="0">
                <a:solidFill>
                  <a:srgbClr val="222B22"/>
                </a:solidFill>
                <a:latin typeface="Calibri"/>
              </a:rPr>
              <a:t>Teaching: the seed recalled; Mark 4, the soils, and Paul’s mixed ground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97BC62"/>
                </a:solidFill>
                <a:latin typeface="Calibri"/>
              </a:rPr>
              <a:t>4   </a:t>
            </a:r>
            <a:r>
              <a:rPr sz="2400" dirty="0">
                <a:solidFill>
                  <a:srgbClr val="222B22"/>
                </a:solidFill>
                <a:latin typeface="Calibri"/>
              </a:rPr>
              <a:t>pairs: question zero, then the Heart Soil diagnostic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97BC62"/>
                </a:solidFill>
                <a:latin typeface="Calibri"/>
              </a:rPr>
              <a:t>5   </a:t>
            </a:r>
            <a:r>
              <a:rPr sz="2400" dirty="0">
                <a:solidFill>
                  <a:srgbClr val="222B22"/>
                </a:solidFill>
                <a:latin typeface="Calibri"/>
              </a:rPr>
              <a:t>Re-merge — shared debrief; Mark 4:20 re-read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97BC62"/>
                </a:solidFill>
                <a:latin typeface="Calibri"/>
              </a:rPr>
              <a:t>6   </a:t>
            </a:r>
            <a:r>
              <a:rPr sz="2400" dirty="0">
                <a:solidFill>
                  <a:srgbClr val="222B22"/>
                </a:solidFill>
                <a:latin typeface="Calibri"/>
              </a:rPr>
              <a:t>Homework commissioning — handout + check-in partners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97BC62"/>
                </a:solidFill>
                <a:latin typeface="Calibri"/>
              </a:rPr>
              <a:t>7   </a:t>
            </a:r>
            <a:r>
              <a:rPr sz="2400" dirty="0">
                <a:solidFill>
                  <a:srgbClr val="222B22"/>
                </a:solidFill>
                <a:latin typeface="Calibri"/>
              </a:rPr>
              <a:t>The Leader Feedback Round — both leaders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97BC62"/>
                </a:solidFill>
                <a:latin typeface="Calibri"/>
              </a:rPr>
              <a:t>8   </a:t>
            </a:r>
            <a:r>
              <a:rPr sz="2400" dirty="0">
                <a:solidFill>
                  <a:srgbClr val="222B22"/>
                </a:solidFill>
                <a:latin typeface="Calibri"/>
              </a:rPr>
              <a:t>Closing container + Aaronic blessing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Opening Container — the Full Eight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7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Welcome — five minutes to open the container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Phones silenced and put away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Stand in a circle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4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One-word check-in — how you actually are, right now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5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Put out / bring in — set something down; bring a blessing in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6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Spoken commitment: “I am here. I am paying attention. I am willing to be moved.”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7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Opening prayer — “Holy Spirit, you are welcome here. Speak. We are listening.”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8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Sit. Begin.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Check-In on Evening 1 Practice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75488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One quick round, one sentence each — a parent starts</a:t>
            </a:r>
          </a:p>
          <a:p>
            <a:pPr marL="685800" indent="-274320">
              <a:spcAft>
                <a:spcPts val="7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200" b="0" i="1">
                <a:solidFill>
                  <a:srgbClr val="222B22"/>
                </a:solidFill>
                <a:latin typeface="Calibri"/>
              </a:rPr>
              <a:t>“One thing I noticed this week when I asked the morning question …”</a:t>
            </a:r>
          </a:p>
          <a:p>
            <a:pPr marL="685800" indent="-274320">
              <a:spcAft>
                <a:spcPts val="7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Or one thing about the practice itself — “I forgot it three days running” is a real answer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No grades, no lectures — honesty over performance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Missed it? “Thanks for the honesty. Pick it back up tomorrow.”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2" name="Picture 32" descr="trail cairn - the weekly check-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91" name="JoshuaCard"/>
          <p:cNvSpPr txBox="1"/>
          <p:nvPr/>
        </p:nvSpPr>
        <p:spPr>
          <a:xfrm>
            <a:off x="822960" y="5230368"/>
            <a:ext cx="6675120" cy="1078992"/>
          </a:xfrm>
          <a:prstGeom prst="rect">
            <a:avLst/>
          </a:prstGeom>
          <a:solidFill>
            <a:srgbClr val="F1F6EC"/>
          </a:solidFill>
        </p:spPr>
        <p:txBody>
          <a:bodyPr wrap="square" lIns="137160" tIns="73152" rIns="137160" bIns="73152" anchor="ctr"/>
          <a:lstStyle/>
          <a:p>
            <a:pPr algn="l"/>
            <a:r>
              <a:rPr lang="en-US" sz="2400" i="1">
                <a:solidFill>
                  <a:srgbClr val="222B22"/>
                </a:solidFill>
                <a:latin typeface="Cambria"/>
              </a:rPr>
              <a:t>“When your children ask their fathers in times to come, ‘What do these stones mean?’”</a:t>
            </a:r>
          </a:p>
          <a:p>
            <a:pPr algn="l"/>
            <a:r>
              <a:rPr lang="en-US" sz="1100" b="1">
                <a:solidFill>
                  <a:srgbClr val="97BC62"/>
                </a:solidFill>
                <a:latin typeface="Calibri"/>
              </a:rPr>
              <a:t>— JOSHUA 4:21 (ESV)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Teaching — Mark 4 and the Four Soils</a:t>
            </a:r>
          </a:p>
        </p:txBody>
      </p:sp>
      <p:pic>
        <p:nvPicPr>
          <p:cNvPr id="5" name="Picture 4" descr="four soils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10515600" cy="377190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4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222B22"/>
                </a:solidFill>
                <a:latin typeface="Calibri"/>
              </a:rPr>
              <a:t>Read Mark 4:1–20 in full, slowly — all twenty verses, no commentary. </a:t>
            </a:r>
            <a:r>
              <a:rPr sz="1800" b="1" i="0">
                <a:solidFill>
                  <a:srgbClr val="222B22"/>
                </a:solidFill>
                <a:latin typeface="Calibri"/>
              </a:rPr>
              <a:t>Then the seed, recalled — sixty seconds. Then the four soils — and Paul’s mixed ground, next slide.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Paul’s Mixed Ground — Romans 7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sp>
        <p:nvSpPr>
          <p:cNvPr id="260" name="StruggleCard"/>
          <p:cNvSpPr txBox="1"/>
          <p:nvPr/>
        </p:nvSpPr>
        <p:spPr>
          <a:xfrm>
            <a:off x="822960" y="1508760"/>
            <a:ext cx="6035040" cy="3108960"/>
          </a:xfrm>
          <a:prstGeom prst="rect">
            <a:avLst/>
          </a:prstGeom>
          <a:solidFill>
            <a:srgbClr val="F1F6EC"/>
          </a:solidFill>
        </p:spPr>
        <p:txBody>
          <a:bodyPr wrap="square" lIns="137160" tIns="91440" rIns="137160" bIns="91440" anchor="ctr"/>
          <a:lstStyle/>
          <a:p>
            <a:pPr>
              <a:spcAft>
                <a:spcPts val="800"/>
              </a:spcAft>
            </a:pPr>
            <a:r>
              <a:rPr sz="1200" b="1" i="0" dirty="0">
                <a:solidFill>
                  <a:srgbClr val="97BC62"/>
                </a:solidFill>
                <a:latin typeface="Calibri"/>
              </a:rPr>
              <a:t>ROMANS 7:15, 18–19</a:t>
            </a:r>
          </a:p>
          <a:p>
            <a:pPr>
              <a:spcAft>
                <a:spcPts val="400"/>
              </a:spcAft>
            </a:pPr>
            <a:r>
              <a:rPr sz="2400" b="0" i="1" dirty="0">
                <a:solidFill>
                  <a:srgbClr val="222B22"/>
                </a:solidFill>
                <a:latin typeface="Cambria"/>
              </a:rPr>
              <a:t>“For I do not understand my own actions. For I do not do what I want, but I do the very thing I hate… For I have the desire to do what is right, but not the ability to carry it out. For I do not do the good I want, but the evil I do not want is what I keep on doing.”</a:t>
            </a:r>
          </a:p>
        </p:txBody>
      </p:sp>
      <p:sp>
        <p:nvSpPr>
          <p:cNvPr id="261" name="RescueCard"/>
          <p:cNvSpPr txBox="1"/>
          <p:nvPr/>
        </p:nvSpPr>
        <p:spPr>
          <a:xfrm>
            <a:off x="7132320" y="1508760"/>
            <a:ext cx="4206240" cy="3108960"/>
          </a:xfrm>
          <a:prstGeom prst="rect">
            <a:avLst/>
          </a:prstGeom>
          <a:solidFill>
            <a:srgbClr val="F1F6EC"/>
          </a:solidFill>
        </p:spPr>
        <p:txBody>
          <a:bodyPr wrap="square" lIns="137160" tIns="91440" rIns="137160" bIns="91440" anchor="ctr"/>
          <a:lstStyle/>
          <a:p>
            <a:pPr>
              <a:spcAft>
                <a:spcPts val="800"/>
              </a:spcAft>
            </a:pPr>
            <a:r>
              <a:rPr sz="1200" b="1" i="0" dirty="0">
                <a:solidFill>
                  <a:srgbClr val="97BC62"/>
                </a:solidFill>
                <a:latin typeface="Calibri"/>
              </a:rPr>
              <a:t>ROMANS 7:24–25</a:t>
            </a:r>
          </a:p>
          <a:p>
            <a:pPr>
              <a:spcAft>
                <a:spcPts val="400"/>
              </a:spcAft>
            </a:pPr>
            <a:r>
              <a:rPr sz="2400" b="0" i="1" dirty="0">
                <a:solidFill>
                  <a:srgbClr val="222B22"/>
                </a:solidFill>
                <a:latin typeface="Cambria"/>
              </a:rPr>
              <a:t>“Wretched man that I am! Who will deliver me from this body of death? Thanks be to God through Jesus Christ our Lord!”</a:t>
            </a:r>
          </a:p>
        </p:txBody>
      </p:sp>
      <p:sp>
        <p:nvSpPr>
          <p:cNvPr id="262" name="Landing"/>
          <p:cNvSpPr txBox="1"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0" i="1" dirty="0">
                <a:solidFill>
                  <a:srgbClr val="222B22"/>
                </a:solidFill>
                <a:latin typeface="Calibri"/>
              </a:rPr>
              <a:t>Mixed soil, in the mouth of an apostle — and he lands on rescue, not despair. All four soils in one honest week is not failure. It is apostolic company.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Question Zero — Private, Journal Only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sp>
        <p:nvSpPr>
          <p:cNvPr id="240" name="CorCard"/>
          <p:cNvSpPr txBox="1"/>
          <p:nvPr/>
        </p:nvSpPr>
        <p:spPr>
          <a:xfrm>
            <a:off x="822960" y="1417320"/>
            <a:ext cx="10515600" cy="1325880"/>
          </a:xfrm>
          <a:prstGeom prst="rect">
            <a:avLst/>
          </a:prstGeom>
          <a:solidFill>
            <a:srgbClr val="F1F6EC"/>
          </a:solidFill>
        </p:spPr>
        <p:txBody>
          <a:bodyPr wrap="square" lIns="137160" tIns="91440" rIns="137160" bIns="91440" anchor="ctr"/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2 CORINTHIANS 13:5</a:t>
            </a:r>
          </a:p>
          <a:p>
            <a:pPr>
              <a:spcAft>
                <a:spcPts val="4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“Examine yourselves, to see whether you are in the faith. Test yourselves.”</a:t>
            </a:r>
          </a:p>
        </p:txBody>
      </p:sp>
      <p:sp>
        <p:nvSpPr>
          <p:cNvPr id="241" name="QzQuestion"/>
          <p:cNvSpPr txBox="1"/>
          <p:nvPr/>
        </p:nvSpPr>
        <p:spPr>
          <a:xfrm>
            <a:off x="822960" y="3063240"/>
            <a:ext cx="1051560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222B22"/>
                </a:solidFill>
                <a:latin typeface="Cambria"/>
              </a:rPr>
              <a:t>Has the seed itself ever gone into your ground? Has there been a time you actually said yes to Jesus — your yes, not your family’s?</a:t>
            </a:r>
          </a:p>
        </p:txBody>
      </p:sp>
      <p:sp>
        <p:nvSpPr>
          <p:cNvPr id="242" name="QzSub"/>
          <p:cNvSpPr txBox="1"/>
          <p:nvPr/>
        </p:nvSpPr>
        <p:spPr>
          <a:xfrm>
            <a:off x="479507" y="438912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 dirty="0">
                <a:solidFill>
                  <a:srgbClr val="222B22"/>
                </a:solidFill>
                <a:latin typeface="Calibri"/>
              </a:rPr>
              <a:t>Write your honest answer — yes, no, or I’m not sure. Nobody shares this one</a:t>
            </a:r>
            <a:r>
              <a:rPr sz="1800" b="0" i="0" dirty="0">
                <a:solidFill>
                  <a:srgbClr val="222B22"/>
                </a:solidFill>
                <a:latin typeface="Calibri"/>
              </a:rPr>
              <a:t>.</a:t>
            </a:r>
          </a:p>
        </p:txBody>
      </p:sp>
      <p:sp>
        <p:nvSpPr>
          <p:cNvPr id="243" name="QzRoad"/>
          <p:cNvSpPr txBox="1"/>
          <p:nvPr/>
        </p:nvSpPr>
        <p:spPr>
          <a:xfrm>
            <a:off x="822960" y="5349240"/>
            <a:ext cx="10515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1" dirty="0">
                <a:solidFill>
                  <a:srgbClr val="222B22"/>
                </a:solidFill>
                <a:latin typeface="Calibri"/>
              </a:rPr>
              <a:t>If it’s no, or not sure — the road is short. The thief walked it in one sentence. Any Companion, any Wednesday, quietly — or start with your parent, tonight, in the car.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pairs — the Heart Soil Diagnostic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08760"/>
            <a:ext cx="6675120" cy="493776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8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Not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“which soil am I?”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 — where does each soil show up in my life right now? Specifically.</a:t>
            </a:r>
          </a:p>
          <a:p>
            <a:pPr marL="342900" indent="-342900">
              <a:spcAft>
                <a:spcPts val="6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Path — where is the ground hard right now? One specific place, this week</a:t>
            </a:r>
          </a:p>
          <a:p>
            <a:pPr marL="342900" indent="-342900">
              <a:spcAft>
                <a:spcPts val="6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Rocky — where has a season with God not lasted? What sun revealed the missing roots?</a:t>
            </a:r>
          </a:p>
          <a:p>
            <a:pPr marL="342900" indent="-342900">
              <a:spcAft>
                <a:spcPts val="6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Thorny — what is choking me right now: cares, riches, other desires? Which is loudest?</a:t>
            </a:r>
          </a:p>
          <a:p>
            <a:pPr marL="342900" indent="-342900">
              <a:spcAft>
                <a:spcPts val="6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Good — where has something God planted actually grown? Name one real piece of fruit</a:t>
            </a:r>
          </a:p>
          <a:p>
            <a:pPr marL="274320" indent="-274320">
              <a:spcAft>
                <a:spcPts val="6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Journal two minutes, then share — a parent answers first, every round</a:t>
            </a:r>
          </a:p>
          <a:p>
            <a:pPr marL="274320" indent="-274320">
              <a:spcAft>
                <a:spcPts val="6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“I’d rather not share that one” is a complete answer — a gift, not ammunition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0" name="Picture 30" descr="hands examining soil and se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63040"/>
            <a:ext cx="3264408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Re-Merge — One Word, Then the Verse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02336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What surfaced stays in your pair — here, just one word from each of us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Then the verse Jesus ends with, read slowly — listen for the word that lands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Noticing rocks and thorns is not the opposite of good soil — it is what good soil does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329184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10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MARK 4:20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“But those that were sown on the good soil are the ones who hear the word and accept it and bear fruit, thirtyfold and sixtyfold and a hundredfold.”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0" name="Picture 30" descr="a single apple on the bran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60520"/>
            <a:ext cx="4206240" cy="2368296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Homework — Two Weeks, Four Parts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75488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 dirty="0">
                <a:solidFill>
                  <a:srgbClr val="222B22"/>
                </a:solidFill>
                <a:latin typeface="Calibri"/>
              </a:rPr>
              <a:t>The Soil Journal — three times this week, five minutes each. Not every day; three times.</a:t>
            </a:r>
          </a:p>
          <a:p>
            <a:pPr marL="685800" indent="-274320">
              <a:spcAft>
                <a:spcPts val="700"/>
              </a:spcAft>
            </a:pPr>
            <a:r>
              <a:rPr sz="1800" b="1" i="0" dirty="0">
                <a:solidFill>
                  <a:srgbClr val="97BC62"/>
                </a:solidFill>
                <a:latin typeface="Calibri"/>
              </a:rPr>
              <a:t>–  </a:t>
            </a:r>
            <a:r>
              <a:rPr sz="2400" b="0" i="1" dirty="0">
                <a:solidFill>
                  <a:srgbClr val="222B22"/>
                </a:solidFill>
                <a:latin typeface="Calibri"/>
              </a:rPr>
              <a:t>Today, where did the path show up? The rocky? The thorny? The good soil?</a:t>
            </a:r>
          </a:p>
          <a:p>
            <a:pPr marL="685800" indent="-274320">
              <a:spcAft>
                <a:spcPts val="70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–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One sentence per soil. Specific, not general.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 dirty="0">
                <a:solidFill>
                  <a:srgbClr val="222B22"/>
                </a:solidFill>
                <a:latin typeface="Calibri"/>
              </a:rPr>
              <a:t>No fixing. We notice; the Spirit fixes.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 dirty="0">
                <a:solidFill>
                  <a:srgbClr val="222B22"/>
                </a:solidFill>
                <a:latin typeface="Calibri"/>
              </a:rPr>
              <a:t>Keep the morning question going too: </a:t>
            </a:r>
            <a:r>
              <a:rPr sz="2200" b="0" i="1" dirty="0">
                <a:solidFill>
                  <a:srgbClr val="222B22"/>
                </a:solidFill>
                <a:latin typeface="Calibri"/>
              </a:rPr>
              <a:t>“Father, what are you up to today?”</a:t>
            </a:r>
            <a:r>
              <a:rPr sz="2200" b="0" i="0" dirty="0">
                <a:solidFill>
                  <a:srgbClr val="222B22"/>
                </a:solidFill>
                <a:latin typeface="Calibri"/>
              </a:rPr>
              <a:t> The practices stack.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0" name="Picture 30" descr="sprouts emerging from dark so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63040"/>
            <a:ext cx="3264408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2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03981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pic>
        <p:nvPicPr>
          <p:cNvPr id="4" name="Picture 3" descr="s2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004" y="1463040"/>
            <a:ext cx="8059687" cy="470916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75488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Closing the Container + Aaronic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2062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 close the way we opened — the container, six steps: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Stand again — same circle, same posture as the open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One-word landing — compare it to your opening word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thing you are taking from tonight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practice — committed aloud, or modified to one you will actually keep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Blessings — eyes on the person, not the screen: say what is on your heart for them. Specific, witnessed, short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prayer — and the Aaronic blessing, spoken over each other, face to 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365760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10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THE AARONIC BLESSING — NUMBERS 6:24–26</a:t>
            </a:r>
          </a:p>
          <a:p>
            <a:pPr>
              <a:spcAft>
                <a:spcPts val="7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7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you, and be gracious to you;</a:t>
            </a:r>
          </a:p>
          <a:p>
            <a:pPr>
              <a:spcAft>
                <a:spcPts val="7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you,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