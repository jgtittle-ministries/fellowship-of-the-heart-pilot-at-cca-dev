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9"/>
  </p:notesMasterIdLst>
  <p:sldIdLst>
    <p:sldId id="256" r:id="rId2"/>
    <p:sldId id="270" r:id="rId60"/>
    <p:sldId id="529" r:id="rId22"/>
    <p:sldId id="271" r:id="rId61"/>
    <p:sldId id="362" r:id="rId62"/>
    <p:sldId id="363" r:id="rId63"/>
    <p:sldId id="364" r:id="rId64"/>
    <p:sldId id="365" r:id="rId65"/>
    <p:sldId id="366" r:id="rId66"/>
    <p:sldId id="367" r:id="rId67"/>
    <p:sldId id="532" r:id="rId21"/>
    <p:sldId id="368" r:id="rId68"/>
    <p:sldId id="530" r:id="rId23"/>
    <p:sldId id="531" r:id="rId24"/>
    <p:sldId id="369" r:id="rId70"/>
    <p:sldId id="370" r:id="rId7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9FB8A61-E404-4362-9606-E87F49058870}" v="1" dt="2026-08-20T01:30:35.5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59085" autoAdjust="0"/>
  </p:normalViewPr>
  <p:slideViewPr>
    <p:cSldViewPr snapToGrid="0" snapToObjects="1">
      <p:cViewPr varScale="1">
        <p:scale>
          <a:sx n="48" d="100"/>
          <a:sy n="48" d="100"/>
        </p:scale>
        <p:origin x="2002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21" Type="http://schemas.openxmlformats.org/officeDocument/2006/relationships/slide" Target="slides/slide11.xml"/><Relationship Id="rId22" Type="http://schemas.openxmlformats.org/officeDocument/2006/relationships/slide" Target="slides/slide3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60" Type="http://schemas.openxmlformats.org/officeDocument/2006/relationships/slide" Target="slides/slide2.xml"/><Relationship Id="rId61" Type="http://schemas.openxmlformats.org/officeDocument/2006/relationships/slide" Target="slides/slide4.xml"/><Relationship Id="rId62" Type="http://schemas.openxmlformats.org/officeDocument/2006/relationships/slide" Target="slides/slide5.xml"/><Relationship Id="rId63" Type="http://schemas.openxmlformats.org/officeDocument/2006/relationships/slide" Target="slides/slide6.xml"/><Relationship Id="rId64" Type="http://schemas.openxmlformats.org/officeDocument/2006/relationships/slide" Target="slides/slide7.xml"/><Relationship Id="rId65" Type="http://schemas.openxmlformats.org/officeDocument/2006/relationships/slide" Target="slides/slide8.xml"/><Relationship Id="rId66" Type="http://schemas.openxmlformats.org/officeDocument/2006/relationships/slide" Target="slides/slide9.xml"/><Relationship Id="rId67" Type="http://schemas.openxmlformats.org/officeDocument/2006/relationships/slide" Target="slides/slide10.xml"/><Relationship Id="rId68" Type="http://schemas.openxmlformats.org/officeDocument/2006/relationships/slide" Target="slides/slide12.xml"/><Relationship Id="rId70" Type="http://schemas.openxmlformats.org/officeDocument/2006/relationships/slide" Target="slides/slide15.xml"/><Relationship Id="rId71" Type="http://schemas.openxmlformats.org/officeDocument/2006/relationships/slide" Target="slides/slide16.xml"/><Relationship Id="rId279" Type="http://schemas.openxmlformats.org/officeDocument/2006/relationships/notesMaster" Target="notesMasters/notesMaster1.xml"/><Relationship Id="rId280" Type="http://schemas.openxmlformats.org/officeDocument/2006/relationships/presProps" Target="presProps.xml"/><Relationship Id="rId281" Type="http://schemas.openxmlformats.org/officeDocument/2006/relationships/viewProps" Target="viewProps.xml"/><Relationship Id="rId282" Type="http://schemas.openxmlformats.org/officeDocument/2006/relationships/theme" Target="theme/theme1.xml"/><Relationship Id="rId283" Type="http://schemas.openxmlformats.org/officeDocument/2006/relationships/tableStyles" Target="tableStyles.xml"/><Relationship Id="rId284" Type="http://schemas.microsoft.com/office/2016/11/relationships/changesInfo" Target="changesInfos/changesInfo1.xml"/><Relationship Id="rId285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hn Tittle" userId="c9414421e32e8042" providerId="LiveId" clId="{48C55722-1884-484D-BEBA-C6DAFFF89F9C}"/>
    <pc:docChg chg="undo custSel addSld modSld sldOrd">
      <pc:chgData name="John Tittle" userId="c9414421e32e8042" providerId="LiveId" clId="{48C55722-1884-484D-BEBA-C6DAFFF89F9C}" dt="2026-08-20T14:52:01.337" v="149" actId="20577"/>
      <pc:docMkLst>
        <pc:docMk/>
      </pc:docMkLst>
      <pc:sldChg chg="modSp mod">
        <pc:chgData name="John Tittle" userId="c9414421e32e8042" providerId="LiveId" clId="{48C55722-1884-484D-BEBA-C6DAFFF89F9C}" dt="2026-08-12T13:40:14.941" v="27" actId="1076"/>
        <pc:sldMkLst>
          <pc:docMk/>
          <pc:sldMk cId="0" sldId="256"/>
        </pc:sldMkLst>
        <pc:spChg chg="mod">
          <ac:chgData name="John Tittle" userId="c9414421e32e8042" providerId="LiveId" clId="{48C55722-1884-484D-BEBA-C6DAFFF89F9C}" dt="2026-08-12T13:40:14.941" v="27" actId="1076"/>
          <ac:spMkLst>
            <pc:docMk/>
            <pc:sldMk cId="0" sldId="256"/>
            <ac:spMk id="2" creationId="{00000000-0000-0000-0000-000000000000}"/>
          </ac:spMkLst>
        </pc:spChg>
      </pc:sldChg>
      <pc:sldChg chg="modSp mod ord">
        <pc:chgData name="John Tittle" userId="c9414421e32e8042" providerId="LiveId" clId="{48C55722-1884-484D-BEBA-C6DAFFF89F9C}" dt="2026-08-12T18:12:40.034" v="135" actId="20577"/>
        <pc:sldMkLst>
          <pc:docMk/>
          <pc:sldMk cId="0" sldId="259"/>
        </pc:sldMkLst>
        <pc:spChg chg="mod">
          <ac:chgData name="John Tittle" userId="c9414421e32e8042" providerId="LiveId" clId="{48C55722-1884-484D-BEBA-C6DAFFF89F9C}" dt="2026-08-12T18:12:40.034" v="135" actId="20577"/>
          <ac:spMkLst>
            <pc:docMk/>
            <pc:sldMk cId="0" sldId="259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6:56:06.378" v="33" actId="255"/>
        <pc:sldMkLst>
          <pc:docMk/>
          <pc:sldMk cId="0" sldId="262"/>
        </pc:sldMkLst>
        <pc:spChg chg="mod">
          <ac:chgData name="John Tittle" userId="c9414421e32e8042" providerId="LiveId" clId="{48C55722-1884-484D-BEBA-C6DAFFF89F9C}" dt="2026-08-12T16:56:06.378" v="33" actId="255"/>
          <ac:spMkLst>
            <pc:docMk/>
            <pc:sldMk cId="0" sldId="262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0:38.976" v="42" actId="255"/>
        <pc:sldMkLst>
          <pc:docMk/>
          <pc:sldMk cId="0" sldId="265"/>
        </pc:sldMkLst>
        <pc:spChg chg="mod">
          <ac:chgData name="John Tittle" userId="c9414421e32e8042" providerId="LiveId" clId="{48C55722-1884-484D-BEBA-C6DAFFF89F9C}" dt="2026-08-12T17:00:38.976" v="42" actId="255"/>
          <ac:spMkLst>
            <pc:docMk/>
            <pc:sldMk cId="0" sldId="265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5:16.529" v="87" actId="255"/>
        <pc:sldMkLst>
          <pc:docMk/>
          <pc:sldMk cId="0" sldId="268"/>
        </pc:sldMkLst>
        <pc:spChg chg="mod">
          <ac:chgData name="John Tittle" userId="c9414421e32e8042" providerId="LiveId" clId="{48C55722-1884-484D-BEBA-C6DAFFF89F9C}" dt="2026-08-12T17:05:16.529" v="87" actId="255"/>
          <ac:spMkLst>
            <pc:docMk/>
            <pc:sldMk cId="0" sldId="268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10:31.923" v="93" actId="255"/>
        <pc:sldMkLst>
          <pc:docMk/>
          <pc:sldMk cId="0" sldId="271"/>
        </pc:sldMkLst>
        <pc:spChg chg="mod">
          <ac:chgData name="John Tittle" userId="c9414421e32e8042" providerId="LiveId" clId="{48C55722-1884-484D-BEBA-C6DAFFF89F9C}" dt="2026-08-12T17:10:31.923" v="93" actId="255"/>
          <ac:spMkLst>
            <pc:docMk/>
            <pc:sldMk cId="0" sldId="271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3:06:41.035" v="25" actId="20577"/>
        <pc:sldMkLst>
          <pc:docMk/>
          <pc:sldMk cId="0" sldId="328"/>
        </pc:sldMkLst>
        <pc:spChg chg="mod">
          <ac:chgData name="John Tittle" userId="c9414421e32e8042" providerId="LiveId" clId="{48C55722-1884-484D-BEBA-C6DAFFF89F9C}" dt="2026-08-12T13:06:41.035" v="25" actId="20577"/>
          <ac:spMkLst>
            <pc:docMk/>
            <pc:sldMk cId="0" sldId="328"/>
            <ac:spMk id="4" creationId="{00000000-0000-0000-0000-000000000000}"/>
          </ac:spMkLst>
        </pc:spChg>
        <pc:spChg chg="mod">
          <ac:chgData name="John Tittle" userId="c9414421e32e8042" providerId="LiveId" clId="{48C55722-1884-484D-BEBA-C6DAFFF89F9C}" dt="2026-08-12T13:02:27.925" v="5" actId="255"/>
          <ac:spMkLst>
            <pc:docMk/>
            <pc:sldMk cId="0" sldId="328"/>
            <ac:spMk id="6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6:56:22.357" v="34" actId="255"/>
        <pc:sldMkLst>
          <pc:docMk/>
          <pc:sldMk cId="0" sldId="335"/>
        </pc:sldMkLst>
        <pc:spChg chg="mod">
          <ac:chgData name="John Tittle" userId="c9414421e32e8042" providerId="LiveId" clId="{48C55722-1884-484D-BEBA-C6DAFFF89F9C}" dt="2026-08-12T16:56:22.357" v="34" actId="255"/>
          <ac:spMkLst>
            <pc:docMk/>
            <pc:sldMk cId="0" sldId="335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3:01:28.747" v="4" actId="1076"/>
        <pc:sldMkLst>
          <pc:docMk/>
          <pc:sldMk cId="0" sldId="337"/>
        </pc:sldMkLst>
        <pc:picChg chg="mod">
          <ac:chgData name="John Tittle" userId="c9414421e32e8042" providerId="LiveId" clId="{48C55722-1884-484D-BEBA-C6DAFFF89F9C}" dt="2026-08-12T13:01:28.747" v="4" actId="1076"/>
          <ac:picMkLst>
            <pc:docMk/>
            <pc:sldMk cId="0" sldId="337"/>
            <ac:picMk id="5" creationId="{00000000-0000-0000-0000-000000000000}"/>
          </ac:picMkLst>
        </pc:picChg>
      </pc:sldChg>
      <pc:sldChg chg="modSp mod">
        <pc:chgData name="John Tittle" userId="c9414421e32e8042" providerId="LiveId" clId="{48C55722-1884-484D-BEBA-C6DAFFF89F9C}" dt="2026-08-12T16:59:26.993" v="41" actId="255"/>
        <pc:sldMkLst>
          <pc:docMk/>
          <pc:sldMk cId="0" sldId="340"/>
        </pc:sldMkLst>
        <pc:spChg chg="mod">
          <ac:chgData name="John Tittle" userId="c9414421e32e8042" providerId="LiveId" clId="{48C55722-1884-484D-BEBA-C6DAFFF89F9C}" dt="2026-08-12T16:59:26.993" v="41" actId="255"/>
          <ac:spMkLst>
            <pc:docMk/>
            <pc:sldMk cId="0" sldId="340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1:07.634" v="43" actId="255"/>
        <pc:sldMkLst>
          <pc:docMk/>
          <pc:sldMk cId="0" sldId="343"/>
        </pc:sldMkLst>
        <pc:spChg chg="mod">
          <ac:chgData name="John Tittle" userId="c9414421e32e8042" providerId="LiveId" clId="{48C55722-1884-484D-BEBA-C6DAFFF89F9C}" dt="2026-08-12T17:01:07.634" v="43" actId="255"/>
          <ac:spMkLst>
            <pc:docMk/>
            <pc:sldMk cId="0" sldId="343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1:28.623" v="44" actId="255"/>
        <pc:sldMkLst>
          <pc:docMk/>
          <pc:sldMk cId="0" sldId="344"/>
        </pc:sldMkLst>
        <pc:spChg chg="mod">
          <ac:chgData name="John Tittle" userId="c9414421e32e8042" providerId="LiveId" clId="{48C55722-1884-484D-BEBA-C6DAFFF89F9C}" dt="2026-08-12T17:01:28.623" v="44" actId="255"/>
          <ac:spMkLst>
            <pc:docMk/>
            <pc:sldMk cId="0" sldId="344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3:01.179" v="84" actId="20577"/>
        <pc:sldMkLst>
          <pc:docMk/>
          <pc:sldMk cId="0" sldId="346"/>
        </pc:sldMkLst>
        <pc:spChg chg="mod">
          <ac:chgData name="John Tittle" userId="c9414421e32e8042" providerId="LiveId" clId="{48C55722-1884-484D-BEBA-C6DAFFF89F9C}" dt="2026-08-12T17:03:01.179" v="84" actId="20577"/>
          <ac:spMkLst>
            <pc:docMk/>
            <pc:sldMk cId="0" sldId="346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4:20.092" v="86" actId="255"/>
        <pc:sldMkLst>
          <pc:docMk/>
          <pc:sldMk cId="0" sldId="347"/>
        </pc:sldMkLst>
        <pc:spChg chg="mod">
          <ac:chgData name="John Tittle" userId="c9414421e32e8042" providerId="LiveId" clId="{48C55722-1884-484D-BEBA-C6DAFFF89F9C}" dt="2026-08-12T17:04:20.092" v="86" actId="255"/>
          <ac:spMkLst>
            <pc:docMk/>
            <pc:sldMk cId="0" sldId="347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3:59.966" v="85" actId="255"/>
        <pc:sldMkLst>
          <pc:docMk/>
          <pc:sldMk cId="0" sldId="349"/>
        </pc:sldMkLst>
        <pc:spChg chg="mod">
          <ac:chgData name="John Tittle" userId="c9414421e32e8042" providerId="LiveId" clId="{48C55722-1884-484D-BEBA-C6DAFFF89F9C}" dt="2026-08-12T17:03:59.966" v="85" actId="255"/>
          <ac:spMkLst>
            <pc:docMk/>
            <pc:sldMk cId="0" sldId="349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5:37.103" v="88" actId="255"/>
        <pc:sldMkLst>
          <pc:docMk/>
          <pc:sldMk cId="0" sldId="353"/>
        </pc:sldMkLst>
        <pc:spChg chg="mod">
          <ac:chgData name="John Tittle" userId="c9414421e32e8042" providerId="LiveId" clId="{48C55722-1884-484D-BEBA-C6DAFFF89F9C}" dt="2026-08-12T17:05:37.103" v="88" actId="255"/>
          <ac:spMkLst>
            <pc:docMk/>
            <pc:sldMk cId="0" sldId="353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8:29.079" v="89" actId="255"/>
        <pc:sldMkLst>
          <pc:docMk/>
          <pc:sldMk cId="0" sldId="354"/>
        </pc:sldMkLst>
        <pc:spChg chg="mod">
          <ac:chgData name="John Tittle" userId="c9414421e32e8042" providerId="LiveId" clId="{48C55722-1884-484D-BEBA-C6DAFFF89F9C}" dt="2026-08-12T17:08:29.079" v="89" actId="255"/>
          <ac:spMkLst>
            <pc:docMk/>
            <pc:sldMk cId="0" sldId="354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8:54.113" v="90" actId="255"/>
        <pc:sldMkLst>
          <pc:docMk/>
          <pc:sldMk cId="0" sldId="356"/>
        </pc:sldMkLst>
        <pc:spChg chg="mod">
          <ac:chgData name="John Tittle" userId="c9414421e32e8042" providerId="LiveId" clId="{48C55722-1884-484D-BEBA-C6DAFFF89F9C}" dt="2026-08-12T17:08:54.113" v="90" actId="255"/>
          <ac:spMkLst>
            <pc:docMk/>
            <pc:sldMk cId="0" sldId="356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9:09.405" v="91" actId="255"/>
        <pc:sldMkLst>
          <pc:docMk/>
          <pc:sldMk cId="0" sldId="357"/>
        </pc:sldMkLst>
        <pc:spChg chg="mod">
          <ac:chgData name="John Tittle" userId="c9414421e32e8042" providerId="LiveId" clId="{48C55722-1884-484D-BEBA-C6DAFFF89F9C}" dt="2026-08-12T17:09:09.405" v="91" actId="255"/>
          <ac:spMkLst>
            <pc:docMk/>
            <pc:sldMk cId="0" sldId="357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9:24.932" v="92" actId="255"/>
        <pc:sldMkLst>
          <pc:docMk/>
          <pc:sldMk cId="0" sldId="358"/>
        </pc:sldMkLst>
        <pc:spChg chg="mod">
          <ac:chgData name="John Tittle" userId="c9414421e32e8042" providerId="LiveId" clId="{48C55722-1884-484D-BEBA-C6DAFFF89F9C}" dt="2026-08-12T17:09:24.932" v="92" actId="255"/>
          <ac:spMkLst>
            <pc:docMk/>
            <pc:sldMk cId="0" sldId="358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11:42.432" v="94" actId="255"/>
        <pc:sldMkLst>
          <pc:docMk/>
          <pc:sldMk cId="0" sldId="362"/>
        </pc:sldMkLst>
        <pc:spChg chg="mod">
          <ac:chgData name="John Tittle" userId="c9414421e32e8042" providerId="LiveId" clId="{48C55722-1884-484D-BEBA-C6DAFFF89F9C}" dt="2026-08-12T17:11:42.432" v="94" actId="255"/>
          <ac:spMkLst>
            <pc:docMk/>
            <pc:sldMk cId="0" sldId="362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12:19.976" v="95" actId="255"/>
        <pc:sldMkLst>
          <pc:docMk/>
          <pc:sldMk cId="0" sldId="363"/>
        </pc:sldMkLst>
        <pc:spChg chg="mod">
          <ac:chgData name="John Tittle" userId="c9414421e32e8042" providerId="LiveId" clId="{48C55722-1884-484D-BEBA-C6DAFFF89F9C}" dt="2026-08-12T17:12:19.976" v="95" actId="255"/>
          <ac:spMkLst>
            <pc:docMk/>
            <pc:sldMk cId="0" sldId="363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13:01.002" v="96" actId="255"/>
        <pc:sldMkLst>
          <pc:docMk/>
          <pc:sldMk cId="0" sldId="364"/>
        </pc:sldMkLst>
        <pc:spChg chg="mod">
          <ac:chgData name="John Tittle" userId="c9414421e32e8042" providerId="LiveId" clId="{48C55722-1884-484D-BEBA-C6DAFFF89F9C}" dt="2026-08-12T17:13:01.002" v="96" actId="255"/>
          <ac:spMkLst>
            <pc:docMk/>
            <pc:sldMk cId="0" sldId="364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13:13.863" v="97" actId="255"/>
        <pc:sldMkLst>
          <pc:docMk/>
          <pc:sldMk cId="0" sldId="365"/>
        </pc:sldMkLst>
        <pc:spChg chg="mod">
          <ac:chgData name="John Tittle" userId="c9414421e32e8042" providerId="LiveId" clId="{48C55722-1884-484D-BEBA-C6DAFFF89F9C}" dt="2026-08-12T17:13:13.863" v="97" actId="255"/>
          <ac:spMkLst>
            <pc:docMk/>
            <pc:sldMk cId="0" sldId="365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3:03:25.042" v="7" actId="255"/>
        <pc:sldMkLst>
          <pc:docMk/>
          <pc:sldMk cId="0" sldId="520"/>
        </pc:sldMkLst>
        <pc:spChg chg="mod">
          <ac:chgData name="John Tittle" userId="c9414421e32e8042" providerId="LiveId" clId="{48C55722-1884-484D-BEBA-C6DAFFF89F9C}" dt="2026-08-12T13:03:14.451" v="6" actId="255"/>
          <ac:spMkLst>
            <pc:docMk/>
            <pc:sldMk cId="0" sldId="520"/>
            <ac:spMk id="220" creationId="{00000000-0000-0000-0000-000000000000}"/>
          </ac:spMkLst>
        </pc:spChg>
        <pc:spChg chg="mod">
          <ac:chgData name="John Tittle" userId="c9414421e32e8042" providerId="LiveId" clId="{48C55722-1884-484D-BEBA-C6DAFFF89F9C}" dt="2026-08-12T13:03:25.042" v="7" actId="255"/>
          <ac:spMkLst>
            <pc:docMk/>
            <pc:sldMk cId="0" sldId="520"/>
            <ac:spMk id="221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6:57:49.209" v="40" actId="1076"/>
        <pc:sldMkLst>
          <pc:docMk/>
          <pc:sldMk cId="0" sldId="522"/>
        </pc:sldMkLst>
        <pc:spChg chg="mod">
          <ac:chgData name="John Tittle" userId="c9414421e32e8042" providerId="LiveId" clId="{48C55722-1884-484D-BEBA-C6DAFFF89F9C}" dt="2026-08-12T16:57:49.209" v="40" actId="1076"/>
          <ac:spMkLst>
            <pc:docMk/>
            <pc:sldMk cId="0" sldId="522"/>
            <ac:spMk id="242" creationId="{00000000-0000-0000-0000-000000000000}"/>
          </ac:spMkLst>
        </pc:spChg>
        <pc:spChg chg="mod">
          <ac:chgData name="John Tittle" userId="c9414421e32e8042" providerId="LiveId" clId="{48C55722-1884-484D-BEBA-C6DAFFF89F9C}" dt="2026-08-12T16:57:19.041" v="35" actId="255"/>
          <ac:spMkLst>
            <pc:docMk/>
            <pc:sldMk cId="0" sldId="522"/>
            <ac:spMk id="243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3:01:11.684" v="2" actId="255"/>
        <pc:sldMkLst>
          <pc:docMk/>
          <pc:sldMk cId="0" sldId="523"/>
        </pc:sldMkLst>
        <pc:spChg chg="mod">
          <ac:chgData name="John Tittle" userId="c9414421e32e8042" providerId="LiveId" clId="{48C55722-1884-484D-BEBA-C6DAFFF89F9C}" dt="2026-08-12T13:00:43.184" v="0" actId="255"/>
          <ac:spMkLst>
            <pc:docMk/>
            <pc:sldMk cId="0" sldId="523"/>
            <ac:spMk id="260" creationId="{00000000-0000-0000-0000-000000000000}"/>
          </ac:spMkLst>
        </pc:spChg>
        <pc:spChg chg="mod">
          <ac:chgData name="John Tittle" userId="c9414421e32e8042" providerId="LiveId" clId="{48C55722-1884-484D-BEBA-C6DAFFF89F9C}" dt="2026-08-12T13:00:54.805" v="1" actId="255"/>
          <ac:spMkLst>
            <pc:docMk/>
            <pc:sldMk cId="0" sldId="523"/>
            <ac:spMk id="261" creationId="{00000000-0000-0000-0000-000000000000}"/>
          </ac:spMkLst>
        </pc:spChg>
        <pc:spChg chg="mod">
          <ac:chgData name="John Tittle" userId="c9414421e32e8042" providerId="LiveId" clId="{48C55722-1884-484D-BEBA-C6DAFFF89F9C}" dt="2026-08-12T13:01:11.684" v="2" actId="255"/>
          <ac:spMkLst>
            <pc:docMk/>
            <pc:sldMk cId="0" sldId="523"/>
            <ac:spMk id="262" creationId="{00000000-0000-0000-0000-000000000000}"/>
          </ac:spMkLst>
        </pc:spChg>
      </pc:sldChg>
      <pc:sldChg chg="modSp mod ord">
        <pc:chgData name="John Tittle" userId="c9414421e32e8042" providerId="LiveId" clId="{48C55722-1884-484D-BEBA-C6DAFFF89F9C}" dt="2026-08-12T15:53:10.639" v="32"/>
        <pc:sldMkLst>
          <pc:docMk/>
          <pc:sldMk cId="0" sldId="546"/>
        </pc:sldMkLst>
        <pc:spChg chg="mod">
          <ac:chgData name="John Tittle" userId="c9414421e32e8042" providerId="LiveId" clId="{48C55722-1884-484D-BEBA-C6DAFFF89F9C}" dt="2026-08-12T15:25:26.241" v="28" actId="255"/>
          <ac:spMkLst>
            <pc:docMk/>
            <pc:sldMk cId="0" sldId="546"/>
            <ac:spMk id="231" creationId="{00000000-0000-0000-0000-000000000000}"/>
          </ac:spMkLst>
        </pc:spChg>
      </pc:sldChg>
      <pc:sldChg chg="modSp mod ord">
        <pc:chgData name="John Tittle" userId="c9414421e32e8042" providerId="LiveId" clId="{48C55722-1884-484D-BEBA-C6DAFFF89F9C}" dt="2026-08-20T01:26:03.976" v="147"/>
        <pc:sldMkLst>
          <pc:docMk/>
          <pc:sldMk cId="0" sldId="547"/>
        </pc:sldMkLst>
        <pc:spChg chg="mod">
          <ac:chgData name="John Tittle" userId="c9414421e32e8042" providerId="LiveId" clId="{48C55722-1884-484D-BEBA-C6DAFFF89F9C}" dt="2026-08-12T18:13:34.327" v="143" actId="20577"/>
          <ac:spMkLst>
            <pc:docMk/>
            <pc:sldMk cId="0" sldId="547"/>
            <ac:spMk id="240" creationId="{00000000-0000-0000-0000-000000000000}"/>
          </ac:spMkLst>
        </pc:spChg>
      </pc:sldChg>
      <pc:sldChg chg="addSp modSp">
        <pc:chgData name="John Tittle" userId="c9414421e32e8042" providerId="LiveId" clId="{48C55722-1884-484D-BEBA-C6DAFFF89F9C}" dt="2026-08-13T18:04:10.115" v="145"/>
        <pc:sldMkLst>
          <pc:docMk/>
          <pc:sldMk cId="0" sldId="548"/>
        </pc:sldMkLst>
        <pc:picChg chg="add mod">
          <ac:chgData name="John Tittle" userId="c9414421e32e8042" providerId="LiveId" clId="{48C55722-1884-484D-BEBA-C6DAFFF89F9C}" dt="2026-08-13T18:04:10.115" v="145"/>
          <ac:picMkLst>
            <pc:docMk/>
            <pc:sldMk cId="0" sldId="548"/>
            <ac:picMk id="5" creationId="{57A95D7D-1063-6D30-607C-E5502D8C3B9D}"/>
          </ac:picMkLst>
        </pc:picChg>
      </pc:sldChg>
      <pc:sldChg chg="add">
        <pc:chgData name="John Tittle" userId="c9414421e32e8042" providerId="LiveId" clId="{48C55722-1884-484D-BEBA-C6DAFFF89F9C}" dt="2026-08-20T01:30:35.577" v="148"/>
        <pc:sldMkLst>
          <pc:docMk/>
          <pc:sldMk cId="2484547825" sldId="553"/>
        </pc:sldMkLst>
      </pc:sldChg>
      <pc:sldChg chg="modNotes">
        <pc:chgData name="John Tittle" userId="c9414421e32e8042" providerId="LiveId" clId="{48C55722-1884-484D-BEBA-C6DAFFF89F9C}" dt="2026-08-20T14:52:01.337" v="149" actId="20577"/>
        <pc:sldMkLst>
          <pc:docMk/>
          <pc:sldMk cId="0" sldId="554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>
      <a:defRPr sz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DECK TITLE · pre-session · DIVIDER</a:t>
            </a:r>
          </a:p>
          <a:p>
            <a:r>
              <a:rPr lang="en-US" sz="1200"/>
              <a:t>On screen as the room assembles on night one. All Scripture ESV; the plans carry the scripts; these slides carry the room — and these notes carry you.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E4 · 8:18–8:20 · LEAD: CONTENT PRESENTER · WRAP-UP</a:t>
            </a:r>
          </a:p>
          <a:p>
            <a:r>
              <a:t>BEATS:</a:t>
            </a:r>
          </a:p>
          <a:p>
            <a:r>
              <a:t>1. Name it plainly: the four conditions are foundational — they are what make a close friendship possible. They are not the whole of friendship.</a:t>
            </a:r>
          </a:p>
          <a:p>
            <a:r>
              <a:t>2. A good friend also reaches you in other ways: they give you energy — you walk away uplifted; they are warm and caring; maybe even funny.</a:t>
            </a:r>
          </a:p>
          <a:p>
            <a:r>
              <a:t>3. Turn it toward choice: these other gifts are a way to think about WHICH friendships you want to deepen — with the process and intentionality we have just walked. As you work your one friendship these two weeks, notice what else your good friendships give you.</a:t>
            </a:r>
          </a:p>
          <a:p>
            <a:r>
              <a:t>GUARD: Two minutes, riding the tail of the merge block — not a second teaching. The commissioning needs its time.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E4 · 7:00–7:08 · LEAD: CONTAINER HOLDER · GROUNDING — every session now opens on this map</a:t>
            </a:r>
          </a:p>
          <a:p>
            <a:r>
              <a:t>BEATS:</a:t>
            </a:r>
          </a:p>
          <a:p>
            <a:r>
              <a:t>1. Frame from the map: the first four weeks were Connect with Self — the soil, the story told all the way around. Today begins the second box: Connect with Others; two weeks here.</a:t>
            </a:r>
          </a:p>
          <a:p>
            <a:r>
              <a:t>2. The four boxes are one journey — each connection makes the next one real — rooted in the two great commandments: love God, love neighbor (Matt 22:37–40).</a:t>
            </a:r>
          </a:p>
          <a:p>
            <a:r>
              <a:t>3. Tonight makes visible the four conditions that have been quietly holding this room, and asks where they live in our actual friendships. The four conditions can be a basis for loving others — foundational, not exhaustive: there is more to loving somebody than these four (the wrap-up slide names it).</a:t>
            </a:r>
          </a:p>
          <a:p>
            <a:r>
              <a:t>CUES: This is also the 'where we are on the map' minute the welcome owes any newcomer. A sibling of this slide opens every session going forward.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E4 · 8:20–8:24 · LEAD: CONTENT PRESENTER</a:t>
            </a:r>
          </a:p>
          <a:p>
            <a:r>
              <a:t>BEATS:</a:t>
            </a:r>
          </a:p>
          <a:p>
            <a:r>
              <a:t>1. The sheet on the screen is the sheet in their hands — walk it, don't read it.</a:t>
            </a:r>
          </a:p>
          <a:p>
            <a:r>
              <a:t>2. The standing practice first: the morning question, the evening journal line — every day, both weeks; one box per day on the two week-grids.</a:t>
            </a:r>
          </a:p>
          <a:p>
            <a:r>
              <a:t>3. A missed box is never a failure — it is an invitation to return.</a:t>
            </a:r>
          </a:p>
          <a:p>
            <a:r>
              <a:t>CUES: Rides inside the commissioning block; the four parts are the next slide.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E4 · 8:20–8:24 · LEAD: CONTENT PRESENTER</a:t>
            </a:r>
          </a:p>
          <a:p>
            <a:r>
              <a:t>BEATS:</a:t>
            </a:r>
          </a:p>
          <a:p>
            <a:r>
              <a:t>1. The four parts, in order: the homework practice, week one (one relationship, one condition, offered — and the on-ramp if it stirs something hard); the end-of-week-one check-in; the homework practice, week two (same relationship or another, second condition — or deeper); one sentence of preparation.</a:t>
            </a:r>
          </a:p>
          <a:p>
            <a:r>
              <a:t>2. Check-in partners are named aloud before leaving this slide — the sheet has the line to write the name.</a:t>
            </a:r>
          </a:p>
          <a:p>
            <a:r>
              <a:t>GUARD: Do not reteach the practice here — the practice slide did that; this is the sheet-walk only.</a:t>
            </a: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E4 · pre-session · DIVIDER</a:t>
            </a:r>
          </a:p>
          <a:p>
            <a:r>
              <a:t>On screen through dinner and as the circle forms. Greet at the door — the slide holds the room.</a:t>
            </a: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E4 · 7:00–8:30 · BOTH LEADERS</a:t>
            </a:r>
          </a:p>
          <a:p>
            <a:r>
              <a:t>BEATS:</a:t>
            </a:r>
          </a:p>
          <a:p>
            <a:r>
              <a:t>1. Movement two begins: Connect with Others. Today names the four conditions that have been holding this room — Safe, Present, Clear, Intentional — then maps them onto real friendships in pairs.</a:t>
            </a:r>
          </a:p>
          <a:p>
            <a:r>
              <a:t>2. Shape: open, check-in, 15-minute whiteboard teaching, bridge, 28-minute friendship-mapping, merge patterns, practice, feedback, close.</a:t>
            </a:r>
          </a:p>
          <a:p>
            <a:r>
              <a:t>3. Risk profile is nearer Evening 2 than Evening 3 — but 'I don't have a single friend who knows me' from a teen is its own quiet emergency; receive it and follow up within 48 hours.</a:t>
            </a:r>
          </a:p>
          <a:p>
            <a:r>
              <a:t>CUES: Whiteboard pre-written vertically: SAFE / PRESENT / CLEAR / INTENTIONAL. Opening parent arranged per cluster.</a:t>
            </a: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E4 · 7:00–7:08 · LEAD: CONTAINER HOLDER</a:t>
            </a:r>
          </a:p>
          <a:p>
            <a:r>
              <a:t>BEATS:</a:t>
            </a:r>
          </a:p>
          <a:p>
            <a:r>
              <a:t>1. Blessing over the room; let it settle first.</a:t>
            </a:r>
          </a:p>
          <a:p>
            <a:r>
              <a:t>2. Name the leading pair: two leaders hold tonight — one holds the container, one presents the content — and you will see the evening handed back and forth between them. That is the design.</a:t>
            </a:r>
          </a:p>
          <a:p>
            <a:r>
              <a:t>3. Container reminders, briefly: what is said here stays here; nothing required; we listen to receive, not to fix.</a:t>
            </a:r>
          </a:p>
          <a:p>
            <a:r>
              <a:t>(The Four Connects framing now lives on the map slide that follows.)</a:t>
            </a: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E4 · 7:08–7:25 · LEAD: CONTAINER HOLDER</a:t>
            </a:r>
          </a:p>
          <a:p>
            <a:r>
              <a:t>BEATS:</a:t>
            </a:r>
          </a:p>
          <a:p>
            <a:r>
              <a:t>1. Check on the homework practice since we last met, and the midweek reports: one sentence each; a parent starts the sharing.</a:t>
            </a:r>
          </a:p>
          <a:p>
            <a:r>
              <a:t>2. Take 3–4 voluntary contributions; receive without commentary.</a:t>
            </a:r>
          </a:p>
          <a:p>
            <a:r>
              <a:t>3. Move on: 'Some of that work continues whether or not we got to it this week.'</a:t>
            </a: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E4 · 7:25–7:42 · LEAD: CONTENT PRESENTER</a:t>
            </a:r>
          </a:p>
          <a:p>
            <a:r>
              <a:t>OPENING LINES (moved from the slide): The threefold cord is stronger because the strands hold each other in tension — the strength is in the holding.</a:t>
            </a:r>
          </a:p>
          <a:p>
            <a:r>
              <a:t>Four conditions have been quietly holding this room for four weeks. Tonight we name them.</a:t>
            </a:r>
          </a:p>
          <a:p>
            <a:r>
              <a:t>BEATS:</a:t>
            </a:r>
          </a:p>
          <a:p>
            <a:r>
              <a:t>1. Read Ecclesiastes 4:9–12 — the threefold cord's strength is in the holding.</a:t>
            </a:r>
          </a:p>
          <a:p>
            <a:r>
              <a:t>2. Walk each condition 2–3 minutes at the whiteboard: SAFE, the hearing condition (not judged while doing my work — Rom 14:3–4); PRESENT, the attention condition (actually here — Rev 1:8); CLEAR, the channel condition (nothing unaddressed — Matt 7:5); INTENTIONAL, the obedience condition (willing to do what He shows — John 5:19).</a:t>
            </a:r>
          </a:p>
          <a:p>
            <a:r>
              <a:t>3. Name the small-number frame: we are proposing deep investment in a SMALL NUMBER of friendships — starting with one; at this depth, two or three may be all a life can honestly hold. Tonight we work on one friendship and one condition, to get started at this deeper level.</a:t>
            </a:r>
          </a:p>
          <a:p>
            <a:r>
              <a:t>4. Teach lightly — the pairs exercise does the depth work.</a:t>
            </a:r>
          </a:p>
          <a:p>
            <a:r>
              <a:t>GUARD: This is not friendship tips. Stay with the four conditions as defined, and do not run long — the mapping block needs its full 28 minutes.</a:t>
            </a: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E4 · 7:42–7:43 · LEAD: CONTENT PRESENTER · TRANSITION</a:t>
            </a:r>
          </a:p>
          <a:p>
            <a:r>
              <a:t>BEATS:</a:t>
            </a:r>
          </a:p>
          <a:p>
            <a:r>
              <a:t>1. Frame the exercise: for each condition — where does it show up in my actual friendships, and where is it missing? Worksheets are on the chairs.</a:t>
            </a:r>
          </a:p>
          <a:p>
            <a:r>
              <a:t>2. Name the language rule: no names — 'one of my friendships,' 'one adult relationship in my life.'</a:t>
            </a:r>
          </a:p>
          <a:p>
            <a:r>
              <a:t>3. Pray and send: in pairs, right where you sit; back together at 8:08. Ten or fewer can also stay one circle.</a:t>
            </a:r>
          </a:p>
          <a:p>
            <a:r>
              <a:t>SMALL ROOM: the split is only necessary if the room is large enough to need it. With six or so, stay one circle — or the quick pair work in place, knee to knee. Pair work is also the standing time-recovery lever: a full split-and-merge costs about five minutes.</a:t>
            </a:r>
          </a:p>
          <a:p>
            <a:r>
              <a:t>CUES: A leader models each condition first, then the arranged parent opens; teens choose their own depth after; pass anytime.</a:t>
            </a:r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E4 · 7:43–8:08 · PAIRS · LEAD: CONTENT PRESENTER; container holder watches</a:t>
            </a:r>
          </a:p>
          <a:p>
            <a:r>
              <a:t>BEATS:</a:t>
            </a:r>
          </a:p>
          <a:p>
            <a:r>
              <a:t>1. About six minutes per condition: a leader models 30–60 seconds (one friendship where it is present, one where missing — specific), a parent opens, then around; pass allowed.</a:t>
            </a:r>
          </a:p>
          <a:p>
            <a:r>
              <a:t>2. After each round the Companion names one observation and moves on — no summarizing, no evaluating.</a:t>
            </a:r>
          </a:p>
          <a:p>
            <a:r>
              <a:t>3. Finish early: the harder question, silent, two minutes — which condition am I hardest at OFFERING?</a:t>
            </a:r>
          </a:p>
          <a:p>
            <a:r>
              <a:t>CUES: Minute four with three unspoken — compress: 'Two minutes left on this one, quick rounds.'</a:t>
            </a:r>
          </a:p>
          <a:p>
            <a:r>
              <a:t>GUARD: Real names get gently re-framed. The relationship a teen maps may be the parent beside them — hold the anonymous frame both ways: nobody asks who was meant, in the circle or afterward. A teen with no friendship in any condition: receive, do not rescue, flag for the Lead Companion. Parents map their OWN friendships, not their teen's.</a:t>
            </a:r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E4 · 8:08–8:20 · LEAD: CONTAINER HOLDER</a:t>
            </a:r>
          </a:p>
          <a:p>
            <a:r>
              <a:t>BEATS:</a:t>
            </a:r>
          </a:p>
          <a:p>
            <a:r>
              <a:t>1. Patterns only, no people: each pair offers one pattern. Two questions, named clearly: which condition shows up MOST OFTEN across the friendships we mapped (the most common) — and which is MOST OFTEN MISSING (the rarest).</a:t>
            </a:r>
          </a:p>
          <a:p>
            <a:r>
              <a:t>2. You close with one true observation across the pairs, briefly — the actual one, e.g. 'most of us name what is missing from our friendships faster than what we ourselves don't offer.'</a:t>
            </a:r>
          </a:p>
          <a:p>
            <a:r>
              <a:t>SMALL ROOM: if the room never split, the 'pairs' are the pairs you worked in — patterns surface straight to the one circle.</a:t>
            </a:r>
          </a:p>
          <a:p>
            <a:r>
              <a:t>GUARD: Pattern-level means pattern-level — nothing from any individual's mapping crosses cluster lines.</a:t>
            </a:r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E4 · 8:20–8:24 · LEAD: CONTENT PRESENTER</a:t>
            </a:r>
          </a:p>
          <a:p>
            <a:r>
              <a:t>BEATS:</a:t>
            </a:r>
          </a:p>
          <a:p>
            <a:r>
              <a:t>1. Pick one relationship — a friend, a sibling, a parent, a teammate; not necessarily the closest; yours alone, told to no one. Pick one condition: the most missing, or the hardest to offer.</a:t>
            </a:r>
          </a:p>
          <a:p>
            <a:r>
              <a:t>2. The small-number frame, restated: this is deep investment in a small number of friendships — starting with one. Not a program for your whole contact list.</a:t>
            </a:r>
          </a:p>
          <a:p>
            <a:r>
              <a:t>3. Practice offering it more intentionally than usual over the two weeks — what you give, not a test of them; how they respond is not a grade on you — give the concrete versions: phone in another room for Present; receive without judging for Safe; name a carried thing for Clear; come in watching for what God is doing for Intentional.</a:t>
            </a:r>
          </a:p>
          <a:p>
            <a:r>
              <a:t>4. The homework practice in writing: it goes in your own journal; H5.5 carries the practice. At the end of week one, report to your check-in partner.</a:t>
            </a:r>
          </a:p>
          <a:p>
            <a:r>
              <a:t>5. Say the on-ramp plainly, warmly: looking at friendships can bring up loneliness, a friendship that hurt, or one that faded. Notice it; don't fix it this week. Choose an easier relationship or set the practice down for a few days, and tell someone you trust — your partner, a parent, one of us. The sheet says it too.</a:t>
            </a:r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E4 · 8:24–8:28 · LEAD: BOTH LEADERS</a:t>
            </a:r>
          </a:p>
          <a:p>
            <a:r>
              <a:t>BEATS:</a:t>
            </a:r>
          </a:p>
          <a:p>
            <a:r>
              <a:t>1. Two rounds: the container holder first, then the content presenter. Three things each: went well; do differently; what I'd tell someone teaching today's process.</a:t>
            </a:r>
          </a:p>
          <a:p>
            <a:r>
              <a:t>2. Then the room's two questions; two or three voices is plenty.</a:t>
            </a:r>
          </a:p>
          <a:p>
            <a:r>
              <a:t>3. Receive without defending — 'thank you' is the whole response.</a:t>
            </a:r>
          </a:p>
          <a:p>
            <a:r>
              <a:t>CUES: May be dropped if the room needs something else; twice running goes to the team debrief.</a:t>
            </a:r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E4 · 8:28–8:30 · LEAD: CONTAINER HOLDER</a:t>
            </a:r>
          </a:p>
          <a:p>
            <a:r>
              <a:t>BEATS:</a:t>
            </a:r>
          </a:p>
          <a:p>
            <a:r>
              <a:t>1. 'What was named today is yours. The friendships you mapped are yours. Carry it gently.'</a:t>
            </a:r>
          </a:p>
          <a:p>
            <a:r>
              <a:t>2. Name the open door: anyone who noticed they have no friendships with these conditions — reach out to the team; that is real, and not a problem to solve in five seconds.</a:t>
            </a:r>
          </a:p>
          <a:p>
            <a:r>
              <a:t>3. Aaronic blessing. 'See you in two weeks.'</a:t>
            </a:r>
          </a:p>
          <a:p>
            <a:r>
              <a:t>BLESSINGS: eyes on the person, not the screen — nothing to read; say what is on your heart for them, specific and short.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2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4.xml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1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23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15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5.xml"/><Relationship Id="rId4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6.xml"/><Relationship Id="rId4" Type="http://schemas.openxmlformats.org/officeDocument/2006/relationships/image" Target="../media/image6.png"/><Relationship Id="rId5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9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4c-trai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1418285"/>
            <a:ext cx="3291840" cy="4021429"/>
          </a:xfrm>
          <a:prstGeom prst="rect">
            <a:avLst/>
          </a:prstGeom>
          <a:ln w="76200">
            <a:solidFill>
              <a:srgbClr val="FFFFFF"/>
            </a:solidFill>
          </a:ln>
          <a:effectLst>
            <a:outerShdw blurRad="63500" dist="25400" dir="5400000" rotWithShape="0">
              <a:srgbClr val="000000">
                <a:alpha val="35000"/>
              </a:srgbClr>
            </a:outerShdw>
          </a:effectLst>
        </p:spPr>
      </p:pic>
      <p:sp>
        <p:nvSpPr>
          <p:cNvPr id="4" name="TextBox 3"/>
          <p:cNvSpPr txBox="1"/>
          <p:nvPr/>
        </p:nvSpPr>
        <p:spPr>
          <a:xfrm>
            <a:off x="914400" y="1920240"/>
            <a:ext cx="72237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mbria"/>
              </a:rPr>
              <a:t>Fellowship of the Heart</a:t>
            </a:r>
          </a:p>
          <a:p>
            <a:pPr algn="l">
              <a:spcAft>
                <a:spcPts val="600"/>
              </a:spcAft>
            </a:pPr>
            <a:r>
              <a:rPr sz="2000" b="0" i="1">
                <a:solidFill>
                  <a:srgbClr val="E4EFDA"/>
                </a:solidFill>
                <a:latin typeface="Calibri"/>
              </a:rPr>
              <a:t>Getting Started — the Four Connects, walked around the table on alternating evenings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97BC62"/>
                </a:solidFill>
                <a:latin typeface="Calibri"/>
              </a:rPr>
              <a:t>Evening Series 2026–27  ·  at the Tittle home  ·  v1.5E DRAFT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94360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1">
                <a:solidFill>
                  <a:srgbClr val="E4EFDA"/>
                </a:solidFill>
                <a:latin typeface="Calibri"/>
              </a:rPr>
              <a:t>All Scripture: ESV  ·  The Companion lesson plans carry the full scripts — these slides carry the room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1</a:t>
            </a:r>
            <a:endParaRPr sz="1000" b="1">
              <a:solidFill>
                <a:srgbClr val="F1F6EC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wk04-know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8937" y="822960"/>
            <a:ext cx="3475805" cy="5212080"/>
          </a:xfrm>
          <a:prstGeom prst="rect">
            <a:avLst/>
          </a:prstGeom>
          <a:ln w="76200">
            <a:solidFill>
              <a:srgbClr val="FFFFFF"/>
            </a:solidFill>
          </a:ln>
          <a:effectLst>
            <a:outerShdw blurRad="63500" dist="25400" dir="5400000" rotWithShape="0">
              <a:srgbClr val="000000">
                <a:alpha val="35000"/>
              </a:srgbClr>
            </a:outerShdw>
          </a:effectLst>
        </p:spPr>
      </p:pic>
      <p:sp>
        <p:nvSpPr>
          <p:cNvPr id="4" name="TextBox 3"/>
          <p:cNvSpPr txBox="1"/>
          <p:nvPr/>
        </p:nvSpPr>
        <p:spPr>
          <a:xfrm>
            <a:off x="822960" y="1828800"/>
            <a:ext cx="52120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97BC62"/>
                </a:solidFill>
                <a:latin typeface="Calibri"/>
              </a:rPr>
              <a:t>EVENING 4</a:t>
            </a:r>
          </a:p>
          <a:p>
            <a:pPr algn="l">
              <a:spcAft>
                <a:spcPts val="1000"/>
              </a:spcAft>
            </a:pPr>
            <a:r>
              <a:rPr sz="3300" b="1" i="0">
                <a:solidFill>
                  <a:srgbClr val="2C5F2D"/>
                </a:solidFill>
                <a:latin typeface="Cambria"/>
              </a:rPr>
              <a:t>Knowing and Being Known</a:t>
            </a:r>
          </a:p>
          <a:p>
            <a:pPr algn="l">
              <a:spcAft>
                <a:spcPts val="600"/>
              </a:spcAft>
            </a:pPr>
            <a:r>
              <a:rPr sz="1800" b="0" i="1">
                <a:solidFill>
                  <a:srgbClr val="595959"/>
                </a:solidFill>
                <a:latin typeface="Calibri"/>
              </a:rPr>
              <a:t>The four conditions of a container, applied to your real friendships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126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595959"/>
                </a:solidFill>
                <a:latin typeface="Calibri"/>
              </a:rPr>
              <a:t>Quarter 1: Connect with Self &amp; Others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66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C5F2D"/>
                </a:solidFill>
                <a:latin typeface="Cambria"/>
              </a:rPr>
              <a:t>Where We Are — the Four Connects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6235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222B22"/>
                </a:solidFill>
                <a:latin typeface="Calibri"/>
              </a:rPr>
              <a:t>Evening 4 stands in the second box — </a:t>
            </a:r>
            <a:r>
              <a:rPr sz="1800" b="1">
                <a:solidFill>
                  <a:srgbClr val="2C5F2D"/>
                </a:solidFill>
                <a:latin typeface="Calibri"/>
              </a:rPr>
              <a:t>Connect with Others</a:t>
            </a:r>
            <a:r>
              <a:rPr sz="1800">
                <a:solidFill>
                  <a:srgbClr val="222B22"/>
                </a:solidFill>
                <a:latin typeface="Calibri"/>
              </a:rPr>
              <a:t>. The four conditions of friendship are how connecting with others can be a basis for loving others (Matt. 22:37–40).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67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  <p:pic>
        <p:nvPicPr>
          <p:cNvPr id="91" name="Picture 9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" y="1645920"/>
            <a:ext cx="10332720" cy="370866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Evening 4 — Tonight’s Road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7040880" cy="4483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74320">
              <a:spcAft>
                <a:spcPts val="500"/>
              </a:spcAft>
            </a:pPr>
            <a:r>
              <a:rPr sz="2800" b="1" dirty="0">
                <a:solidFill>
                  <a:srgbClr val="97BC62"/>
                </a:solidFill>
                <a:latin typeface="Calibri"/>
              </a:rPr>
              <a:t>1   </a:t>
            </a:r>
            <a:r>
              <a:rPr sz="2800" dirty="0">
                <a:solidFill>
                  <a:srgbClr val="222B22"/>
                </a:solidFill>
                <a:latin typeface="Calibri"/>
              </a:rPr>
              <a:t>Welcome and centering</a:t>
            </a:r>
          </a:p>
          <a:p>
            <a:pPr marL="274320" indent="-274320">
              <a:spcAft>
                <a:spcPts val="500"/>
              </a:spcAft>
            </a:pPr>
            <a:r>
              <a:rPr sz="2800" b="1" dirty="0">
                <a:solidFill>
                  <a:srgbClr val="97BC62"/>
                </a:solidFill>
                <a:latin typeface="Calibri"/>
              </a:rPr>
              <a:t>2   </a:t>
            </a:r>
            <a:r>
              <a:rPr sz="2800" dirty="0">
                <a:solidFill>
                  <a:srgbClr val="222B22"/>
                </a:solidFill>
                <a:latin typeface="Calibri"/>
              </a:rPr>
              <a:t>Check-in — the homework practice since we last met</a:t>
            </a:r>
          </a:p>
          <a:p>
            <a:pPr marL="274320" indent="-274320">
              <a:spcAft>
                <a:spcPts val="500"/>
              </a:spcAft>
            </a:pPr>
            <a:r>
              <a:rPr sz="2800" b="1" dirty="0">
                <a:solidFill>
                  <a:srgbClr val="97BC62"/>
                </a:solidFill>
                <a:latin typeface="Calibri"/>
              </a:rPr>
              <a:t>3   </a:t>
            </a:r>
            <a:r>
              <a:rPr sz="2800" dirty="0">
                <a:solidFill>
                  <a:srgbClr val="222B22"/>
                </a:solidFill>
                <a:latin typeface="Calibri"/>
              </a:rPr>
              <a:t>The four conditions — teaching</a:t>
            </a:r>
          </a:p>
          <a:p>
            <a:pPr marL="274320" indent="-274320">
              <a:spcAft>
                <a:spcPts val="500"/>
              </a:spcAft>
            </a:pPr>
            <a:r>
              <a:rPr sz="2800" b="1" dirty="0">
                <a:solidFill>
                  <a:srgbClr val="97BC62"/>
                </a:solidFill>
                <a:latin typeface="Calibri"/>
              </a:rPr>
              <a:t>4   </a:t>
            </a:r>
            <a:r>
              <a:rPr sz="2800" dirty="0">
                <a:solidFill>
                  <a:srgbClr val="222B22"/>
                </a:solidFill>
                <a:latin typeface="Calibri"/>
              </a:rPr>
              <a:t>Bridge to split</a:t>
            </a:r>
          </a:p>
          <a:p>
            <a:pPr marL="274320" indent="-274320">
              <a:spcAft>
                <a:spcPts val="500"/>
              </a:spcAft>
            </a:pPr>
            <a:r>
              <a:rPr sz="2800" b="1" dirty="0">
                <a:solidFill>
                  <a:srgbClr val="97BC62"/>
                </a:solidFill>
                <a:latin typeface="Calibri"/>
              </a:rPr>
              <a:t>5   </a:t>
            </a:r>
            <a:r>
              <a:rPr sz="2800" dirty="0">
                <a:solidFill>
                  <a:srgbClr val="222B22"/>
                </a:solidFill>
                <a:latin typeface="Calibri"/>
              </a:rPr>
              <a:t>Friendship-mapping exercise</a:t>
            </a:r>
          </a:p>
          <a:p>
            <a:pPr marL="274320" indent="-274320">
              <a:spcAft>
                <a:spcPts val="500"/>
              </a:spcAft>
            </a:pPr>
            <a:r>
              <a:rPr sz="2800" b="1" dirty="0">
                <a:solidFill>
                  <a:srgbClr val="97BC62"/>
                </a:solidFill>
                <a:latin typeface="Calibri"/>
              </a:rPr>
              <a:t>6   </a:t>
            </a:r>
            <a:r>
              <a:rPr sz="2800" dirty="0">
                <a:solidFill>
                  <a:srgbClr val="222B22"/>
                </a:solidFill>
                <a:latin typeface="Calibri"/>
              </a:rPr>
              <a:t>Merge and surface common patterns</a:t>
            </a:r>
          </a:p>
          <a:p>
            <a:pPr marL="274320" indent="-274320">
              <a:spcAft>
                <a:spcPts val="500"/>
              </a:spcAft>
            </a:pPr>
            <a:r>
              <a:rPr sz="2800" b="1" dirty="0">
                <a:solidFill>
                  <a:srgbClr val="97BC62"/>
                </a:solidFill>
                <a:latin typeface="Calibri"/>
              </a:rPr>
              <a:t>7   </a:t>
            </a:r>
            <a:r>
              <a:rPr sz="2800" dirty="0">
                <a:solidFill>
                  <a:srgbClr val="222B22"/>
                </a:solidFill>
                <a:latin typeface="Calibri"/>
              </a:rPr>
              <a:t>Homework commissioning — handout + partners</a:t>
            </a:r>
          </a:p>
          <a:p>
            <a:pPr marL="274320" indent="-274320">
              <a:spcAft>
                <a:spcPts val="500"/>
              </a:spcAft>
            </a:pPr>
            <a:r>
              <a:rPr sz="2800" b="1" dirty="0">
                <a:solidFill>
                  <a:srgbClr val="97BC62"/>
                </a:solidFill>
                <a:latin typeface="Calibri"/>
              </a:rPr>
              <a:t>8   </a:t>
            </a:r>
            <a:r>
              <a:rPr sz="2800" dirty="0">
                <a:solidFill>
                  <a:srgbClr val="222B22"/>
                </a:solidFill>
                <a:latin typeface="Calibri"/>
              </a:rPr>
              <a:t>The Leader Feedback Round — both leaders</a:t>
            </a:r>
          </a:p>
          <a:p>
            <a:pPr marL="274320" indent="-274320">
              <a:spcAft>
                <a:spcPts val="500"/>
              </a:spcAft>
            </a:pPr>
            <a:r>
              <a:rPr sz="2800" b="1" dirty="0">
                <a:solidFill>
                  <a:srgbClr val="97BC62"/>
                </a:solidFill>
                <a:latin typeface="Calibri"/>
              </a:rPr>
              <a:t>9   </a:t>
            </a:r>
            <a:r>
              <a:rPr sz="2800" dirty="0">
                <a:solidFill>
                  <a:srgbClr val="222B22"/>
                </a:solidFill>
                <a:latin typeface="Calibri"/>
              </a:rPr>
              <a:t>Closing container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68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  <p:pic>
        <p:nvPicPr>
          <p:cNvPr id="31" name="Picture 31" descr="the open container bow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554480"/>
            <a:ext cx="3017520" cy="4526280"/>
          </a:xfrm>
          <a:prstGeom prst="rect">
            <a:avLst/>
          </a:prstGeom>
          <a:ln w="76200">
            <a:solidFill>
              <a:srgbClr val="FFFFFF"/>
            </a:solidFill>
          </a:ln>
          <a:effectLst>
            <a:outerShdw blurRad="63500" dist="25400" dir="5400000" rotWithShape="0">
              <a:srgbClr val="000000">
                <a:alpha val="35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Opening Container — the Eight Steps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2960" y="1554480"/>
            <a:ext cx="10515600" cy="489204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marL="342900" indent="-342900">
              <a:spcAft>
                <a:spcPts val="650"/>
              </a:spcAft>
            </a:pPr>
            <a:r>
              <a:rPr sz="2400" b="1" i="0" dirty="0">
                <a:solidFill>
                  <a:srgbClr val="97BC62"/>
                </a:solidFill>
                <a:latin typeface="Calibri"/>
              </a:rPr>
              <a:t>1   </a:t>
            </a:r>
            <a:r>
              <a:rPr sz="2400" b="0" i="0" dirty="0">
                <a:solidFill>
                  <a:srgbClr val="222B22"/>
                </a:solidFill>
                <a:latin typeface="Calibri"/>
              </a:rPr>
              <a:t>Welcome — five minutes to open the container</a:t>
            </a:r>
          </a:p>
          <a:p>
            <a:pPr marL="342900" indent="-342900">
              <a:spcAft>
                <a:spcPts val="650"/>
              </a:spcAft>
            </a:pPr>
            <a:r>
              <a:rPr sz="2400" b="1" i="0" dirty="0">
                <a:solidFill>
                  <a:srgbClr val="97BC62"/>
                </a:solidFill>
                <a:latin typeface="Calibri"/>
              </a:rPr>
              <a:t>2   </a:t>
            </a:r>
            <a:r>
              <a:rPr sz="2400" b="0" i="0" dirty="0">
                <a:solidFill>
                  <a:srgbClr val="222B22"/>
                </a:solidFill>
                <a:latin typeface="Calibri"/>
              </a:rPr>
              <a:t>Phones silenced and put away</a:t>
            </a:r>
          </a:p>
          <a:p>
            <a:pPr marL="342900" indent="-342900">
              <a:spcAft>
                <a:spcPts val="650"/>
              </a:spcAft>
            </a:pPr>
            <a:r>
              <a:rPr sz="2400" b="1" i="0" dirty="0">
                <a:solidFill>
                  <a:srgbClr val="97BC62"/>
                </a:solidFill>
                <a:latin typeface="Calibri"/>
              </a:rPr>
              <a:t>3   </a:t>
            </a:r>
            <a:r>
              <a:rPr sz="2400" b="0" i="0" dirty="0">
                <a:solidFill>
                  <a:srgbClr val="222B22"/>
                </a:solidFill>
                <a:latin typeface="Calibri"/>
              </a:rPr>
              <a:t>Stand in a circle</a:t>
            </a:r>
          </a:p>
          <a:p>
            <a:pPr marL="342900" indent="-342900">
              <a:spcAft>
                <a:spcPts val="650"/>
              </a:spcAft>
            </a:pPr>
            <a:r>
              <a:rPr sz="2400" b="1" i="0" dirty="0">
                <a:solidFill>
                  <a:srgbClr val="97BC62"/>
                </a:solidFill>
                <a:latin typeface="Calibri"/>
              </a:rPr>
              <a:t>4   </a:t>
            </a:r>
            <a:r>
              <a:rPr sz="2400" b="0" i="0" dirty="0">
                <a:solidFill>
                  <a:srgbClr val="222B22"/>
                </a:solidFill>
                <a:latin typeface="Calibri"/>
              </a:rPr>
              <a:t>One-word check-in — how you actually are, right now</a:t>
            </a:r>
          </a:p>
          <a:p>
            <a:pPr marL="342900" indent="-342900">
              <a:spcAft>
                <a:spcPts val="650"/>
              </a:spcAft>
            </a:pPr>
            <a:r>
              <a:rPr sz="2400" b="1" i="0" dirty="0">
                <a:solidFill>
                  <a:srgbClr val="97BC62"/>
                </a:solidFill>
                <a:latin typeface="Calibri"/>
              </a:rPr>
              <a:t>5   </a:t>
            </a:r>
            <a:r>
              <a:rPr sz="2400" b="0" i="0" dirty="0">
                <a:solidFill>
                  <a:srgbClr val="222B22"/>
                </a:solidFill>
                <a:latin typeface="Calibri"/>
              </a:rPr>
              <a:t>Put out / bring in — set something down; bring a blessing in</a:t>
            </a:r>
          </a:p>
          <a:p>
            <a:pPr marL="342900" indent="-342900">
              <a:spcAft>
                <a:spcPts val="650"/>
              </a:spcAft>
            </a:pPr>
            <a:r>
              <a:rPr sz="2400" b="1" i="0" dirty="0">
                <a:solidFill>
                  <a:srgbClr val="97BC62"/>
                </a:solidFill>
                <a:latin typeface="Calibri"/>
              </a:rPr>
              <a:t>6   </a:t>
            </a:r>
            <a:r>
              <a:rPr sz="2400" b="0" i="0" dirty="0">
                <a:solidFill>
                  <a:srgbClr val="222B22"/>
                </a:solidFill>
                <a:latin typeface="Calibri"/>
              </a:rPr>
              <a:t>Spoken commitment: “I am here. I am paying attention. I am willing to be moved.”</a:t>
            </a:r>
          </a:p>
          <a:p>
            <a:pPr marL="342900" indent="-342900">
              <a:spcAft>
                <a:spcPts val="650"/>
              </a:spcAft>
            </a:pPr>
            <a:r>
              <a:rPr sz="2400" b="1" i="0" dirty="0">
                <a:solidFill>
                  <a:srgbClr val="97BC62"/>
                </a:solidFill>
                <a:latin typeface="Calibri"/>
              </a:rPr>
              <a:t>7   </a:t>
            </a:r>
            <a:r>
              <a:rPr sz="2400" b="0" i="0" dirty="0">
                <a:solidFill>
                  <a:srgbClr val="222B22"/>
                </a:solidFill>
                <a:latin typeface="Calibri"/>
              </a:rPr>
              <a:t>Opening prayer — “Holy Spirit, you are welcome here. Speak. We are listening.”</a:t>
            </a:r>
          </a:p>
          <a:p>
            <a:pPr marL="342900" indent="-342900">
              <a:spcAft>
                <a:spcPts val="650"/>
              </a:spcAft>
            </a:pPr>
            <a:r>
              <a:rPr sz="2400" b="1" i="0" dirty="0">
                <a:solidFill>
                  <a:srgbClr val="97BC62"/>
                </a:solidFill>
                <a:latin typeface="Calibri"/>
              </a:rPr>
              <a:t>8   </a:t>
            </a:r>
            <a:r>
              <a:rPr sz="2400" b="0" i="0" dirty="0">
                <a:solidFill>
                  <a:srgbClr val="222B22"/>
                </a:solidFill>
                <a:latin typeface="Calibri"/>
              </a:rPr>
              <a:t>Sit. Begin.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69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Check-In — the Homework Practice Since We Last Met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2960" y="1554480"/>
            <a:ext cx="6675120" cy="489204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marL="274320" indent="-274320">
              <a:spcAft>
                <a:spcPts val="900"/>
              </a:spcAft>
            </a:pPr>
            <a:r>
              <a:rPr sz="2800" b="1" i="0" dirty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 dirty="0">
                <a:solidFill>
                  <a:srgbClr val="222B22"/>
                </a:solidFill>
                <a:latin typeface="Calibri"/>
              </a:rPr>
              <a:t>“Some of you got to it. Some didn’t. Both are fine.”</a:t>
            </a:r>
          </a:p>
          <a:p>
            <a:pPr marL="274320" indent="-274320">
              <a:spcAft>
                <a:spcPts val="900"/>
              </a:spcAft>
            </a:pPr>
            <a:r>
              <a:rPr sz="2800" b="1" i="0" dirty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 dirty="0">
                <a:solidFill>
                  <a:srgbClr val="222B22"/>
                </a:solidFill>
                <a:latin typeface="Calibri"/>
              </a:rPr>
              <a:t>“Anyone want to say one sentence about how that landed for you?”</a:t>
            </a:r>
          </a:p>
          <a:p>
            <a:pPr marL="274320" indent="-274320">
              <a:spcAft>
                <a:spcPts val="900"/>
              </a:spcAft>
            </a:pPr>
            <a:r>
              <a:rPr sz="2800" b="1" i="0" dirty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 dirty="0">
                <a:solidFill>
                  <a:srgbClr val="222B22"/>
                </a:solidFill>
                <a:latin typeface="Calibri"/>
              </a:rPr>
              <a:t>Receive without commentary</a:t>
            </a:r>
          </a:p>
          <a:p>
            <a:pPr marL="274320" indent="-274320">
              <a:spcAft>
                <a:spcPts val="900"/>
              </a:spcAft>
            </a:pPr>
            <a:r>
              <a:rPr sz="2800" b="1" i="0" dirty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 dirty="0">
                <a:solidFill>
                  <a:srgbClr val="222B22"/>
                </a:solidFill>
                <a:latin typeface="Calibri"/>
              </a:rPr>
              <a:t>“Good. Some of that work continues whether or not we got to it.”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70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  <p:pic>
        <p:nvPicPr>
          <p:cNvPr id="32" name="Picture 32" descr="trail cairn - the weekly check-i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3612" y="1463040"/>
            <a:ext cx="3262379" cy="4892040"/>
          </a:xfrm>
          <a:prstGeom prst="rect">
            <a:avLst/>
          </a:prstGeom>
          <a:ln w="76200">
            <a:solidFill>
              <a:srgbClr val="FFFFFF"/>
            </a:solidFill>
          </a:ln>
          <a:effectLst>
            <a:outerShdw blurRad="63500" dist="25400" dir="5400000" rotWithShape="0">
              <a:srgbClr val="000000">
                <a:alpha val="35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Friendship Mapping with Four Conditions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2960" y="1600200"/>
            <a:ext cx="5669280" cy="457200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marL="342900" indent="-342900">
              <a:spcAft>
                <a:spcPts val="650"/>
              </a:spcAft>
            </a:pPr>
            <a:r>
              <a:rPr b="1" i="0" dirty="0">
                <a:solidFill>
                  <a:srgbClr val="97BC62"/>
                </a:solidFill>
                <a:latin typeface="Calibri"/>
              </a:rPr>
              <a:t>1   </a:t>
            </a:r>
            <a:r>
              <a:rPr b="0" i="0" dirty="0">
                <a:solidFill>
                  <a:srgbClr val="222B22"/>
                </a:solidFill>
                <a:latin typeface="Calibri"/>
              </a:rPr>
              <a:t>SAFE — the hearing condition. “I will not be judged as a person while I am doing my work” — Romans 14:3–4</a:t>
            </a:r>
          </a:p>
          <a:p>
            <a:pPr marL="342900" indent="-342900">
              <a:spcAft>
                <a:spcPts val="650"/>
              </a:spcAft>
            </a:pPr>
            <a:r>
              <a:rPr b="1" i="0" dirty="0">
                <a:solidFill>
                  <a:srgbClr val="97BC62"/>
                </a:solidFill>
                <a:latin typeface="Calibri"/>
              </a:rPr>
              <a:t>2   </a:t>
            </a:r>
            <a:r>
              <a:rPr b="0" i="0" dirty="0">
                <a:solidFill>
                  <a:srgbClr val="222B22"/>
                </a:solidFill>
                <a:latin typeface="Calibri"/>
              </a:rPr>
              <a:t>PRESENT — the attention condition. “I am actually here” — aware that the Great I AM is also here — Revelation 1:8</a:t>
            </a:r>
          </a:p>
          <a:p>
            <a:pPr marL="342900" indent="-342900">
              <a:spcAft>
                <a:spcPts val="650"/>
              </a:spcAft>
            </a:pPr>
            <a:r>
              <a:rPr b="1" i="0" dirty="0">
                <a:solidFill>
                  <a:srgbClr val="97BC62"/>
                </a:solidFill>
                <a:latin typeface="Calibri"/>
              </a:rPr>
              <a:t>3   </a:t>
            </a:r>
            <a:r>
              <a:rPr b="0" i="0" dirty="0">
                <a:solidFill>
                  <a:srgbClr val="222B22"/>
                </a:solidFill>
                <a:latin typeface="Calibri"/>
              </a:rPr>
              <a:t>CLEAR — the channel condition. Nothing unaddressed between God and me, or the circle and me — Matthew 7:5</a:t>
            </a:r>
          </a:p>
          <a:p>
            <a:pPr marL="342900" indent="-342900">
              <a:spcAft>
                <a:spcPts val="650"/>
              </a:spcAft>
            </a:pPr>
            <a:r>
              <a:rPr b="1" i="0" dirty="0">
                <a:solidFill>
                  <a:srgbClr val="97BC62"/>
                </a:solidFill>
                <a:latin typeface="Calibri"/>
              </a:rPr>
              <a:t>4   </a:t>
            </a:r>
            <a:r>
              <a:rPr b="0" i="0" dirty="0">
                <a:solidFill>
                  <a:srgbClr val="222B22"/>
                </a:solidFill>
                <a:latin typeface="Calibri"/>
              </a:rPr>
              <a:t>INTENTIONAL — the obedience condition. On purpose, watching for what God is doing, willing to do it — John 5:19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766560" y="1737360"/>
            <a:ext cx="4663440" cy="3310128"/>
          </a:xfrm>
          <a:prstGeom prst="rect">
            <a:avLst/>
          </a:prstGeom>
          <a:solidFill>
            <a:srgbClr val="F1F6EC"/>
          </a:solidFill>
        </p:spPr>
        <p:txBody>
          <a:bodyPr wrap="square" lIns="91440" tIns="91440" rIns="91440" bIns="91440" anchor="ctr"/>
          <a:lstStyle/>
          <a:p>
            <a:pPr>
              <a:spcAft>
                <a:spcPts val="900"/>
              </a:spcAft>
            </a:pPr>
            <a:r>
              <a:rPr sz="1200" b="1" i="0">
                <a:solidFill>
                  <a:srgbClr val="97BC62"/>
                </a:solidFill>
                <a:latin typeface="Calibri"/>
              </a:rPr>
              <a:t>ECCLESIASTES 4:9–12</a:t>
            </a:r>
          </a:p>
          <a:p>
            <a:pPr>
              <a:spcAft>
                <a:spcPts val="600"/>
              </a:spcAft>
            </a:pPr>
            <a:r>
              <a:rPr sz="2400" b="0" i="1">
                <a:solidFill>
                  <a:srgbClr val="222B22"/>
                </a:solidFill>
                <a:latin typeface="Cambria"/>
              </a:rPr>
              <a:t>“Two are better than one, because they have a good reward for their toil. For if they fall, one will lift up his fellow. … And though a man might prevail against one who is alone, two will withstand him—a threefold cord is not quickly broken.”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71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Bridge to the Split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2960" y="1554480"/>
            <a:ext cx="10515600" cy="489204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marL="274320" indent="-274320">
              <a:spcAft>
                <a:spcPts val="900"/>
              </a:spcAft>
            </a:pPr>
            <a:r>
              <a:rPr sz="2200" b="1" i="0" dirty="0">
                <a:solidFill>
                  <a:srgbClr val="97BC62"/>
                </a:solidFill>
                <a:latin typeface="Calibri"/>
              </a:rPr>
              <a:t>•</a:t>
            </a:r>
            <a:r>
              <a:rPr sz="2800" b="1" i="0" dirty="0">
                <a:solidFill>
                  <a:srgbClr val="97BC62"/>
                </a:solidFill>
                <a:latin typeface="Calibri"/>
              </a:rPr>
              <a:t>  </a:t>
            </a:r>
            <a:r>
              <a:rPr sz="2800" b="0" i="0" dirty="0">
                <a:solidFill>
                  <a:srgbClr val="222B22"/>
                </a:solidFill>
                <a:latin typeface="Calibri"/>
              </a:rPr>
              <a:t>Each pair takes the four conditions and asks: “for each one, where in my actual friendships does this show up? And where is it missing?”</a:t>
            </a:r>
          </a:p>
          <a:p>
            <a:pPr marL="274320" indent="-274320">
              <a:spcAft>
                <a:spcPts val="900"/>
              </a:spcAft>
            </a:pPr>
            <a:r>
              <a:rPr sz="2800" b="1" i="0" dirty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 dirty="0">
                <a:solidFill>
                  <a:srgbClr val="222B22"/>
                </a:solidFill>
                <a:latin typeface="Calibri"/>
              </a:rPr>
              <a:t>“We are not naming names tonight. ‘One of my friends’ is fine.” — we map conditions, not people</a:t>
            </a:r>
          </a:p>
          <a:p>
            <a:pPr marL="274320" indent="-274320">
              <a:spcAft>
                <a:spcPts val="900"/>
              </a:spcAft>
            </a:pPr>
            <a:r>
              <a:rPr sz="2800" b="1" i="0" dirty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 dirty="0">
                <a:solidFill>
                  <a:srgbClr val="222B22"/>
                </a:solidFill>
                <a:latin typeface="Calibri"/>
              </a:rPr>
              <a:t>A leader models each condition first, then one of the parents opens the round</a:t>
            </a:r>
          </a:p>
          <a:p>
            <a:pPr marL="274320" indent="-274320">
              <a:spcAft>
                <a:spcPts val="900"/>
              </a:spcAft>
            </a:pPr>
            <a:r>
              <a:rPr sz="2800" b="1" i="0" dirty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 dirty="0">
                <a:solidFill>
                  <a:srgbClr val="222B22"/>
                </a:solidFill>
                <a:latin typeface="Calibri"/>
              </a:rPr>
              <a:t>Teens, you choose your own depth. Pass anytime</a:t>
            </a:r>
          </a:p>
          <a:p>
            <a:pPr marL="274320" indent="-274320">
              <a:spcAft>
                <a:spcPts val="900"/>
              </a:spcAft>
            </a:pPr>
            <a:r>
              <a:rPr sz="2800" b="1" i="0" dirty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 dirty="0">
                <a:solidFill>
                  <a:srgbClr val="222B22"/>
                </a:solidFill>
                <a:latin typeface="Calibri"/>
              </a:rPr>
              <a:t>Twenty-eight minutes — in pairs, right where you sit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72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Friendship-Mapping in Pairs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2960" y="1554480"/>
            <a:ext cx="6675120" cy="489204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marL="274320" indent="-274320">
              <a:spcAft>
                <a:spcPts val="900"/>
              </a:spcAft>
            </a:pPr>
            <a:r>
              <a:rPr sz="22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200" b="0" i="0">
                <a:solidFill>
                  <a:srgbClr val="222B22"/>
                </a:solidFill>
                <a:latin typeface="Calibri"/>
              </a:rPr>
              <a:t>Four conditions, about six minutes each — a leader models first, a parent opens the round</a:t>
            </a:r>
          </a:p>
          <a:p>
            <a:pPr marL="274320" indent="-274320">
              <a:spcAft>
                <a:spcPts val="900"/>
              </a:spcAft>
            </a:pPr>
            <a:r>
              <a:rPr sz="22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200" b="0" i="0">
                <a:solidFill>
                  <a:srgbClr val="222B22"/>
                </a:solidFill>
                <a:latin typeface="Calibri"/>
              </a:rPr>
              <a:t>Each turn 30–60 seconds — specific: one friendship where the condition is present, one where it is missing</a:t>
            </a:r>
          </a:p>
          <a:p>
            <a:pPr marL="274320" indent="-274320">
              <a:spcAft>
                <a:spcPts val="900"/>
              </a:spcAft>
            </a:pPr>
            <a:r>
              <a:rPr sz="22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200" b="0" i="0">
                <a:solidFill>
                  <a:srgbClr val="222B22"/>
                </a:solidFill>
                <a:latin typeface="Calibri"/>
              </a:rPr>
              <a:t>“No names of people who aren’t in this room — and for people who are, ‘one of my friendships’ or ‘one adult relationship in my life’ is the language. Nobody asks who you meant.”</a:t>
            </a:r>
          </a:p>
          <a:p>
            <a:pPr marL="274320" indent="-274320">
              <a:spcAft>
                <a:spcPts val="900"/>
              </a:spcAft>
            </a:pPr>
            <a:r>
              <a:rPr sz="22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200" b="0" i="0">
                <a:solidFill>
                  <a:srgbClr val="222B22"/>
                </a:solidFill>
                <a:latin typeface="Calibri"/>
              </a:rPr>
              <a:t>Parents map their own adult friendships — not their teens’</a:t>
            </a:r>
          </a:p>
          <a:p>
            <a:pPr marL="274320" indent="-274320">
              <a:spcAft>
                <a:spcPts val="900"/>
              </a:spcAft>
            </a:pPr>
            <a:r>
              <a:rPr sz="22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200" b="0" i="0">
                <a:solidFill>
                  <a:srgbClr val="222B22"/>
                </a:solidFill>
                <a:latin typeface="Calibri"/>
              </a:rPr>
              <a:t>If time remains, the quiet final question: “Of the four conditions, which one is the one I find hardest to offer to my friends?”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73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  <p:pic>
        <p:nvPicPr>
          <p:cNvPr id="30" name="Picture 30" descr="threefold cord of natural rop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6160" y="1463040"/>
            <a:ext cx="3259831" cy="4892040"/>
          </a:xfrm>
          <a:prstGeom prst="rect">
            <a:avLst/>
          </a:prstGeom>
          <a:ln w="76200">
            <a:solidFill>
              <a:srgbClr val="FFFFFF"/>
            </a:solidFill>
          </a:ln>
          <a:effectLst>
            <a:outerShdw blurRad="63500" dist="25400" dir="5400000" rotWithShape="0">
              <a:srgbClr val="000000">
                <a:alpha val="35000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Merge — Surfacing Common Patterns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2960" y="1554480"/>
            <a:ext cx="10515600" cy="489204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marL="274320" indent="-274320">
              <a:spcAft>
                <a:spcPts val="900"/>
              </a:spcAft>
            </a:pPr>
            <a:r>
              <a:rPr sz="28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>
                <a:solidFill>
                  <a:srgbClr val="222B22"/>
                </a:solidFill>
                <a:latin typeface="Calibri"/>
              </a:rPr>
              <a:t>What happened in your pair stays in your pair</a:t>
            </a:r>
          </a:p>
          <a:p>
            <a:pPr marL="274320" indent="-274320">
              <a:spcAft>
                <a:spcPts val="900"/>
              </a:spcAft>
            </a:pPr>
            <a:r>
              <a:rPr sz="28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>
                <a:solidFill>
                  <a:srgbClr val="222B22"/>
                </a:solidFill>
                <a:latin typeface="Calibri"/>
              </a:rPr>
              <a:t>Patterns only — general, no names. Two questions, answered as a pair:</a:t>
            </a:r>
          </a:p>
          <a:p>
            <a:pPr marL="548640" indent="-274320">
              <a:spcAft>
                <a:spcPts val="900"/>
              </a:spcAft>
            </a:pPr>
            <a:r>
              <a:rPr sz="2800" b="1" i="0">
                <a:solidFill>
                  <a:srgbClr val="97BC62"/>
                </a:solidFill>
                <a:latin typeface="Calibri"/>
              </a:rPr>
              <a:t>–  </a:t>
            </a:r>
            <a:r>
              <a:rPr sz="2800" b="0" i="0">
                <a:solidFill>
                  <a:srgbClr val="222B22"/>
                </a:solidFill>
                <a:latin typeface="Calibri"/>
              </a:rPr>
              <a:t>Most common: which condition shows up most often across the friendships we mapped?</a:t>
            </a:r>
          </a:p>
          <a:p>
            <a:pPr marL="548640" indent="-274320">
              <a:spcAft>
                <a:spcPts val="900"/>
              </a:spcAft>
            </a:pPr>
            <a:r>
              <a:rPr sz="2800" b="1" i="0">
                <a:solidFill>
                  <a:srgbClr val="97BC62"/>
                </a:solidFill>
                <a:latin typeface="Calibri"/>
              </a:rPr>
              <a:t>–  </a:t>
            </a:r>
            <a:r>
              <a:rPr sz="2800" b="0" i="0">
                <a:solidFill>
                  <a:srgbClr val="222B22"/>
                </a:solidFill>
                <a:latin typeface="Calibri"/>
              </a:rPr>
              <a:t>Rarest: which condition is most often missing?</a:t>
            </a:r>
          </a:p>
          <a:p>
            <a:pPr marL="274320" indent="-274320">
              <a:spcAft>
                <a:spcPts val="900"/>
              </a:spcAft>
            </a:pPr>
            <a:r>
              <a:rPr sz="28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>
                <a:solidFill>
                  <a:srgbClr val="222B22"/>
                </a:solidFill>
                <a:latin typeface="Calibri"/>
              </a:rPr>
              <a:t>Each pair offers one or two general patterns</a:t>
            </a:r>
          </a:p>
          <a:p>
            <a:pPr marL="274320" indent="-274320">
              <a:spcAft>
                <a:spcPts val="900"/>
              </a:spcAft>
            </a:pPr>
            <a:r>
              <a:rPr sz="28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>
                <a:solidFill>
                  <a:srgbClr val="222B22"/>
                </a:solidFill>
                <a:latin typeface="Calibri"/>
              </a:rPr>
              <a:t>Then the container holder names one observation across the pairs — “that is real, and it is the seed of the practice ahead”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74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C5F2D"/>
                </a:solidFill>
                <a:latin typeface="Cambria"/>
              </a:rPr>
              <a:t>More Than the Four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74320">
              <a:spcAft>
                <a:spcPts val="1200"/>
              </a:spcAft>
            </a:pPr>
            <a:r>
              <a:rPr sz="2800">
                <a:solidFill>
                  <a:srgbClr val="222B22"/>
                </a:solidFill>
                <a:latin typeface="Calibri"/>
              </a:rPr>
              <a:t>•  The four conditions are foundational — they are what make a close friendship possible</a:t>
            </a:r>
          </a:p>
          <a:p>
            <a:pPr marL="274320" indent="-274320">
              <a:spcAft>
                <a:spcPts val="1200"/>
              </a:spcAft>
            </a:pPr>
            <a:r>
              <a:rPr sz="2800">
                <a:solidFill>
                  <a:srgbClr val="222B22"/>
                </a:solidFill>
                <a:latin typeface="Calibri"/>
              </a:rPr>
              <a:t>•  But a good friend reaches you in more ways than these:</a:t>
            </a:r>
          </a:p>
          <a:p>
            <a:pPr marL="731520" indent="-274320">
              <a:spcAft>
                <a:spcPts val="1200"/>
              </a:spcAft>
            </a:pPr>
            <a:r>
              <a:rPr sz="2800">
                <a:solidFill>
                  <a:srgbClr val="404040"/>
                </a:solidFill>
                <a:latin typeface="Calibri"/>
              </a:rPr>
              <a:t>–  They give you energy — you walk away from them uplifted</a:t>
            </a:r>
          </a:p>
          <a:p>
            <a:pPr marL="731520" indent="-274320">
              <a:spcAft>
                <a:spcPts val="1200"/>
              </a:spcAft>
            </a:pPr>
            <a:r>
              <a:rPr sz="2800">
                <a:solidFill>
                  <a:srgbClr val="404040"/>
                </a:solidFill>
                <a:latin typeface="Calibri"/>
              </a:rPr>
              <a:t>–  They are warm and caring — and maybe even funny</a:t>
            </a:r>
          </a:p>
          <a:p>
            <a:pPr marL="274320" indent="-274320">
              <a:spcAft>
                <a:spcPts val="1200"/>
              </a:spcAft>
            </a:pPr>
            <a:r>
              <a:rPr sz="2800">
                <a:solidFill>
                  <a:srgbClr val="222B22"/>
                </a:solidFill>
                <a:latin typeface="Calibri"/>
              </a:rPr>
              <a:t>•  And these are a way to choose: which friendships do you want to deepen — with this process, and this intentionality?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75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The Homework Practice — One Relationship, One Condition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2960" y="1554480"/>
            <a:ext cx="6675120" cy="489204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marL="274320" indent="-274320">
              <a:spcAft>
                <a:spcPts val="75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“Pick one relationship — a friend, a sibling, a parent, a teammate. Just one.” — you don’t have to tell anyone which one</a:t>
            </a:r>
          </a:p>
          <a:p>
            <a:pPr marL="685800" indent="-274320">
              <a:spcAft>
                <a:spcPts val="550"/>
              </a:spcAft>
            </a:pPr>
            <a:r>
              <a:rPr sz="1800" b="1" i="0">
                <a:solidFill>
                  <a:srgbClr val="97BC62"/>
                </a:solidFill>
                <a:latin typeface="Calibri"/>
              </a:rPr>
              <a:t>–  </a:t>
            </a:r>
            <a:r>
              <a:rPr sz="1800" b="0" i="1">
                <a:solidFill>
                  <a:srgbClr val="222B22"/>
                </a:solidFill>
                <a:latin typeface="Calibri"/>
              </a:rPr>
              <a:t>Deep investment in a small number of friendships — starting with one; two or three may be all a life can hold</a:t>
            </a:r>
          </a:p>
          <a:p>
            <a:pPr marL="274320" indent="-274320">
              <a:spcAft>
                <a:spcPts val="75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Pick one of the four conditions — the one most missing there, or the one you find hardest to offer</a:t>
            </a:r>
          </a:p>
          <a:p>
            <a:pPr marL="274320" indent="-274320">
              <a:spcAft>
                <a:spcPts val="75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Practice offering that one condition there, a little more than usual — what you give, not a test of them</a:t>
            </a:r>
          </a:p>
          <a:p>
            <a:pPr marL="685800" indent="-274320">
              <a:spcAft>
                <a:spcPts val="550"/>
              </a:spcAft>
            </a:pPr>
            <a:r>
              <a:rPr sz="1800" b="1" i="0">
                <a:solidFill>
                  <a:srgbClr val="97BC62"/>
                </a:solidFill>
                <a:latin typeface="Calibri"/>
              </a:rPr>
              <a:t>–  </a:t>
            </a:r>
            <a:r>
              <a:rPr sz="1800" b="0" i="1">
                <a:solidFill>
                  <a:srgbClr val="222B22"/>
                </a:solidFill>
                <a:latin typeface="Calibri"/>
              </a:rPr>
              <a:t>Presence — your phone is in another room. Clear — name something you have been quietly carrying</a:t>
            </a:r>
          </a:p>
          <a:p>
            <a:pPr marL="274320" indent="-274320">
              <a:spcAft>
                <a:spcPts val="75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If it stirs something hard: choose an easier one, or set it down for a few days — and tell someone you trust</a:t>
            </a:r>
          </a:p>
          <a:p>
            <a:pPr marL="274320" indent="-274320">
              <a:spcAft>
                <a:spcPts val="75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End of week one: report to your partner. Week two: same relationship or another, second condition — or deeper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76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  <p:pic>
        <p:nvPicPr>
          <p:cNvPr id="33" name="Picture 33" descr="seedling - what grows between Wednesday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3612" y="1463040"/>
            <a:ext cx="3262379" cy="4892040"/>
          </a:xfrm>
          <a:prstGeom prst="rect">
            <a:avLst/>
          </a:prstGeom>
          <a:ln w="76200">
            <a:solidFill>
              <a:srgbClr val="FFFFFF"/>
            </a:solidFill>
          </a:ln>
          <a:effectLst>
            <a:outerShdw blurRad="63500" dist="25400" dir="5400000" rotWithShape="0">
              <a:srgbClr val="000000">
                <a:alpha val="35000"/>
              </a:srgbClr>
            </a:outerShdw>
          </a:effec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C5F2D"/>
                </a:solidFill>
                <a:latin typeface="Cambria"/>
              </a:rPr>
              <a:t>The Take-Home Sheet — the Daily Rhythm</a:t>
            </a:r>
          </a:p>
        </p:txBody>
      </p:sp>
      <p:pic>
        <p:nvPicPr>
          <p:cNvPr id="4" name="Picture 3" descr="s5_sheet_part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8167" y="1463040"/>
            <a:ext cx="8595360" cy="3468841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822960" y="635508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595959"/>
                </a:solidFill>
                <a:latin typeface="Calibri"/>
              </a:rPr>
              <a:t>Handed out now — this is the sheet in your hands.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77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C5F2D"/>
                </a:solidFill>
                <a:latin typeface="Cambria"/>
              </a:rPr>
              <a:t>The Take-Home Sheet — the Four Parts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5508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595959"/>
                </a:solidFill>
                <a:latin typeface="Calibri"/>
              </a:rPr>
              <a:t>One relationship, one condition, offered — and a partner expecting you at the end of week one.</a:t>
            </a:r>
          </a:p>
        </p:txBody>
      </p:sp>
      <p:pic>
        <p:nvPicPr>
          <p:cNvPr id="6" name="Picture 5" descr="s5_sheet_part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95594" y="1463040"/>
            <a:ext cx="6200506" cy="472124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78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The Leader Feedback Round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2960" y="1554480"/>
            <a:ext cx="6675120" cy="489204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marL="274320" indent="-274320">
              <a:spcAft>
                <a:spcPts val="900"/>
              </a:spcAft>
            </a:pPr>
            <a:r>
              <a:rPr sz="28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>
                <a:solidFill>
                  <a:srgbClr val="222B22"/>
                </a:solidFill>
                <a:latin typeface="Calibri"/>
              </a:rPr>
              <a:t>Two rounds, same as every session — the container holder first, then the content presenter: three things each</a:t>
            </a:r>
          </a:p>
          <a:p>
            <a:pPr marL="685800" indent="-274320">
              <a:spcAft>
                <a:spcPts val="7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–  </a:t>
            </a:r>
            <a:r>
              <a:rPr sz="2000" b="0" i="1">
                <a:solidFill>
                  <a:srgbClr val="222B22"/>
                </a:solidFill>
                <a:latin typeface="Calibri"/>
              </a:rPr>
              <a:t>“What I think went well tonight: ______”</a:t>
            </a:r>
          </a:p>
          <a:p>
            <a:pPr marL="685800" indent="-274320">
              <a:spcAft>
                <a:spcPts val="7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–  </a:t>
            </a:r>
            <a:r>
              <a:rPr sz="2000" b="0" i="1">
                <a:solidFill>
                  <a:srgbClr val="222B22"/>
                </a:solidFill>
                <a:latin typeface="Calibri"/>
              </a:rPr>
              <a:t>“What I’d do differently next time: ______”</a:t>
            </a:r>
          </a:p>
          <a:p>
            <a:pPr marL="685800" indent="-274320">
              <a:spcAft>
                <a:spcPts val="7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–  </a:t>
            </a:r>
            <a:r>
              <a:rPr sz="2000" b="0" i="1">
                <a:solidFill>
                  <a:srgbClr val="222B22"/>
                </a:solidFill>
                <a:latin typeface="Calibri"/>
              </a:rPr>
              <a:t>“If I were to teach tonight’s process to someone, I would tell them: ______”</a:t>
            </a:r>
          </a:p>
          <a:p>
            <a:pPr marL="274320" indent="-274320">
              <a:spcAft>
                <a:spcPts val="900"/>
              </a:spcAft>
            </a:pPr>
            <a:r>
              <a:rPr sz="28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>
                <a:solidFill>
                  <a:srgbClr val="222B22"/>
                </a:solidFill>
                <a:latin typeface="Calibri"/>
              </a:rPr>
              <a:t>Then the room — the same two questions about tonight</a:t>
            </a:r>
          </a:p>
          <a:p>
            <a:pPr marL="274320" indent="-274320">
              <a:spcAft>
                <a:spcPts val="900"/>
              </a:spcAft>
            </a:pPr>
            <a:r>
              <a:rPr sz="28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>
                <a:solidFill>
                  <a:srgbClr val="222B22"/>
                </a:solidFill>
                <a:latin typeface="Calibri"/>
              </a:rPr>
              <a:t>The leaders receive without defending — “thank you” is the whole response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79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  <p:pic>
        <p:nvPicPr>
          <p:cNvPr id="33" name="Picture 33" descr="compass on the trail - the weekly bearing chec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6160" y="1463040"/>
            <a:ext cx="3259831" cy="4892040"/>
          </a:xfrm>
          <a:prstGeom prst="rect">
            <a:avLst/>
          </a:prstGeom>
          <a:ln w="76200">
            <a:solidFill>
              <a:srgbClr val="FFFFFF"/>
            </a:solidFill>
          </a:ln>
          <a:effectLst>
            <a:outerShdw blurRad="63500" dist="25400" dir="5400000" rotWithShape="0">
              <a:srgbClr val="000000">
                <a:alpha val="35000"/>
              </a:srgbClr>
            </a:outerShdw>
          </a:effec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Closing the Container + Aaronic Blessing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2960" y="1600200"/>
            <a:ext cx="5669280" cy="457200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marL="274320" indent="-274320">
              <a:spcAft>
                <a:spcPts val="900"/>
              </a:spcAft>
            </a:pPr>
            <a:r>
              <a:rPr sz="22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200" b="0" i="0">
                <a:solidFill>
                  <a:srgbClr val="222B22"/>
                </a:solidFill>
                <a:latin typeface="Calibri"/>
              </a:rPr>
              <a:t>We close the way we opened — the container, six steps:</a:t>
            </a:r>
          </a:p>
          <a:p>
            <a:pPr marL="685800" indent="-274320">
              <a:spcAft>
                <a:spcPts val="7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1 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Stand again — same circle, same posture as the open</a:t>
            </a:r>
          </a:p>
          <a:p>
            <a:pPr marL="685800" indent="-274320">
              <a:spcAft>
                <a:spcPts val="7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2 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One-word landing — compare it to your opening word</a:t>
            </a:r>
          </a:p>
          <a:p>
            <a:pPr marL="685800" indent="-274320">
              <a:spcAft>
                <a:spcPts val="7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3 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The one thing you are taking from tonight</a:t>
            </a:r>
          </a:p>
          <a:p>
            <a:pPr marL="685800" indent="-274320">
              <a:spcAft>
                <a:spcPts val="7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4 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The one practice — committed aloud, or modified to one you will actually keep</a:t>
            </a:r>
          </a:p>
          <a:p>
            <a:pPr marL="685800" indent="-274320">
              <a:spcAft>
                <a:spcPts val="7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5 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Blessings — eyes on the person, not the screen: say what is on your heart for them. Specific, witnessed, short</a:t>
            </a:r>
          </a:p>
          <a:p>
            <a:pPr marL="685800" indent="-274320">
              <a:spcAft>
                <a:spcPts val="7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6 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Closing prayer — and the Aaronic blessing, spoken over each other, face to face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766560" y="1737360"/>
            <a:ext cx="4663440" cy="2926080"/>
          </a:xfrm>
          <a:prstGeom prst="rect">
            <a:avLst/>
          </a:prstGeom>
          <a:solidFill>
            <a:srgbClr val="F1F6EC"/>
          </a:solidFill>
        </p:spPr>
        <p:txBody>
          <a:bodyPr wrap="square" lIns="91440" tIns="91440" rIns="91440" bIns="91440" anchor="ctr"/>
          <a:lstStyle/>
          <a:p>
            <a:pPr>
              <a:spcAft>
                <a:spcPts val="900"/>
              </a:spcAft>
            </a:pPr>
            <a:r>
              <a:rPr sz="1200" b="1" i="0">
                <a:solidFill>
                  <a:srgbClr val="97BC62"/>
                </a:solidFill>
                <a:latin typeface="Calibri"/>
              </a:rPr>
              <a:t>THE AARONIC BLESSING — NUMBERS 6:24–26</a:t>
            </a:r>
          </a:p>
          <a:p>
            <a:pPr>
              <a:spcAft>
                <a:spcPts val="600"/>
              </a:spcAft>
            </a:pPr>
            <a:r>
              <a:rPr sz="2400" b="0" i="1">
                <a:solidFill>
                  <a:srgbClr val="222B22"/>
                </a:solidFill>
                <a:latin typeface="Cambria"/>
              </a:rPr>
              <a:t>“The Lord bless you and keep you;</a:t>
            </a:r>
          </a:p>
          <a:p>
            <a:pPr>
              <a:spcAft>
                <a:spcPts val="600"/>
              </a:spcAft>
            </a:pPr>
            <a:r>
              <a:rPr sz="2400" b="0" i="1">
                <a:solidFill>
                  <a:srgbClr val="222B22"/>
                </a:solidFill>
                <a:latin typeface="Cambria"/>
              </a:rPr>
              <a:t>the Lord make his face to shine upon you, and be gracious to you;</a:t>
            </a:r>
          </a:p>
          <a:p>
            <a:pPr>
              <a:spcAft>
                <a:spcPts val="600"/>
              </a:spcAft>
            </a:pPr>
            <a:r>
              <a:rPr sz="2400" b="0" i="1">
                <a:solidFill>
                  <a:srgbClr val="222B22"/>
                </a:solidFill>
                <a:latin typeface="Cambria"/>
              </a:rPr>
              <a:t>the Lord lift up his countenance upon you, and give you peace.”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80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55817</Words>
  <Application>Microsoft Office PowerPoint</Application>
  <PresentationFormat>Widescreen</PresentationFormat>
  <Paragraphs>3274</Paragraphs>
  <Slides>277</Slides>
  <Notes>275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277</vt:i4>
      </vt:variant>
    </vt:vector>
  </HeadingPairs>
  <TitlesOfParts>
    <vt:vector size="28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John Tittle</cp:lastModifiedBy>
  <cp:revision>2</cp:revision>
  <dcterms:created xsi:type="dcterms:W3CDTF">2013-01-27T09:14:16Z</dcterms:created>
  <dcterms:modified xsi:type="dcterms:W3CDTF">2026-08-20T14:52:01Z</dcterms:modified>
  <cp:category/>
</cp:coreProperties>
</file>