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295" r:id="rId154"/>
    <p:sldId id="429" r:id="rId155"/>
    <p:sldId id="430" r:id="rId156"/>
    <p:sldId id="431" r:id="rId157"/>
    <p:sldId id="432" r:id="rId158"/>
    <p:sldId id="433" r:id="rId159"/>
    <p:sldId id="551" r:id="rId160"/>
    <p:sldId id="434" r:id="rId161"/>
    <p:sldId id="535" r:id="rId162"/>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59" Type="http://schemas.openxmlformats.org/officeDocument/2006/relationships/slide" Target="slides/slide158.xml"/><Relationship Id="rId279" Type="http://schemas.openxmlformats.org/officeDocument/2006/relationships/notesMaster" Target="notesMasters/notesMaster1.xml"/><Relationship Id="rId280" Type="http://schemas.openxmlformats.org/officeDocument/2006/relationships/presProps" Target="presProps.xml"/><Relationship Id="rId161" Type="http://schemas.openxmlformats.org/officeDocument/2006/relationships/slide" Target="slides/slide160.xml"/><Relationship Id="rId281" Type="http://schemas.openxmlformats.org/officeDocument/2006/relationships/viewProps" Target="viewProps.xml"/><Relationship Id="rId162" Type="http://schemas.openxmlformats.org/officeDocument/2006/relationships/slide" Target="slides/slide161.xml"/><Relationship Id="rId282" Type="http://schemas.openxmlformats.org/officeDocument/2006/relationships/theme" Target="theme/theme1.xml"/><Relationship Id="rId163" Type="http://schemas.openxmlformats.org/officeDocument/2006/relationships/slide" Target="slides/slide162.xml"/><Relationship Id="rId153" Type="http://schemas.openxmlformats.org/officeDocument/2006/relationships/slide" Target="slides/slide152.xml"/><Relationship Id="rId283" Type="http://schemas.openxmlformats.org/officeDocument/2006/relationships/tableStyles" Target="tableStyles.xml"/><Relationship Id="rId164" Type="http://schemas.openxmlformats.org/officeDocument/2006/relationships/slide" Target="slides/slide163.xml"/><Relationship Id="rId154" Type="http://schemas.openxmlformats.org/officeDocument/2006/relationships/slide" Target="slides/slide153.xml"/><Relationship Id="rId284" Type="http://schemas.microsoft.com/office/2016/11/relationships/changesInfo" Target="changesInfos/changesInfo1.xml"/><Relationship Id="rId155" Type="http://schemas.openxmlformats.org/officeDocument/2006/relationships/slide" Target="slides/slide154.xml"/><Relationship Id="rId285" Type="http://schemas.microsoft.com/office/2015/10/relationships/revisionInfo" Target="revisionInfo.xml"/><Relationship Id="rId1" Type="http://schemas.openxmlformats.org/officeDocument/2006/relationships/slideMaster" Target="slideMasters/slideMaster1.xml"/><Relationship Id="rId156" Type="http://schemas.openxmlformats.org/officeDocument/2006/relationships/slide" Target="slides/slide155.xml"/><Relationship Id="rId2" Type="http://schemas.openxmlformats.org/officeDocument/2006/relationships/slide" Target="slides/slide1.xml"/><Relationship Id="rId157" Type="http://schemas.openxmlformats.org/officeDocument/2006/relationships/slide" Target="slides/slide156.xml"/><Relationship Id="rId158" Type="http://schemas.openxmlformats.org/officeDocument/2006/relationships/slide" Target="slides/slide157.xml"/><Relationship Id="rId160" Type="http://schemas.openxmlformats.org/officeDocument/2006/relationships/slide" Target="slides/slide15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rPr lang="en-US" sz="1200"/>
              <a:t>GUARD: The slow open runs about 12 minutes and IS the session's first teaching — do not rush it back to the usual clip. If the room will not settle, run it slower, not louder; contain the room, don't fight it.</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One row only this week: my one practice, with its when and where. 2. A missed box is never a failure — it is an invitation to return. 3. The rest of the rhythm comes back a piece at a time in the coming weeks.</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8:28–8:30 · LEAD: CONTAINER HOLDER</a:t>
            </a:r>
          </a:p>
          <a:p>
            <a:r>
              <a:rPr lang="en-US" sz="1200"/>
              <a:t>BEATS: 1. Closing protocol 5:12–5:20,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5:23–5:27 (next slide). 3. Return here 5:27–5:30: 'His mercies did not run out over the break, and they will not run out over this quarter.' Aaronic blessing, hands up. 'Welcome home. See you evenings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8:24–8:28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58.xml"/><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59.xml"/><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6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152</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153</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154</a:t>
            </a:r>
            <a:endParaRPr sz="1000" b="1">
              <a:solidFill>
                <a:srgbClr val="7A8A6E"/>
              </a:solidFill>
              <a:latin typeface="Calibri"/>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155</a:t>
            </a:r>
            <a:endParaRPr sz="1000" b="1">
              <a:solidFill>
                <a:srgbClr val="7A8A6E"/>
              </a:solidFill>
              <a:latin typeface="Calibri"/>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156</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157</a:t>
            </a:r>
            <a:endParaRPr sz="1000" b="1">
              <a:solidFill>
                <a:srgbClr val="7A8A6E"/>
              </a:solidFill>
              <a:latin typeface="Calibri"/>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158</a:t>
            </a:r>
            <a:endParaRPr sz="1000" b="1">
              <a:solidFill>
                <a:srgbClr val="7A8A6E"/>
              </a:solidFill>
              <a:latin typeface="Calibri"/>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Your Take-Home Card — This Session’s Practice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pic>
        <p:nvPicPr>
          <p:cNvPr id="270" name="CardImage" descr="the Week 12 check-off card, as handed out"/>
          <p:cNvPicPr>
            <a:picLocks noChangeAspect="1"/>
          </p:cNvPicPr>
          <p:nvPr/>
        </p:nvPicPr>
        <p:blipFill>
          <a:blip r:embed="rId3"/>
          <a:stretch>
            <a:fillRect/>
          </a:stretch>
        </p:blipFill>
        <p:spPr>
          <a:xfrm>
            <a:off x="1158087" y="1554480"/>
            <a:ext cx="9875520" cy="3235532"/>
          </a:xfrm>
          <a:prstGeom prst="rect">
            <a:avLst/>
          </a:prstGeom>
          <a:ln w="76200">
            <a:solidFill>
              <a:srgbClr val="FFFFFF"/>
            </a:solidFill>
          </a:ln>
          <a:effectLst>
            <a:outerShdw blurRad="63500" dist="25400" dir="5400000" rotWithShape="0">
              <a:srgbClr val="000000">
                <a:alpha val="35000"/>
              </a:srgbClr>
            </a:outerShdw>
          </a:effectLst>
        </p:spPr>
      </p:pic>
      <p:sp>
        <p:nvSpPr>
          <p:cNvPr id="271" name="Caption"/>
          <p:cNvSpPr txBox="1"/>
          <p:nvPr/>
        </p:nvSpPr>
        <p:spPr>
          <a:xfrm>
            <a:off x="822960" y="4972892"/>
            <a:ext cx="10515600" cy="457200"/>
          </a:xfrm>
          <a:prstGeom prst="rect">
            <a:avLst/>
          </a:prstGeom>
          <a:noFill/>
        </p:spPr>
        <p:txBody>
          <a:bodyPr wrap="square"/>
          <a:lstStyle/>
          <a:p>
            <a:pPr algn="ctr"/>
            <a:r>
              <a:rPr sz="1800" b="0" i="1">
                <a:solidFill>
                  <a:srgbClr val="222B22"/>
                </a:solidFill>
                <a:latin typeface="Calibri"/>
              </a:rPr>
              <a:t>Handed out now — fridge, mirror, journal pocket.</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